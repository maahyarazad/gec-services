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full.png"/>
          <p:cNvPicPr>
            <a:picLocks noChangeAspect="1"/>
          </p:cNvPicPr>
          <p:nvPr/>
        </p:nvPicPr>
        <p:blipFill>
          <a:blip r:embed="rId3"/>
          <a:stretch>
            <a:fillRect/>
          </a:stretch>
        </p:blipFill>
        <p:spPr>
          <a:xfrm>
            <a:off x="4041648" y="2157984"/>
            <a:ext cx="4114800" cy="1631454"/>
          </a:xfrm>
          <a:prstGeom prst="rect">
            <a:avLst/>
          </a:prstGeom>
        </p:spPr>
      </p:pic>
      <p:sp>
        <p:nvSpPr>
          <p:cNvPr id="4" name="TextBox 3"/>
          <p:cNvSpPr txBox="1"/>
          <p:nvPr/>
        </p:nvSpPr>
        <p:spPr>
          <a:xfrm>
            <a:off x="4041648" y="3913632"/>
            <a:ext cx="4114800" cy="292608"/>
          </a:xfrm>
          <a:prstGeom prst="rect">
            <a:avLst/>
          </a:prstGeom>
          <a:noFill/>
        </p:spPr>
        <p:txBody>
          <a:bodyPr wrap="square" anchor="t" lIns="0" rIns="0" tIns="0" bIns="0">
            <a:spAutoFit/>
          </a:bodyPr>
          <a:lstStyle/>
          <a:p>
            <a:pPr algn="ctr">
              <a:lnSpc>
                <a:spcPct val="100000"/>
              </a:lnSpc>
              <a:spcAft>
                <a:spcPts val="0"/>
              </a:spcAft>
            </a:pPr>
            <a:r>
              <a:rPr sz="1250" b="0" i="0">
                <a:solidFill>
                  <a:srgbClr val="3A3A3A"/>
                </a:solidFill>
                <a:latin typeface="Century Gothic"/>
              </a:rPr>
              <a:t>Deals with a Twist</a:t>
            </a:r>
          </a:p>
        </p:txBody>
      </p:sp>
      <p:sp>
        <p:nvSpPr>
          <p:cNvPr id="5" name="TextBox 4"/>
          <p:cNvSpPr txBox="1"/>
          <p:nvPr/>
        </p:nvSpPr>
        <p:spPr>
          <a:xfrm>
            <a:off x="841247" y="5413248"/>
            <a:ext cx="6858000" cy="384048"/>
          </a:xfrm>
          <a:prstGeom prst="rect">
            <a:avLst/>
          </a:prstGeom>
          <a:noFill/>
        </p:spPr>
        <p:txBody>
          <a:bodyPr wrap="square" anchor="t" lIns="0" rIns="0" tIns="0" bIns="0">
            <a:spAutoFit/>
          </a:bodyPr>
          <a:lstStyle/>
          <a:p>
            <a:pPr algn="l">
              <a:lnSpc>
                <a:spcPct val="100000"/>
              </a:lnSpc>
              <a:spcAft>
                <a:spcPts val="0"/>
              </a:spcAft>
            </a:pPr>
            <a:r>
              <a:rPr sz="2000" b="1" i="0">
                <a:solidFill>
                  <a:srgbClr val="3A3A3A"/>
                </a:solidFill>
                <a:latin typeface="Century Gothic"/>
              </a:rPr>
              <a:t>Business Process Overview</a:t>
            </a:r>
          </a:p>
        </p:txBody>
      </p:sp>
      <p:sp>
        <p:nvSpPr>
          <p:cNvPr id="6" name="Rectangle 5"/>
          <p:cNvSpPr/>
          <p:nvPr/>
        </p:nvSpPr>
        <p:spPr>
          <a:xfrm>
            <a:off x="859536" y="5888736"/>
            <a:ext cx="2103120" cy="1463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6035040"/>
            <a:ext cx="7863840" cy="274320"/>
          </a:xfrm>
          <a:prstGeom prst="rect">
            <a:avLst/>
          </a:prstGeom>
          <a:noFill/>
        </p:spPr>
        <p:txBody>
          <a:bodyPr wrap="square" anchor="t" lIns="0" rIns="0" tIns="0" bIns="0">
            <a:spAutoFit/>
          </a:bodyPr>
          <a:lstStyle/>
          <a:p>
            <a:pPr algn="l">
              <a:lnSpc>
                <a:spcPct val="100000"/>
              </a:lnSpc>
              <a:spcAft>
                <a:spcPts val="0"/>
              </a:spcAft>
            </a:pPr>
            <a:r>
              <a:rPr sz="1050" b="0" i="0">
                <a:solidFill>
                  <a:srgbClr val="808080"/>
                </a:solidFill>
                <a:latin typeface="Century Gothic"/>
              </a:rPr>
              <a:t>Platform business logic, user journeys and money flow  ·  Phase 1  ·  v4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Contents</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What this deck covers</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TextBox 5"/>
          <p:cNvSpPr txBox="1"/>
          <p:nvPr/>
        </p:nvSpPr>
        <p:spPr>
          <a:xfrm>
            <a:off x="566928" y="142646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01</a:t>
            </a:r>
          </a:p>
        </p:txBody>
      </p:sp>
      <p:sp>
        <p:nvSpPr>
          <p:cNvPr id="7" name="TextBox 6"/>
          <p:cNvSpPr txBox="1"/>
          <p:nvPr/>
        </p:nvSpPr>
        <p:spPr>
          <a:xfrm>
            <a:off x="1005840" y="142646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Savr at a Glance</a:t>
            </a:r>
          </a:p>
        </p:txBody>
      </p:sp>
      <p:sp>
        <p:nvSpPr>
          <p:cNvPr id="8" name="TextBox 7"/>
          <p:cNvSpPr txBox="1"/>
          <p:nvPr/>
        </p:nvSpPr>
        <p:spPr>
          <a:xfrm>
            <a:off x="5001768" y="142646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03</a:t>
            </a:r>
          </a:p>
        </p:txBody>
      </p:sp>
      <p:sp>
        <p:nvSpPr>
          <p:cNvPr id="9" name="Rectangle 8"/>
          <p:cNvSpPr/>
          <p:nvPr/>
        </p:nvSpPr>
        <p:spPr>
          <a:xfrm>
            <a:off x="566928" y="170078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79222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02</a:t>
            </a:r>
          </a:p>
        </p:txBody>
      </p:sp>
      <p:sp>
        <p:nvSpPr>
          <p:cNvPr id="11" name="TextBox 10"/>
          <p:cNvSpPr txBox="1"/>
          <p:nvPr/>
        </p:nvSpPr>
        <p:spPr>
          <a:xfrm>
            <a:off x="1005840" y="179222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Roles &amp; Access</a:t>
            </a:r>
          </a:p>
        </p:txBody>
      </p:sp>
      <p:sp>
        <p:nvSpPr>
          <p:cNvPr id="12" name="TextBox 11"/>
          <p:cNvSpPr txBox="1"/>
          <p:nvPr/>
        </p:nvSpPr>
        <p:spPr>
          <a:xfrm>
            <a:off x="5001768" y="179222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04</a:t>
            </a:r>
          </a:p>
        </p:txBody>
      </p:sp>
      <p:sp>
        <p:nvSpPr>
          <p:cNvPr id="13" name="Rectangle 12"/>
          <p:cNvSpPr/>
          <p:nvPr/>
        </p:nvSpPr>
        <p:spPr>
          <a:xfrm>
            <a:off x="566928" y="2066543"/>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15798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03</a:t>
            </a:r>
          </a:p>
        </p:txBody>
      </p:sp>
      <p:sp>
        <p:nvSpPr>
          <p:cNvPr id="15" name="TextBox 14"/>
          <p:cNvSpPr txBox="1"/>
          <p:nvPr/>
        </p:nvSpPr>
        <p:spPr>
          <a:xfrm>
            <a:off x="1005840" y="215798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Seven Roles</a:t>
            </a:r>
          </a:p>
        </p:txBody>
      </p:sp>
      <p:sp>
        <p:nvSpPr>
          <p:cNvPr id="16" name="TextBox 15"/>
          <p:cNvSpPr txBox="1"/>
          <p:nvPr/>
        </p:nvSpPr>
        <p:spPr>
          <a:xfrm>
            <a:off x="5001768" y="215798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05</a:t>
            </a:r>
          </a:p>
        </p:txBody>
      </p:sp>
      <p:sp>
        <p:nvSpPr>
          <p:cNvPr id="17" name="Rectangle 16"/>
          <p:cNvSpPr/>
          <p:nvPr/>
        </p:nvSpPr>
        <p:spPr>
          <a:xfrm>
            <a:off x="566928" y="243230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52374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04</a:t>
            </a:r>
          </a:p>
        </p:txBody>
      </p:sp>
      <p:sp>
        <p:nvSpPr>
          <p:cNvPr id="19" name="TextBox 18"/>
          <p:cNvSpPr txBox="1"/>
          <p:nvPr/>
        </p:nvSpPr>
        <p:spPr>
          <a:xfrm>
            <a:off x="1005840" y="252374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Two Gates</a:t>
            </a:r>
          </a:p>
        </p:txBody>
      </p:sp>
      <p:sp>
        <p:nvSpPr>
          <p:cNvPr id="20" name="TextBox 19"/>
          <p:cNvSpPr txBox="1"/>
          <p:nvPr/>
        </p:nvSpPr>
        <p:spPr>
          <a:xfrm>
            <a:off x="5001768" y="252374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06</a:t>
            </a:r>
          </a:p>
        </p:txBody>
      </p:sp>
      <p:sp>
        <p:nvSpPr>
          <p:cNvPr id="21" name="Rectangle 20"/>
          <p:cNvSpPr/>
          <p:nvPr/>
        </p:nvSpPr>
        <p:spPr>
          <a:xfrm>
            <a:off x="566928" y="279806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88950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05</a:t>
            </a:r>
          </a:p>
        </p:txBody>
      </p:sp>
      <p:sp>
        <p:nvSpPr>
          <p:cNvPr id="23" name="TextBox 22"/>
          <p:cNvSpPr txBox="1"/>
          <p:nvPr/>
        </p:nvSpPr>
        <p:spPr>
          <a:xfrm>
            <a:off x="1005840" y="288950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Member Journey</a:t>
            </a:r>
          </a:p>
        </p:txBody>
      </p:sp>
      <p:sp>
        <p:nvSpPr>
          <p:cNvPr id="24" name="TextBox 23"/>
          <p:cNvSpPr txBox="1"/>
          <p:nvPr/>
        </p:nvSpPr>
        <p:spPr>
          <a:xfrm>
            <a:off x="5001768" y="288950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07</a:t>
            </a:r>
          </a:p>
        </p:txBody>
      </p:sp>
      <p:sp>
        <p:nvSpPr>
          <p:cNvPr id="25" name="Rectangle 24"/>
          <p:cNvSpPr/>
          <p:nvPr/>
        </p:nvSpPr>
        <p:spPr>
          <a:xfrm>
            <a:off x="566928" y="316382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5526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06</a:t>
            </a:r>
          </a:p>
        </p:txBody>
      </p:sp>
      <p:sp>
        <p:nvSpPr>
          <p:cNvPr id="27" name="TextBox 26"/>
          <p:cNvSpPr txBox="1"/>
          <p:nvPr/>
        </p:nvSpPr>
        <p:spPr>
          <a:xfrm>
            <a:off x="1005840" y="325526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End-to-End Journey</a:t>
            </a:r>
          </a:p>
        </p:txBody>
      </p:sp>
      <p:sp>
        <p:nvSpPr>
          <p:cNvPr id="28" name="TextBox 27"/>
          <p:cNvSpPr txBox="1"/>
          <p:nvPr/>
        </p:nvSpPr>
        <p:spPr>
          <a:xfrm>
            <a:off x="5001768" y="325526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08</a:t>
            </a:r>
          </a:p>
        </p:txBody>
      </p:sp>
      <p:sp>
        <p:nvSpPr>
          <p:cNvPr id="29" name="Rectangle 28"/>
          <p:cNvSpPr/>
          <p:nvPr/>
        </p:nvSpPr>
        <p:spPr>
          <a:xfrm>
            <a:off x="566928" y="352958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62102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07</a:t>
            </a:r>
          </a:p>
        </p:txBody>
      </p:sp>
      <p:sp>
        <p:nvSpPr>
          <p:cNvPr id="31" name="TextBox 30"/>
          <p:cNvSpPr txBox="1"/>
          <p:nvPr/>
        </p:nvSpPr>
        <p:spPr>
          <a:xfrm>
            <a:off x="1005840" y="362102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Open Registration &amp; Gate 1</a:t>
            </a:r>
          </a:p>
        </p:txBody>
      </p:sp>
      <p:sp>
        <p:nvSpPr>
          <p:cNvPr id="32" name="TextBox 31"/>
          <p:cNvSpPr txBox="1"/>
          <p:nvPr/>
        </p:nvSpPr>
        <p:spPr>
          <a:xfrm>
            <a:off x="5001768" y="362102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09</a:t>
            </a:r>
          </a:p>
        </p:txBody>
      </p:sp>
      <p:sp>
        <p:nvSpPr>
          <p:cNvPr id="33" name="Rectangle 32"/>
          <p:cNvSpPr/>
          <p:nvPr/>
        </p:nvSpPr>
        <p:spPr>
          <a:xfrm>
            <a:off x="566928" y="389534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398678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08</a:t>
            </a:r>
          </a:p>
        </p:txBody>
      </p:sp>
      <p:sp>
        <p:nvSpPr>
          <p:cNvPr id="35" name="TextBox 34"/>
          <p:cNvSpPr txBox="1"/>
          <p:nvPr/>
        </p:nvSpPr>
        <p:spPr>
          <a:xfrm>
            <a:off x="1005840" y="398678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Subscription, Pass &amp; Payout</a:t>
            </a:r>
          </a:p>
        </p:txBody>
      </p:sp>
      <p:sp>
        <p:nvSpPr>
          <p:cNvPr id="36" name="TextBox 35"/>
          <p:cNvSpPr txBox="1"/>
          <p:nvPr/>
        </p:nvSpPr>
        <p:spPr>
          <a:xfrm>
            <a:off x="5001768" y="398678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10</a:t>
            </a:r>
          </a:p>
        </p:txBody>
      </p:sp>
      <p:sp>
        <p:nvSpPr>
          <p:cNvPr id="37" name="Rectangle 36"/>
          <p:cNvSpPr/>
          <p:nvPr/>
        </p:nvSpPr>
        <p:spPr>
          <a:xfrm>
            <a:off x="566928" y="426110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435254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09</a:t>
            </a:r>
          </a:p>
        </p:txBody>
      </p:sp>
      <p:sp>
        <p:nvSpPr>
          <p:cNvPr id="39" name="TextBox 38"/>
          <p:cNvSpPr txBox="1"/>
          <p:nvPr/>
        </p:nvSpPr>
        <p:spPr>
          <a:xfrm>
            <a:off x="1005840" y="435254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Browse vs. Avail</a:t>
            </a:r>
          </a:p>
        </p:txBody>
      </p:sp>
      <p:sp>
        <p:nvSpPr>
          <p:cNvPr id="40" name="TextBox 39"/>
          <p:cNvSpPr txBox="1"/>
          <p:nvPr/>
        </p:nvSpPr>
        <p:spPr>
          <a:xfrm>
            <a:off x="5001768" y="435254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11</a:t>
            </a:r>
          </a:p>
        </p:txBody>
      </p:sp>
      <p:sp>
        <p:nvSpPr>
          <p:cNvPr id="41" name="Rectangle 40"/>
          <p:cNvSpPr/>
          <p:nvPr/>
        </p:nvSpPr>
        <p:spPr>
          <a:xfrm>
            <a:off x="566928" y="462686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471830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10</a:t>
            </a:r>
          </a:p>
        </p:txBody>
      </p:sp>
      <p:sp>
        <p:nvSpPr>
          <p:cNvPr id="43" name="TextBox 42"/>
          <p:cNvSpPr txBox="1"/>
          <p:nvPr/>
        </p:nvSpPr>
        <p:spPr>
          <a:xfrm>
            <a:off x="1005840" y="471830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Offer Redemption</a:t>
            </a:r>
          </a:p>
        </p:txBody>
      </p:sp>
      <p:sp>
        <p:nvSpPr>
          <p:cNvPr id="44" name="TextBox 43"/>
          <p:cNvSpPr txBox="1"/>
          <p:nvPr/>
        </p:nvSpPr>
        <p:spPr>
          <a:xfrm>
            <a:off x="5001768" y="471830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12</a:t>
            </a:r>
          </a:p>
        </p:txBody>
      </p:sp>
      <p:sp>
        <p:nvSpPr>
          <p:cNvPr id="45" name="Rectangle 44"/>
          <p:cNvSpPr/>
          <p:nvPr/>
        </p:nvSpPr>
        <p:spPr>
          <a:xfrm>
            <a:off x="566928" y="499262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508406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11</a:t>
            </a:r>
          </a:p>
        </p:txBody>
      </p:sp>
      <p:sp>
        <p:nvSpPr>
          <p:cNvPr id="47" name="TextBox 46"/>
          <p:cNvSpPr txBox="1"/>
          <p:nvPr/>
        </p:nvSpPr>
        <p:spPr>
          <a:xfrm>
            <a:off x="1005840" y="508406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Supply Side</a:t>
            </a:r>
          </a:p>
        </p:txBody>
      </p:sp>
      <p:sp>
        <p:nvSpPr>
          <p:cNvPr id="48" name="TextBox 47"/>
          <p:cNvSpPr txBox="1"/>
          <p:nvPr/>
        </p:nvSpPr>
        <p:spPr>
          <a:xfrm>
            <a:off x="5001768" y="508406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13</a:t>
            </a:r>
          </a:p>
        </p:txBody>
      </p:sp>
      <p:sp>
        <p:nvSpPr>
          <p:cNvPr id="49" name="Rectangle 48"/>
          <p:cNvSpPr/>
          <p:nvPr/>
        </p:nvSpPr>
        <p:spPr>
          <a:xfrm>
            <a:off x="566928" y="535838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6928" y="544982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12</a:t>
            </a:r>
          </a:p>
        </p:txBody>
      </p:sp>
      <p:sp>
        <p:nvSpPr>
          <p:cNvPr id="51" name="TextBox 50"/>
          <p:cNvSpPr txBox="1"/>
          <p:nvPr/>
        </p:nvSpPr>
        <p:spPr>
          <a:xfrm>
            <a:off x="1005840" y="544982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Admin-Provisioned Onboarding</a:t>
            </a:r>
          </a:p>
        </p:txBody>
      </p:sp>
      <p:sp>
        <p:nvSpPr>
          <p:cNvPr id="52" name="TextBox 51"/>
          <p:cNvSpPr txBox="1"/>
          <p:nvPr/>
        </p:nvSpPr>
        <p:spPr>
          <a:xfrm>
            <a:off x="5001768" y="544982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14</a:t>
            </a:r>
          </a:p>
        </p:txBody>
      </p:sp>
      <p:sp>
        <p:nvSpPr>
          <p:cNvPr id="53" name="Rectangle 52"/>
          <p:cNvSpPr/>
          <p:nvPr/>
        </p:nvSpPr>
        <p:spPr>
          <a:xfrm>
            <a:off x="566928" y="572414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90488" y="142646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13</a:t>
            </a:r>
          </a:p>
        </p:txBody>
      </p:sp>
      <p:sp>
        <p:nvSpPr>
          <p:cNvPr id="55" name="TextBox 54"/>
          <p:cNvSpPr txBox="1"/>
          <p:nvPr/>
        </p:nvSpPr>
        <p:spPr>
          <a:xfrm>
            <a:off x="6629400" y="142646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KYC Verification</a:t>
            </a:r>
          </a:p>
        </p:txBody>
      </p:sp>
      <p:sp>
        <p:nvSpPr>
          <p:cNvPr id="56" name="TextBox 55"/>
          <p:cNvSpPr txBox="1"/>
          <p:nvPr/>
        </p:nvSpPr>
        <p:spPr>
          <a:xfrm>
            <a:off x="10625328" y="142646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15</a:t>
            </a:r>
          </a:p>
        </p:txBody>
      </p:sp>
      <p:sp>
        <p:nvSpPr>
          <p:cNvPr id="57" name="Rectangle 56"/>
          <p:cNvSpPr/>
          <p:nvPr/>
        </p:nvSpPr>
        <p:spPr>
          <a:xfrm>
            <a:off x="6190488" y="170078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90488" y="179222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14</a:t>
            </a:r>
          </a:p>
        </p:txBody>
      </p:sp>
      <p:sp>
        <p:nvSpPr>
          <p:cNvPr id="59" name="TextBox 58"/>
          <p:cNvSpPr txBox="1"/>
          <p:nvPr/>
        </p:nvSpPr>
        <p:spPr>
          <a:xfrm>
            <a:off x="6629400" y="179222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Merchant Marketplace</a:t>
            </a:r>
          </a:p>
        </p:txBody>
      </p:sp>
      <p:sp>
        <p:nvSpPr>
          <p:cNvPr id="60" name="TextBox 59"/>
          <p:cNvSpPr txBox="1"/>
          <p:nvPr/>
        </p:nvSpPr>
        <p:spPr>
          <a:xfrm>
            <a:off x="10625328" y="179222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16</a:t>
            </a:r>
          </a:p>
        </p:txBody>
      </p:sp>
      <p:sp>
        <p:nvSpPr>
          <p:cNvPr id="61" name="Rectangle 60"/>
          <p:cNvSpPr/>
          <p:nvPr/>
        </p:nvSpPr>
        <p:spPr>
          <a:xfrm>
            <a:off x="6190488" y="2066543"/>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90488" y="215798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15</a:t>
            </a:r>
          </a:p>
        </p:txBody>
      </p:sp>
      <p:sp>
        <p:nvSpPr>
          <p:cNvPr id="63" name="TextBox 62"/>
          <p:cNvSpPr txBox="1"/>
          <p:nvPr/>
        </p:nvSpPr>
        <p:spPr>
          <a:xfrm>
            <a:off x="6629400" y="215798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Promo Codes — Reusable</a:t>
            </a:r>
          </a:p>
        </p:txBody>
      </p:sp>
      <p:sp>
        <p:nvSpPr>
          <p:cNvPr id="64" name="TextBox 63"/>
          <p:cNvSpPr txBox="1"/>
          <p:nvPr/>
        </p:nvSpPr>
        <p:spPr>
          <a:xfrm>
            <a:off x="10625328" y="215798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17</a:t>
            </a:r>
          </a:p>
        </p:txBody>
      </p:sp>
      <p:sp>
        <p:nvSpPr>
          <p:cNvPr id="65" name="Rectangle 64"/>
          <p:cNvSpPr/>
          <p:nvPr/>
        </p:nvSpPr>
        <p:spPr>
          <a:xfrm>
            <a:off x="6190488" y="243230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90488" y="252374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16</a:t>
            </a:r>
          </a:p>
        </p:txBody>
      </p:sp>
      <p:sp>
        <p:nvSpPr>
          <p:cNvPr id="67" name="TextBox 66"/>
          <p:cNvSpPr txBox="1"/>
          <p:nvPr/>
        </p:nvSpPr>
        <p:spPr>
          <a:xfrm>
            <a:off x="6629400" y="252374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Discount — Per Influencer</a:t>
            </a:r>
          </a:p>
        </p:txBody>
      </p:sp>
      <p:sp>
        <p:nvSpPr>
          <p:cNvPr id="68" name="TextBox 67"/>
          <p:cNvSpPr txBox="1"/>
          <p:nvPr/>
        </p:nvSpPr>
        <p:spPr>
          <a:xfrm>
            <a:off x="10625328" y="252374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18</a:t>
            </a:r>
          </a:p>
        </p:txBody>
      </p:sp>
      <p:sp>
        <p:nvSpPr>
          <p:cNvPr id="69" name="Rectangle 68"/>
          <p:cNvSpPr/>
          <p:nvPr/>
        </p:nvSpPr>
        <p:spPr>
          <a:xfrm>
            <a:off x="6190488" y="279806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90488" y="288950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17</a:t>
            </a:r>
          </a:p>
        </p:txBody>
      </p:sp>
      <p:sp>
        <p:nvSpPr>
          <p:cNvPr id="71" name="TextBox 70"/>
          <p:cNvSpPr txBox="1"/>
          <p:nvPr/>
        </p:nvSpPr>
        <p:spPr>
          <a:xfrm>
            <a:off x="6629400" y="288950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Influencer Compensation</a:t>
            </a:r>
          </a:p>
        </p:txBody>
      </p:sp>
      <p:sp>
        <p:nvSpPr>
          <p:cNvPr id="72" name="TextBox 71"/>
          <p:cNvSpPr txBox="1"/>
          <p:nvPr/>
        </p:nvSpPr>
        <p:spPr>
          <a:xfrm>
            <a:off x="10625328" y="288950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19</a:t>
            </a:r>
          </a:p>
        </p:txBody>
      </p:sp>
      <p:sp>
        <p:nvSpPr>
          <p:cNvPr id="73" name="Rectangle 72"/>
          <p:cNvSpPr/>
          <p:nvPr/>
        </p:nvSpPr>
        <p:spPr>
          <a:xfrm>
            <a:off x="6190488" y="316382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90488" y="325526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18</a:t>
            </a:r>
          </a:p>
        </p:txBody>
      </p:sp>
      <p:sp>
        <p:nvSpPr>
          <p:cNvPr id="75" name="TextBox 74"/>
          <p:cNvSpPr txBox="1"/>
          <p:nvPr/>
        </p:nvSpPr>
        <p:spPr>
          <a:xfrm>
            <a:off x="6629400" y="325526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Money &amp; Governance</a:t>
            </a:r>
          </a:p>
        </p:txBody>
      </p:sp>
      <p:sp>
        <p:nvSpPr>
          <p:cNvPr id="76" name="TextBox 75"/>
          <p:cNvSpPr txBox="1"/>
          <p:nvPr/>
        </p:nvSpPr>
        <p:spPr>
          <a:xfrm>
            <a:off x="10625328" y="325526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20</a:t>
            </a:r>
          </a:p>
        </p:txBody>
      </p:sp>
      <p:sp>
        <p:nvSpPr>
          <p:cNvPr id="77" name="Rectangle 76"/>
          <p:cNvSpPr/>
          <p:nvPr/>
        </p:nvSpPr>
        <p:spPr>
          <a:xfrm>
            <a:off x="6190488" y="352958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90488" y="362102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19</a:t>
            </a:r>
          </a:p>
        </p:txBody>
      </p:sp>
      <p:sp>
        <p:nvSpPr>
          <p:cNvPr id="79" name="TextBox 78"/>
          <p:cNvSpPr txBox="1"/>
          <p:nvPr/>
        </p:nvSpPr>
        <p:spPr>
          <a:xfrm>
            <a:off x="6629400" y="362102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Money Trail</a:t>
            </a:r>
          </a:p>
        </p:txBody>
      </p:sp>
      <p:sp>
        <p:nvSpPr>
          <p:cNvPr id="80" name="TextBox 79"/>
          <p:cNvSpPr txBox="1"/>
          <p:nvPr/>
        </p:nvSpPr>
        <p:spPr>
          <a:xfrm>
            <a:off x="10625328" y="362102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21</a:t>
            </a:r>
          </a:p>
        </p:txBody>
      </p:sp>
      <p:sp>
        <p:nvSpPr>
          <p:cNvPr id="81" name="Rectangle 80"/>
          <p:cNvSpPr/>
          <p:nvPr/>
        </p:nvSpPr>
        <p:spPr>
          <a:xfrm>
            <a:off x="6190488" y="389534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90488" y="398678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20</a:t>
            </a:r>
          </a:p>
        </p:txBody>
      </p:sp>
      <p:sp>
        <p:nvSpPr>
          <p:cNvPr id="83" name="TextBox 82"/>
          <p:cNvSpPr txBox="1"/>
          <p:nvPr/>
        </p:nvSpPr>
        <p:spPr>
          <a:xfrm>
            <a:off x="6629400" y="398678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The Payout Percentage</a:t>
            </a:r>
          </a:p>
        </p:txBody>
      </p:sp>
      <p:sp>
        <p:nvSpPr>
          <p:cNvPr id="84" name="TextBox 83"/>
          <p:cNvSpPr txBox="1"/>
          <p:nvPr/>
        </p:nvSpPr>
        <p:spPr>
          <a:xfrm>
            <a:off x="10625328" y="398678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22</a:t>
            </a:r>
          </a:p>
        </p:txBody>
      </p:sp>
      <p:sp>
        <p:nvSpPr>
          <p:cNvPr id="85" name="Rectangle 84"/>
          <p:cNvSpPr/>
          <p:nvPr/>
        </p:nvSpPr>
        <p:spPr>
          <a:xfrm>
            <a:off x="6190488" y="426110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90488" y="435254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21</a:t>
            </a:r>
          </a:p>
        </p:txBody>
      </p:sp>
      <p:sp>
        <p:nvSpPr>
          <p:cNvPr id="87" name="TextBox 86"/>
          <p:cNvSpPr txBox="1"/>
          <p:nvPr/>
        </p:nvSpPr>
        <p:spPr>
          <a:xfrm>
            <a:off x="6629400" y="435254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Payout Lifecycle</a:t>
            </a:r>
          </a:p>
        </p:txBody>
      </p:sp>
      <p:sp>
        <p:nvSpPr>
          <p:cNvPr id="88" name="TextBox 87"/>
          <p:cNvSpPr txBox="1"/>
          <p:nvPr/>
        </p:nvSpPr>
        <p:spPr>
          <a:xfrm>
            <a:off x="10625328" y="435254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23</a:t>
            </a:r>
          </a:p>
        </p:txBody>
      </p:sp>
      <p:sp>
        <p:nvSpPr>
          <p:cNvPr id="89" name="Rectangle 88"/>
          <p:cNvSpPr/>
          <p:nvPr/>
        </p:nvSpPr>
        <p:spPr>
          <a:xfrm>
            <a:off x="6190488" y="462686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90488" y="471830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22</a:t>
            </a:r>
          </a:p>
        </p:txBody>
      </p:sp>
      <p:sp>
        <p:nvSpPr>
          <p:cNvPr id="91" name="TextBox 90"/>
          <p:cNvSpPr txBox="1"/>
          <p:nvPr/>
        </p:nvSpPr>
        <p:spPr>
          <a:xfrm>
            <a:off x="6629400" y="471830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Admin &amp; Manager Operations</a:t>
            </a:r>
          </a:p>
        </p:txBody>
      </p:sp>
      <p:sp>
        <p:nvSpPr>
          <p:cNvPr id="92" name="TextBox 91"/>
          <p:cNvSpPr txBox="1"/>
          <p:nvPr/>
        </p:nvSpPr>
        <p:spPr>
          <a:xfrm>
            <a:off x="10625328" y="471830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24</a:t>
            </a:r>
          </a:p>
        </p:txBody>
      </p:sp>
      <p:sp>
        <p:nvSpPr>
          <p:cNvPr id="93" name="Rectangle 92"/>
          <p:cNvSpPr/>
          <p:nvPr/>
        </p:nvSpPr>
        <p:spPr>
          <a:xfrm>
            <a:off x="6190488" y="499262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90488" y="5084064"/>
            <a:ext cx="384048"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23</a:t>
            </a:r>
          </a:p>
        </p:txBody>
      </p:sp>
      <p:sp>
        <p:nvSpPr>
          <p:cNvPr id="95" name="TextBox 94"/>
          <p:cNvSpPr txBox="1"/>
          <p:nvPr/>
        </p:nvSpPr>
        <p:spPr>
          <a:xfrm>
            <a:off x="6629400" y="5084064"/>
            <a:ext cx="3931920" cy="274320"/>
          </a:xfrm>
          <a:prstGeom prst="rect">
            <a:avLst/>
          </a:prstGeom>
          <a:noFill/>
        </p:spPr>
        <p:txBody>
          <a:bodyPr wrap="square" anchor="t" lIns="0" rIns="0" tIns="0" bIns="0">
            <a:spAutoFit/>
          </a:bodyPr>
          <a:lstStyle/>
          <a:p>
            <a:pPr algn="l">
              <a:lnSpc>
                <a:spcPct val="100000"/>
              </a:lnSpc>
              <a:spcAft>
                <a:spcPts val="0"/>
              </a:spcAft>
            </a:pPr>
            <a:r>
              <a:rPr sz="1050" b="0" i="0">
                <a:solidFill>
                  <a:srgbClr val="3A3A3A"/>
                </a:solidFill>
                <a:latin typeface="Century Gothic"/>
              </a:rPr>
              <a:t>Phase 1 Scope</a:t>
            </a:r>
          </a:p>
        </p:txBody>
      </p:sp>
      <p:sp>
        <p:nvSpPr>
          <p:cNvPr id="96" name="TextBox 95"/>
          <p:cNvSpPr txBox="1"/>
          <p:nvPr/>
        </p:nvSpPr>
        <p:spPr>
          <a:xfrm>
            <a:off x="10625328" y="5084064"/>
            <a:ext cx="502920" cy="274320"/>
          </a:xfrm>
          <a:prstGeom prst="rect">
            <a:avLst/>
          </a:prstGeom>
          <a:noFill/>
        </p:spPr>
        <p:txBody>
          <a:bodyPr wrap="square" anchor="t" lIns="0" rIns="0" tIns="0" bIns="0">
            <a:spAutoFit/>
          </a:bodyPr>
          <a:lstStyle/>
          <a:p>
            <a:pPr algn="r">
              <a:lnSpc>
                <a:spcPct val="100000"/>
              </a:lnSpc>
              <a:spcAft>
                <a:spcPts val="0"/>
              </a:spcAft>
            </a:pPr>
            <a:r>
              <a:rPr sz="950" b="0" i="0">
                <a:solidFill>
                  <a:srgbClr val="808080"/>
                </a:solidFill>
                <a:latin typeface="Century Gothic"/>
              </a:rPr>
              <a:t>25</a:t>
            </a:r>
          </a:p>
        </p:txBody>
      </p:sp>
      <p:sp>
        <p:nvSpPr>
          <p:cNvPr id="97" name="Rectangle 96"/>
          <p:cNvSpPr/>
          <p:nvPr/>
        </p:nvSpPr>
        <p:spPr>
          <a:xfrm>
            <a:off x="6190488" y="5358384"/>
            <a:ext cx="4937760" cy="7315"/>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Picture 97" descr="footer_bar.png"/>
          <p:cNvPicPr>
            <a:picLocks noChangeAspect="1"/>
          </p:cNvPicPr>
          <p:nvPr/>
        </p:nvPicPr>
        <p:blipFill>
          <a:blip r:embed="rId4"/>
          <a:stretch>
            <a:fillRect/>
          </a:stretch>
        </p:blipFill>
        <p:spPr>
          <a:xfrm>
            <a:off x="7260336" y="5861304"/>
            <a:ext cx="4928616" cy="491032"/>
          </a:xfrm>
          <a:prstGeom prst="rect">
            <a:avLst/>
          </a:prstGeom>
        </p:spPr>
      </p:pic>
      <p:sp>
        <p:nvSpPr>
          <p:cNvPr id="99" name="TextBox 98"/>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Savr at a Glance</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An open membership platform — members unlock discounted merchant offers</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Chevron 5"/>
          <p:cNvSpPr/>
          <p:nvPr/>
        </p:nvSpPr>
        <p:spPr>
          <a:xfrm>
            <a:off x="566928" y="1444752"/>
            <a:ext cx="2178649" cy="841248"/>
          </a:xfrm>
          <a:prstGeom prst="chevron">
            <a:avLst>
              <a:gd name="adj" fmla="val 22000"/>
            </a:avLst>
          </a:prstGeom>
          <a:gradFill rotWithShape="1">
            <a:gsLst>
              <a:gs pos="0">
                <a:srgbClr val="FF007F"/>
              </a:gs>
              <a:gs pos="100000">
                <a:srgbClr val="E8009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Anyone
registers</a:t>
            </a:r>
          </a:p>
        </p:txBody>
      </p:sp>
      <p:sp>
        <p:nvSpPr>
          <p:cNvPr id="7" name="Chevron 6"/>
          <p:cNvSpPr/>
          <p:nvPr/>
        </p:nvSpPr>
        <p:spPr>
          <a:xfrm>
            <a:off x="2786725" y="1444752"/>
            <a:ext cx="2178649" cy="841248"/>
          </a:xfrm>
          <a:prstGeom prst="chevron">
            <a:avLst>
              <a:gd name="adj" fmla="val 22000"/>
            </a:avLst>
          </a:prstGeom>
          <a:gradFill rotWithShape="1">
            <a:gsLst>
              <a:gs pos="0">
                <a:srgbClr val="DF009F"/>
              </a:gs>
              <a:gs pos="100000">
                <a:srgbClr val="C800B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Phone verified
(mandatory)</a:t>
            </a:r>
          </a:p>
        </p:txBody>
      </p:sp>
      <p:sp>
        <p:nvSpPr>
          <p:cNvPr id="8" name="Chevron 7"/>
          <p:cNvSpPr/>
          <p:nvPr/>
        </p:nvSpPr>
        <p:spPr>
          <a:xfrm>
            <a:off x="5006522" y="1444752"/>
            <a:ext cx="2178649" cy="841248"/>
          </a:xfrm>
          <a:prstGeom prst="chevron">
            <a:avLst>
              <a:gd name="adj" fmla="val 22000"/>
            </a:avLst>
          </a:prstGeom>
          <a:gradFill rotWithShape="1">
            <a:gsLst>
              <a:gs pos="0">
                <a:srgbClr val="BF00BF"/>
              </a:gs>
              <a:gs pos="100000">
                <a:srgbClr val="A800D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Member pays
subscription</a:t>
            </a:r>
          </a:p>
        </p:txBody>
      </p:sp>
      <p:sp>
        <p:nvSpPr>
          <p:cNvPr id="9" name="Chevron 8"/>
          <p:cNvSpPr/>
          <p:nvPr/>
        </p:nvSpPr>
        <p:spPr>
          <a:xfrm>
            <a:off x="7226320" y="1444752"/>
            <a:ext cx="2178649" cy="841248"/>
          </a:xfrm>
          <a:prstGeom prst="chevron">
            <a:avLst>
              <a:gd name="adj" fmla="val 22000"/>
            </a:avLst>
          </a:prstGeom>
          <a:gradFill rotWithShape="1">
            <a:gsLst>
              <a:gs pos="0">
                <a:srgbClr val="9F00DF"/>
              </a:gs>
              <a:gs pos="100000">
                <a:srgbClr val="8800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Payout accrues
at a set %</a:t>
            </a:r>
          </a:p>
        </p:txBody>
      </p:sp>
      <p:sp>
        <p:nvSpPr>
          <p:cNvPr id="10" name="Chevron 9"/>
          <p:cNvSpPr/>
          <p:nvPr/>
        </p:nvSpPr>
        <p:spPr>
          <a:xfrm>
            <a:off x="9446117" y="1444752"/>
            <a:ext cx="2178649" cy="841248"/>
          </a:xfrm>
          <a:prstGeom prst="chevron">
            <a:avLst>
              <a:gd name="adj" fmla="val 22000"/>
            </a:avLst>
          </a:prstGeom>
          <a:gradFill rotWithShape="1">
            <a:gsLst>
              <a:gs pos="0">
                <a:srgbClr val="7F00F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Member redeems
offers</a:t>
            </a:r>
          </a:p>
        </p:txBody>
      </p:sp>
      <p:sp>
        <p:nvSpPr>
          <p:cNvPr id="11" name="Rounded Rectangle 10"/>
          <p:cNvSpPr/>
          <p:nvPr/>
        </p:nvSpPr>
        <p:spPr>
          <a:xfrm>
            <a:off x="566928" y="2688336"/>
            <a:ext cx="2599867" cy="166420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688336"/>
            <a:ext cx="50292" cy="1664208"/>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871216"/>
            <a:ext cx="2188387"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Open signup</a:t>
            </a:r>
          </a:p>
        </p:txBody>
      </p:sp>
      <p:sp>
        <p:nvSpPr>
          <p:cNvPr id="14" name="TextBox 13"/>
          <p:cNvSpPr txBox="1"/>
          <p:nvPr/>
        </p:nvSpPr>
        <p:spPr>
          <a:xfrm>
            <a:off x="804672" y="3236976"/>
            <a:ext cx="2188387" cy="978408"/>
          </a:xfrm>
          <a:prstGeom prst="rect">
            <a:avLst/>
          </a:prstGeom>
          <a:noFill/>
        </p:spPr>
        <p:txBody>
          <a:bodyPr wrap="square" anchor="t" lIns="0" rIns="0" tIns="0" bIns="0">
            <a:spAutoFit/>
          </a:bodyPr>
          <a:lstStyle/>
          <a:p>
            <a:pPr algn="l">
              <a:lnSpc>
                <a:spcPct val="122000"/>
              </a:lnSpc>
              <a:spcAft>
                <a:spcPts val="0"/>
              </a:spcAft>
            </a:pPr>
            <a:r>
              <a:rPr sz="950" b="0" i="0">
                <a:solidFill>
                  <a:srgbClr val="3A3A3A"/>
                </a:solidFill>
                <a:latin typeface="Century Gothic"/>
              </a:rPr>
              <a:t>Anyone can register as a member. A promo code is optional — it only attributes the signup to an influencer.</a:t>
            </a:r>
          </a:p>
        </p:txBody>
      </p:sp>
      <p:sp>
        <p:nvSpPr>
          <p:cNvPr id="15" name="Rounded Rectangle 14"/>
          <p:cNvSpPr/>
          <p:nvPr/>
        </p:nvSpPr>
        <p:spPr>
          <a:xfrm>
            <a:off x="3386251" y="2688336"/>
            <a:ext cx="2599867" cy="166420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6251" y="2688336"/>
            <a:ext cx="50292" cy="1664208"/>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3995" y="2871216"/>
            <a:ext cx="2188387"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Two gates</a:t>
            </a:r>
          </a:p>
        </p:txBody>
      </p:sp>
      <p:sp>
        <p:nvSpPr>
          <p:cNvPr id="18" name="TextBox 17"/>
          <p:cNvSpPr txBox="1"/>
          <p:nvPr/>
        </p:nvSpPr>
        <p:spPr>
          <a:xfrm>
            <a:off x="3623995" y="3236976"/>
            <a:ext cx="2188387" cy="978408"/>
          </a:xfrm>
          <a:prstGeom prst="rect">
            <a:avLst/>
          </a:prstGeom>
          <a:noFill/>
        </p:spPr>
        <p:txBody>
          <a:bodyPr wrap="square" anchor="t" lIns="0" rIns="0" tIns="0" bIns="0">
            <a:spAutoFit/>
          </a:bodyPr>
          <a:lstStyle/>
          <a:p>
            <a:pPr algn="l">
              <a:lnSpc>
                <a:spcPct val="122000"/>
              </a:lnSpc>
              <a:spcAft>
                <a:spcPts val="0"/>
              </a:spcAft>
            </a:pPr>
            <a:r>
              <a:rPr sz="950" b="0" i="0">
                <a:solidFill>
                  <a:srgbClr val="3A3A3A"/>
                </a:solidFill>
                <a:latin typeface="Century Gothic"/>
              </a:rPr>
              <a:t>Verification (phone + email) unlocks the app. Subscription unlocks redeeming an offer.</a:t>
            </a:r>
          </a:p>
        </p:txBody>
      </p:sp>
      <p:sp>
        <p:nvSpPr>
          <p:cNvPr id="19" name="Rounded Rectangle 18"/>
          <p:cNvSpPr/>
          <p:nvPr/>
        </p:nvSpPr>
        <p:spPr>
          <a:xfrm>
            <a:off x="6205575" y="2688336"/>
            <a:ext cx="2599867" cy="166420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5575" y="2688336"/>
            <a:ext cx="50292" cy="1664208"/>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3319" y="2871216"/>
            <a:ext cx="2188387" cy="274320"/>
          </a:xfrm>
          <a:prstGeom prst="rect">
            <a:avLst/>
          </a:prstGeom>
          <a:noFill/>
        </p:spPr>
        <p:txBody>
          <a:bodyPr wrap="square" anchor="t" lIns="0" rIns="0" tIns="0" bIns="0">
            <a:spAutoFit/>
          </a:bodyPr>
          <a:lstStyle/>
          <a:p>
            <a:pPr algn="l">
              <a:lnSpc>
                <a:spcPct val="100000"/>
              </a:lnSpc>
              <a:spcAft>
                <a:spcPts val="0"/>
              </a:spcAft>
            </a:pPr>
            <a:r>
              <a:rPr sz="1200" b="1" i="0">
                <a:solidFill>
                  <a:srgbClr val="4B0082"/>
                </a:solidFill>
                <a:latin typeface="Century Gothic"/>
              </a:rPr>
              <a:t>Invite-only supply</a:t>
            </a:r>
          </a:p>
        </p:txBody>
      </p:sp>
      <p:sp>
        <p:nvSpPr>
          <p:cNvPr id="22" name="TextBox 21"/>
          <p:cNvSpPr txBox="1"/>
          <p:nvPr/>
        </p:nvSpPr>
        <p:spPr>
          <a:xfrm>
            <a:off x="6443319" y="3236976"/>
            <a:ext cx="2188387" cy="978408"/>
          </a:xfrm>
          <a:prstGeom prst="rect">
            <a:avLst/>
          </a:prstGeom>
          <a:noFill/>
        </p:spPr>
        <p:txBody>
          <a:bodyPr wrap="square" anchor="t" lIns="0" rIns="0" tIns="0" bIns="0">
            <a:spAutoFit/>
          </a:bodyPr>
          <a:lstStyle/>
          <a:p>
            <a:pPr algn="l">
              <a:lnSpc>
                <a:spcPct val="122000"/>
              </a:lnSpc>
              <a:spcAft>
                <a:spcPts val="0"/>
              </a:spcAft>
            </a:pPr>
            <a:r>
              <a:rPr sz="950" b="0" i="0">
                <a:solidFill>
                  <a:srgbClr val="3A3A3A"/>
                </a:solidFill>
                <a:latin typeface="Century Gothic"/>
              </a:rPr>
              <a:t>Merchants and influencers cannot self-register. A Super Admin (or Merchant Manager) creates the account and verifies KYC.</a:t>
            </a:r>
          </a:p>
        </p:txBody>
      </p:sp>
      <p:sp>
        <p:nvSpPr>
          <p:cNvPr id="23" name="Rounded Rectangle 22"/>
          <p:cNvSpPr/>
          <p:nvPr/>
        </p:nvSpPr>
        <p:spPr>
          <a:xfrm>
            <a:off x="9024899" y="2688336"/>
            <a:ext cx="2599867" cy="166420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24899" y="2688336"/>
            <a:ext cx="50292" cy="1664208"/>
          </a:xfrm>
          <a:prstGeom prst="rect">
            <a:avLst/>
          </a:prstGeom>
          <a:gradFill rotWithShape="1">
            <a:gsLst>
              <a:gs pos="0">
                <a:srgbClr val="8B0000"/>
              </a:gs>
              <a:gs pos="100000">
                <a:srgbClr val="8B0000"/>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62643" y="2871216"/>
            <a:ext cx="2188387" cy="274320"/>
          </a:xfrm>
          <a:prstGeom prst="rect">
            <a:avLst/>
          </a:prstGeom>
          <a:noFill/>
        </p:spPr>
        <p:txBody>
          <a:bodyPr wrap="square" anchor="t" lIns="0" rIns="0" tIns="0" bIns="0">
            <a:spAutoFit/>
          </a:bodyPr>
          <a:lstStyle/>
          <a:p>
            <a:pPr algn="l">
              <a:lnSpc>
                <a:spcPct val="100000"/>
              </a:lnSpc>
              <a:spcAft>
                <a:spcPts val="0"/>
              </a:spcAft>
            </a:pPr>
            <a:r>
              <a:rPr sz="1200" b="1" i="0">
                <a:solidFill>
                  <a:srgbClr val="8B0000"/>
                </a:solidFill>
                <a:latin typeface="Century Gothic"/>
              </a:rPr>
              <a:t>Payout on payment</a:t>
            </a:r>
          </a:p>
        </p:txBody>
      </p:sp>
      <p:sp>
        <p:nvSpPr>
          <p:cNvPr id="26" name="TextBox 25"/>
          <p:cNvSpPr txBox="1"/>
          <p:nvPr/>
        </p:nvSpPr>
        <p:spPr>
          <a:xfrm>
            <a:off x="9262643" y="3236976"/>
            <a:ext cx="2188387" cy="978408"/>
          </a:xfrm>
          <a:prstGeom prst="rect">
            <a:avLst/>
          </a:prstGeom>
          <a:noFill/>
        </p:spPr>
        <p:txBody>
          <a:bodyPr wrap="square" anchor="t" lIns="0" rIns="0" tIns="0" bIns="0">
            <a:spAutoFit/>
          </a:bodyPr>
          <a:lstStyle/>
          <a:p>
            <a:pPr algn="l">
              <a:lnSpc>
                <a:spcPct val="122000"/>
              </a:lnSpc>
              <a:spcAft>
                <a:spcPts val="0"/>
              </a:spcAft>
            </a:pPr>
            <a:r>
              <a:rPr sz="950" b="0" i="0">
                <a:solidFill>
                  <a:srgbClr val="3A3A3A"/>
                </a:solidFill>
                <a:latin typeface="Century Gothic"/>
              </a:rPr>
              <a:t>Every successful subscription payment accrues a payout at a percentage the Super Admin controls — issued manually by the Accountant Manager.</a:t>
            </a:r>
          </a:p>
        </p:txBody>
      </p:sp>
      <p:sp>
        <p:nvSpPr>
          <p:cNvPr id="27" name="Rounded Rectangle 26"/>
          <p:cNvSpPr/>
          <p:nvPr/>
        </p:nvSpPr>
        <p:spPr>
          <a:xfrm>
            <a:off x="566928" y="4663440"/>
            <a:ext cx="6583680" cy="841248"/>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663440"/>
            <a:ext cx="45720" cy="841248"/>
          </a:xfrm>
          <a:prstGeom prst="rect">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4791455"/>
            <a:ext cx="6217920" cy="621792"/>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Money flows IN from member subscriptions (via Paymennt, in AED) and OUT as influencer payouts issued manually by the Accountant Manager. The same successful payment does both: it credits the platform ledger and accrues the payout. Merchants neither pay nor are paid in Phase 1.</a:t>
            </a:r>
          </a:p>
        </p:txBody>
      </p:sp>
      <p:pic>
        <p:nvPicPr>
          <p:cNvPr id="30" name="Picture 29"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1" name="TextBox 30"/>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a.png"/>
          <p:cNvPicPr>
            <a:picLocks noChangeAspect="1"/>
          </p:cNvPicPr>
          <p:nvPr/>
        </p:nvPicPr>
        <p:blipFill>
          <a:blip r:embed="rId3"/>
          <a:stretch>
            <a:fillRect/>
          </a:stretch>
        </p:blipFill>
        <p:spPr>
          <a:xfrm>
            <a:off x="10436047" y="457200"/>
            <a:ext cx="1188720" cy="471889"/>
          </a:xfrm>
          <a:prstGeom prst="rect">
            <a:avLst/>
          </a:prstGeom>
        </p:spPr>
      </p:pic>
      <p:sp>
        <p:nvSpPr>
          <p:cNvPr id="4" name="TextBox 3"/>
          <p:cNvSpPr txBox="1"/>
          <p:nvPr/>
        </p:nvSpPr>
        <p:spPr>
          <a:xfrm>
            <a:off x="886968" y="2212848"/>
            <a:ext cx="2743200" cy="1188720"/>
          </a:xfrm>
          <a:prstGeom prst="rect">
            <a:avLst/>
          </a:prstGeom>
          <a:noFill/>
        </p:spPr>
        <p:txBody>
          <a:bodyPr wrap="square" anchor="t" lIns="0" rIns="0" tIns="0" bIns="0">
            <a:spAutoFit/>
          </a:bodyPr>
          <a:lstStyle/>
          <a:p>
            <a:pPr algn="l">
              <a:lnSpc>
                <a:spcPct val="100000"/>
              </a:lnSpc>
              <a:spcAft>
                <a:spcPts val="0"/>
              </a:spcAft>
            </a:pPr>
            <a:r>
              <a:rPr sz="7600" b="1" i="0">
                <a:solidFill>
                  <a:srgbClr val="FFFFFF"/>
                </a:solidFill>
                <a:latin typeface="Century Gothic"/>
              </a:rPr>
              <a:t>01</a:t>
            </a:r>
          </a:p>
        </p:txBody>
      </p:sp>
      <p:sp>
        <p:nvSpPr>
          <p:cNvPr id="5" name="Rectangle 4"/>
          <p:cNvSpPr/>
          <p:nvPr/>
        </p:nvSpPr>
        <p:spPr>
          <a:xfrm>
            <a:off x="950976" y="3310128"/>
            <a:ext cx="960120" cy="411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3584448"/>
            <a:ext cx="7863840" cy="640080"/>
          </a:xfrm>
          <a:prstGeom prst="rect">
            <a:avLst/>
          </a:prstGeom>
          <a:noFill/>
        </p:spPr>
        <p:txBody>
          <a:bodyPr wrap="square" anchor="t" lIns="0" rIns="0" tIns="0" bIns="0">
            <a:spAutoFit/>
          </a:bodyPr>
          <a:lstStyle/>
          <a:p>
            <a:pPr algn="l">
              <a:lnSpc>
                <a:spcPct val="100000"/>
              </a:lnSpc>
              <a:spcAft>
                <a:spcPts val="0"/>
              </a:spcAft>
            </a:pPr>
            <a:r>
              <a:rPr sz="3300" b="0" i="0">
                <a:solidFill>
                  <a:srgbClr val="FFFFFF"/>
                </a:solidFill>
                <a:latin typeface="Century Gothic"/>
              </a:rPr>
              <a:t>Roles &amp; Access</a:t>
            </a:r>
          </a:p>
        </p:txBody>
      </p:sp>
      <p:sp>
        <p:nvSpPr>
          <p:cNvPr id="7" name="TextBox 6"/>
          <p:cNvSpPr txBox="1"/>
          <p:nvPr/>
        </p:nvSpPr>
        <p:spPr>
          <a:xfrm>
            <a:off x="914400" y="4315968"/>
            <a:ext cx="7498079" cy="411480"/>
          </a:xfrm>
          <a:prstGeom prst="rect">
            <a:avLst/>
          </a:prstGeom>
          <a:noFill/>
        </p:spPr>
        <p:txBody>
          <a:bodyPr wrap="square" anchor="t" lIns="0" rIns="0" tIns="0" bIns="0">
            <a:spAutoFit/>
          </a:bodyPr>
          <a:lstStyle/>
          <a:p>
            <a:pPr algn="l">
              <a:lnSpc>
                <a:spcPct val="100000"/>
              </a:lnSpc>
              <a:spcAft>
                <a:spcPts val="0"/>
              </a:spcAft>
            </a:pPr>
            <a:r>
              <a:rPr sz="1250" b="0" i="0">
                <a:solidFill>
                  <a:srgbClr val="F0DCEE"/>
                </a:solidFill>
                <a:latin typeface="Century Gothic"/>
              </a:rPr>
              <a:t>Who uses Savr, how each account is created, and what stands between them and the app</a:t>
            </a:r>
          </a:p>
        </p:txBody>
      </p:sp>
      <p:pic>
        <p:nvPicPr>
          <p:cNvPr id="8" name="Picture 7" descr="footer_bar.png"/>
          <p:cNvPicPr>
            <a:picLocks noChangeAspect="1"/>
          </p:cNvPicPr>
          <p:nvPr/>
        </p:nvPicPr>
        <p:blipFill>
          <a:blip r:embed="rId4"/>
          <a:stretch>
            <a:fillRect/>
          </a:stretch>
        </p:blipFill>
        <p:spPr>
          <a:xfrm>
            <a:off x="7260336" y="5861304"/>
            <a:ext cx="4928616" cy="491032"/>
          </a:xfrm>
          <a:prstGeom prst="rect">
            <a:avLst/>
          </a:prstGeom>
        </p:spPr>
      </p:pic>
      <p:sp>
        <p:nvSpPr>
          <p:cNvPr id="9" name="TextBox 8"/>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The Seven Roles</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Seven roles: one super-user, three managers, three end-user roles — only members self-register</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566928" y="1481328"/>
            <a:ext cx="2627299" cy="248716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81328"/>
            <a:ext cx="50292" cy="2487168"/>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664208"/>
            <a:ext cx="2215819" cy="274320"/>
          </a:xfrm>
          <a:prstGeom prst="rect">
            <a:avLst/>
          </a:prstGeom>
          <a:noFill/>
        </p:spPr>
        <p:txBody>
          <a:bodyPr wrap="square" anchor="t" lIns="0" rIns="0" tIns="0" bIns="0">
            <a:spAutoFit/>
          </a:bodyPr>
          <a:lstStyle/>
          <a:p>
            <a:pPr algn="l">
              <a:lnSpc>
                <a:spcPct val="100000"/>
              </a:lnSpc>
              <a:spcAft>
                <a:spcPts val="0"/>
              </a:spcAft>
            </a:pPr>
            <a:r>
              <a:rPr sz="1300" b="1" i="0">
                <a:solidFill>
                  <a:srgbClr val="FF007F"/>
                </a:solidFill>
                <a:latin typeface="Century Gothic"/>
              </a:rPr>
              <a:t>Super Admin</a:t>
            </a:r>
          </a:p>
        </p:txBody>
      </p:sp>
      <p:sp>
        <p:nvSpPr>
          <p:cNvPr id="9" name="TextBox 8"/>
          <p:cNvSpPr txBox="1"/>
          <p:nvPr/>
        </p:nvSpPr>
        <p:spPr>
          <a:xfrm>
            <a:off x="804672" y="2029968"/>
            <a:ext cx="2215819" cy="180136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Full access to everything. Creates all staff (manager) accounts, merchants and influencers. Verifies KYC. Sets the payout % AND each influencer's discount. Approves payouts.</a:t>
            </a:r>
          </a:p>
        </p:txBody>
      </p:sp>
      <p:sp>
        <p:nvSpPr>
          <p:cNvPr id="10" name="Rounded Rectangle 9"/>
          <p:cNvSpPr/>
          <p:nvPr/>
        </p:nvSpPr>
        <p:spPr>
          <a:xfrm>
            <a:off x="713232" y="3703320"/>
            <a:ext cx="2334691" cy="274320"/>
          </a:xfrm>
          <a:prstGeom prst="roundRect">
            <a:avLst>
              <a:gd name="adj" fmla="val 5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FF007F"/>
                </a:solidFill>
                <a:latin typeface="Century Gothic"/>
              </a:rPr>
              <a:t>Seeded</a:t>
            </a:r>
          </a:p>
        </p:txBody>
      </p:sp>
      <p:sp>
        <p:nvSpPr>
          <p:cNvPr id="11" name="Rounded Rectangle 10"/>
          <p:cNvSpPr/>
          <p:nvPr/>
        </p:nvSpPr>
        <p:spPr>
          <a:xfrm>
            <a:off x="3377107" y="1481328"/>
            <a:ext cx="2627299" cy="248716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77107" y="1481328"/>
            <a:ext cx="50292" cy="2487168"/>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4851" y="1664208"/>
            <a:ext cx="2215819" cy="274320"/>
          </a:xfrm>
          <a:prstGeom prst="rect">
            <a:avLst/>
          </a:prstGeom>
          <a:noFill/>
        </p:spPr>
        <p:txBody>
          <a:bodyPr wrap="square" anchor="t" lIns="0" rIns="0" tIns="0" bIns="0">
            <a:spAutoFit/>
          </a:bodyPr>
          <a:lstStyle/>
          <a:p>
            <a:pPr algn="l">
              <a:lnSpc>
                <a:spcPct val="100000"/>
              </a:lnSpc>
              <a:spcAft>
                <a:spcPts val="0"/>
              </a:spcAft>
            </a:pPr>
            <a:r>
              <a:rPr sz="1300" b="1" i="0">
                <a:solidFill>
                  <a:srgbClr val="7F00FF"/>
                </a:solidFill>
                <a:latin typeface="Century Gothic"/>
              </a:rPr>
              <a:t>Merchant</a:t>
            </a:r>
          </a:p>
        </p:txBody>
      </p:sp>
      <p:sp>
        <p:nvSpPr>
          <p:cNvPr id="14" name="TextBox 13"/>
          <p:cNvSpPr txBox="1"/>
          <p:nvPr/>
        </p:nvSpPr>
        <p:spPr>
          <a:xfrm>
            <a:off x="3614851" y="2029968"/>
            <a:ext cx="2215819" cy="180136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Builds its storefront, creates and manages its offers, reads its reports, and CONFIRMS redemptions at the venue. Plus full member access.</a:t>
            </a:r>
          </a:p>
        </p:txBody>
      </p:sp>
      <p:sp>
        <p:nvSpPr>
          <p:cNvPr id="15" name="Rounded Rectangle 14"/>
          <p:cNvSpPr/>
          <p:nvPr/>
        </p:nvSpPr>
        <p:spPr>
          <a:xfrm>
            <a:off x="3523411" y="3703320"/>
            <a:ext cx="2334691" cy="274320"/>
          </a:xfrm>
          <a:prstGeom prst="roundRect">
            <a:avLst>
              <a:gd name="adj" fmla="val 5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7F00FF"/>
                </a:solidFill>
                <a:latin typeface="Century Gothic"/>
              </a:rPr>
              <a:t>Created by Super Admin</a:t>
            </a:r>
          </a:p>
        </p:txBody>
      </p:sp>
      <p:sp>
        <p:nvSpPr>
          <p:cNvPr id="16" name="Rounded Rectangle 15"/>
          <p:cNvSpPr/>
          <p:nvPr/>
        </p:nvSpPr>
        <p:spPr>
          <a:xfrm>
            <a:off x="6187287" y="1481328"/>
            <a:ext cx="2627299" cy="248716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7287" y="1481328"/>
            <a:ext cx="50292" cy="2487168"/>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5031" y="1664208"/>
            <a:ext cx="2215819" cy="274320"/>
          </a:xfrm>
          <a:prstGeom prst="rect">
            <a:avLst/>
          </a:prstGeom>
          <a:noFill/>
        </p:spPr>
        <p:txBody>
          <a:bodyPr wrap="square" anchor="t" lIns="0" rIns="0" tIns="0" bIns="0">
            <a:spAutoFit/>
          </a:bodyPr>
          <a:lstStyle/>
          <a:p>
            <a:pPr algn="l">
              <a:lnSpc>
                <a:spcPct val="100000"/>
              </a:lnSpc>
              <a:spcAft>
                <a:spcPts val="0"/>
              </a:spcAft>
            </a:pPr>
            <a:r>
              <a:rPr sz="1300" b="1" i="0">
                <a:solidFill>
                  <a:srgbClr val="4B0082"/>
                </a:solidFill>
                <a:latin typeface="Century Gothic"/>
              </a:rPr>
              <a:t>Influencer</a:t>
            </a:r>
          </a:p>
        </p:txBody>
      </p:sp>
      <p:sp>
        <p:nvSpPr>
          <p:cNvPr id="19" name="TextBox 18"/>
          <p:cNvSpPr txBox="1"/>
          <p:nvPr/>
        </p:nvSpPr>
        <p:spPr>
          <a:xfrm>
            <a:off x="6425031" y="2029968"/>
            <a:ext cx="2215819" cy="180136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Gets a reusable promo code from their dashboard. Tracks redemptions and payouts. Sees their own Super-Admin-set discount but cannot change it. Plus full member access.</a:t>
            </a:r>
          </a:p>
        </p:txBody>
      </p:sp>
      <p:sp>
        <p:nvSpPr>
          <p:cNvPr id="20" name="Rounded Rectangle 19"/>
          <p:cNvSpPr/>
          <p:nvPr/>
        </p:nvSpPr>
        <p:spPr>
          <a:xfrm>
            <a:off x="6333591" y="3703320"/>
            <a:ext cx="2334691" cy="274320"/>
          </a:xfrm>
          <a:prstGeom prst="roundRect">
            <a:avLst>
              <a:gd name="adj" fmla="val 5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4B0082"/>
                </a:solidFill>
                <a:latin typeface="Century Gothic"/>
              </a:rPr>
              <a:t>Created by Super Admin</a:t>
            </a:r>
          </a:p>
        </p:txBody>
      </p:sp>
      <p:sp>
        <p:nvSpPr>
          <p:cNvPr id="21" name="Rounded Rectangle 20"/>
          <p:cNvSpPr/>
          <p:nvPr/>
        </p:nvSpPr>
        <p:spPr>
          <a:xfrm>
            <a:off x="8997467" y="1481328"/>
            <a:ext cx="2627299" cy="248716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97467" y="1481328"/>
            <a:ext cx="50292" cy="2487168"/>
          </a:xfrm>
          <a:prstGeom prst="rect">
            <a:avLst/>
          </a:prstGeom>
          <a:gradFill rotWithShape="1">
            <a:gsLst>
              <a:gs pos="0">
                <a:srgbClr val="8B0000"/>
              </a:gs>
              <a:gs pos="100000">
                <a:srgbClr val="8B0000"/>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211" y="1664208"/>
            <a:ext cx="2215819" cy="274320"/>
          </a:xfrm>
          <a:prstGeom prst="rect">
            <a:avLst/>
          </a:prstGeom>
          <a:noFill/>
        </p:spPr>
        <p:txBody>
          <a:bodyPr wrap="square" anchor="t" lIns="0" rIns="0" tIns="0" bIns="0">
            <a:spAutoFit/>
          </a:bodyPr>
          <a:lstStyle/>
          <a:p>
            <a:pPr algn="l">
              <a:lnSpc>
                <a:spcPct val="100000"/>
              </a:lnSpc>
              <a:spcAft>
                <a:spcPts val="0"/>
              </a:spcAft>
            </a:pPr>
            <a:r>
              <a:rPr sz="1300" b="1" i="0">
                <a:solidFill>
                  <a:srgbClr val="8B0000"/>
                </a:solidFill>
                <a:latin typeface="Century Gothic"/>
              </a:rPr>
              <a:t>Member</a:t>
            </a:r>
          </a:p>
        </p:txBody>
      </p:sp>
      <p:sp>
        <p:nvSpPr>
          <p:cNvPr id="24" name="TextBox 23"/>
          <p:cNvSpPr txBox="1"/>
          <p:nvPr/>
        </p:nvSpPr>
        <p:spPr>
          <a:xfrm>
            <a:off x="9235211" y="2029968"/>
            <a:ext cx="2215819" cy="180136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Registers freely by email, Google or Apple (social auto-links). Subscribes via Paymennt (AED), browses, redeems offers (merchant-confirmed), holds the pass.</a:t>
            </a:r>
          </a:p>
        </p:txBody>
      </p:sp>
      <p:sp>
        <p:nvSpPr>
          <p:cNvPr id="25" name="Rounded Rectangle 24"/>
          <p:cNvSpPr/>
          <p:nvPr/>
        </p:nvSpPr>
        <p:spPr>
          <a:xfrm>
            <a:off x="9143771" y="3703320"/>
            <a:ext cx="2334691" cy="274320"/>
          </a:xfrm>
          <a:prstGeom prst="roundRect">
            <a:avLst>
              <a:gd name="adj" fmla="val 50000"/>
            </a:avLst>
          </a:prstGeom>
          <a:solidFill>
            <a:srgbClr val="F3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8B0000"/>
                </a:solidFill>
                <a:latin typeface="Century Gothic"/>
              </a:rPr>
              <a:t>Open signup</a:t>
            </a:r>
          </a:p>
        </p:txBody>
      </p:sp>
      <p:sp>
        <p:nvSpPr>
          <p:cNvPr id="26" name="TextBox 25"/>
          <p:cNvSpPr txBox="1"/>
          <p:nvPr/>
        </p:nvSpPr>
        <p:spPr>
          <a:xfrm>
            <a:off x="566928" y="4261104"/>
            <a:ext cx="11057839"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How the account is created</a:t>
            </a:r>
          </a:p>
        </p:txBody>
      </p:sp>
      <p:sp>
        <p:nvSpPr>
          <p:cNvPr id="27" name="Rounded Rectangle 26"/>
          <p:cNvSpPr/>
          <p:nvPr/>
        </p:nvSpPr>
        <p:spPr>
          <a:xfrm>
            <a:off x="566928" y="4645152"/>
            <a:ext cx="2148840" cy="475488"/>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Self-service</a:t>
            </a:r>
          </a:p>
        </p:txBody>
      </p:sp>
      <p:sp>
        <p:nvSpPr>
          <p:cNvPr id="28" name="TextBox 27"/>
          <p:cNvSpPr txBox="1"/>
          <p:nvPr/>
        </p:nvSpPr>
        <p:spPr>
          <a:xfrm>
            <a:off x="2871216" y="4754880"/>
            <a:ext cx="3063240" cy="365760"/>
          </a:xfrm>
          <a:prstGeom prst="rect">
            <a:avLst/>
          </a:prstGeom>
          <a:noFill/>
        </p:spPr>
        <p:txBody>
          <a:bodyPr wrap="square" anchor="t" lIns="0" rIns="0" tIns="0" bIns="0">
            <a:spAutoFit/>
          </a:bodyPr>
          <a:lstStyle/>
          <a:p>
            <a:pPr algn="l">
              <a:lnSpc>
                <a:spcPct val="115000"/>
              </a:lnSpc>
              <a:spcAft>
                <a:spcPts val="0"/>
              </a:spcAft>
            </a:pPr>
            <a:r>
              <a:rPr sz="880" b="0" i="0">
                <a:solidFill>
                  <a:srgbClr val="3A3A3A"/>
                </a:solidFill>
                <a:latin typeface="Century Gothic"/>
              </a:rPr>
              <a:t>Member only — open registration, no invitation needed</a:t>
            </a:r>
          </a:p>
        </p:txBody>
      </p:sp>
      <p:sp>
        <p:nvSpPr>
          <p:cNvPr id="29" name="Rounded Rectangle 28"/>
          <p:cNvSpPr/>
          <p:nvPr/>
        </p:nvSpPr>
        <p:spPr>
          <a:xfrm>
            <a:off x="6099048" y="4645152"/>
            <a:ext cx="2148840" cy="475488"/>
          </a:xfrm>
          <a:prstGeom prst="roundRect">
            <a:avLst>
              <a:gd name="adj" fmla="val 50000"/>
            </a:avLst>
          </a:prstGeom>
          <a:gradFill rotWithShape="1">
            <a:gsLst>
              <a:gs pos="0">
                <a:srgbClr val="7F00FF"/>
              </a:gs>
              <a:gs pos="100000">
                <a:srgbClr val="4B00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Staff-provisioned</a:t>
            </a:r>
          </a:p>
        </p:txBody>
      </p:sp>
      <p:sp>
        <p:nvSpPr>
          <p:cNvPr id="30" name="TextBox 29"/>
          <p:cNvSpPr txBox="1"/>
          <p:nvPr/>
        </p:nvSpPr>
        <p:spPr>
          <a:xfrm>
            <a:off x="8403336" y="4754880"/>
            <a:ext cx="3063240" cy="365760"/>
          </a:xfrm>
          <a:prstGeom prst="rect">
            <a:avLst/>
          </a:prstGeom>
          <a:noFill/>
        </p:spPr>
        <p:txBody>
          <a:bodyPr wrap="square" anchor="t" lIns="0" rIns="0" tIns="0" bIns="0">
            <a:spAutoFit/>
          </a:bodyPr>
          <a:lstStyle/>
          <a:p>
            <a:pPr algn="l">
              <a:lnSpc>
                <a:spcPct val="115000"/>
              </a:lnSpc>
              <a:spcAft>
                <a:spcPts val="0"/>
              </a:spcAft>
            </a:pPr>
            <a:r>
              <a:rPr sz="880" b="0" i="0">
                <a:solidFill>
                  <a:srgbClr val="3A3A3A"/>
                </a:solidFill>
                <a:latin typeface="Century Gothic"/>
              </a:rPr>
              <a:t>Merchant &amp; Influencer — created by a Super Admin / Merchant Manager</a:t>
            </a:r>
          </a:p>
        </p:txBody>
      </p:sp>
      <p:sp>
        <p:nvSpPr>
          <p:cNvPr id="31" name="TextBox 30"/>
          <p:cNvSpPr txBox="1"/>
          <p:nvPr/>
        </p:nvSpPr>
        <p:spPr>
          <a:xfrm>
            <a:off x="566928" y="5358384"/>
            <a:ext cx="11057839" cy="274320"/>
          </a:xfrm>
          <a:prstGeom prst="rect">
            <a:avLst/>
          </a:prstGeom>
          <a:noFill/>
        </p:spPr>
        <p:txBody>
          <a:bodyPr wrap="square" anchor="t" lIns="0" rIns="0" tIns="0" bIns="0">
            <a:spAutoFit/>
          </a:bodyPr>
          <a:lstStyle/>
          <a:p>
            <a:pPr algn="l">
              <a:lnSpc>
                <a:spcPct val="100000"/>
              </a:lnSpc>
              <a:spcAft>
                <a:spcPts val="0"/>
              </a:spcAft>
            </a:pPr>
            <a:r>
              <a:rPr sz="1100" b="1" i="0">
                <a:solidFill>
                  <a:srgbClr val="808080"/>
                </a:solidFill>
                <a:latin typeface="Century Gothic"/>
              </a:rPr>
              <a:t>Membership tiers</a:t>
            </a:r>
          </a:p>
        </p:txBody>
      </p:sp>
      <p:sp>
        <p:nvSpPr>
          <p:cNvPr id="32" name="Rounded Rectangle 31"/>
          <p:cNvSpPr/>
          <p:nvPr/>
        </p:nvSpPr>
        <p:spPr>
          <a:xfrm>
            <a:off x="566928" y="5650992"/>
            <a:ext cx="1600200" cy="365760"/>
          </a:xfrm>
          <a:prstGeom prst="roundRect">
            <a:avLst>
              <a:gd name="adj" fmla="val 50000"/>
            </a:avLst>
          </a:prstGeom>
          <a:solidFill>
            <a:srgbClr val="F0F0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808080"/>
                </a:solidFill>
                <a:latin typeface="Century Gothic"/>
              </a:rPr>
              <a:t>Tier 1 · In development</a:t>
            </a:r>
          </a:p>
        </p:txBody>
      </p:sp>
      <p:sp>
        <p:nvSpPr>
          <p:cNvPr id="33" name="Rounded Rectangle 32"/>
          <p:cNvSpPr/>
          <p:nvPr/>
        </p:nvSpPr>
        <p:spPr>
          <a:xfrm>
            <a:off x="2350008" y="5650992"/>
            <a:ext cx="1600200" cy="365760"/>
          </a:xfrm>
          <a:prstGeom prst="roundRect">
            <a:avLst>
              <a:gd name="adj" fmla="val 50000"/>
            </a:avLst>
          </a:prstGeom>
          <a:solidFill>
            <a:srgbClr val="F0F0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808080"/>
                </a:solidFill>
                <a:latin typeface="Century Gothic"/>
              </a:rPr>
              <a:t>Tier 2 · In development</a:t>
            </a:r>
          </a:p>
        </p:txBody>
      </p:sp>
      <p:sp>
        <p:nvSpPr>
          <p:cNvPr id="34" name="Rounded Rectangle 33"/>
          <p:cNvSpPr/>
          <p:nvPr/>
        </p:nvSpPr>
        <p:spPr>
          <a:xfrm>
            <a:off x="4133087" y="5650992"/>
            <a:ext cx="3108960" cy="365760"/>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FFFFFF"/>
                </a:solidFill>
                <a:latin typeface="Century Gothic"/>
              </a:rPr>
              <a:t>Tier 3 · The only tier live in Phase 1</a:t>
            </a:r>
          </a:p>
        </p:txBody>
      </p:sp>
      <p:pic>
        <p:nvPicPr>
          <p:cNvPr id="35" name="Picture 34"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6" name="TextBox 35"/>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The Two Gates</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Access is granted in two stages — each gate unlocks a different level of the app</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566928" y="1517904"/>
            <a:ext cx="5349240" cy="2103120"/>
          </a:xfrm>
          <a:prstGeom prst="roundRect">
            <a:avLst>
              <a:gd name="adj" fmla="val 6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737360"/>
            <a:ext cx="1417320" cy="274320"/>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50" b="1">
                <a:solidFill>
                  <a:srgbClr val="FFFFFF"/>
                </a:solidFill>
                <a:latin typeface="Century Gothic"/>
              </a:rPr>
              <a:t>GATE 1</a:t>
            </a:r>
          </a:p>
        </p:txBody>
      </p:sp>
      <p:sp>
        <p:nvSpPr>
          <p:cNvPr id="8" name="TextBox 7"/>
          <p:cNvSpPr txBox="1"/>
          <p:nvPr/>
        </p:nvSpPr>
        <p:spPr>
          <a:xfrm>
            <a:off x="822960" y="2139696"/>
            <a:ext cx="4754880" cy="292608"/>
          </a:xfrm>
          <a:prstGeom prst="rect">
            <a:avLst/>
          </a:prstGeom>
          <a:noFill/>
        </p:spPr>
        <p:txBody>
          <a:bodyPr wrap="square" anchor="t" lIns="0" rIns="0" tIns="0" bIns="0">
            <a:spAutoFit/>
          </a:bodyPr>
          <a:lstStyle/>
          <a:p>
            <a:pPr algn="l">
              <a:lnSpc>
                <a:spcPct val="100000"/>
              </a:lnSpc>
              <a:spcAft>
                <a:spcPts val="0"/>
              </a:spcAft>
            </a:pPr>
            <a:r>
              <a:rPr sz="1500" b="1" i="0">
                <a:solidFill>
                  <a:srgbClr val="FF007F"/>
                </a:solidFill>
                <a:latin typeface="Century Gothic"/>
              </a:rPr>
              <a:t>Verification gate</a:t>
            </a:r>
          </a:p>
        </p:txBody>
      </p:sp>
      <p:sp>
        <p:nvSpPr>
          <p:cNvPr id="9" name="TextBox 8"/>
          <p:cNvSpPr txBox="1"/>
          <p:nvPr/>
        </p:nvSpPr>
        <p:spPr>
          <a:xfrm>
            <a:off x="822960" y="2542032"/>
            <a:ext cx="4846320" cy="914400"/>
          </a:xfrm>
          <a:prstGeom prst="rect">
            <a:avLst/>
          </a:prstGeom>
          <a:noFill/>
        </p:spPr>
        <p:txBody>
          <a:bodyPr wrap="square" lIns="0" rIns="0" tIns="0" bIns="0">
            <a:spAutoFit/>
          </a:bodyPr>
          <a:lstStyle/>
          <a:p>
            <a:pPr marL="155448" indent="-155448">
              <a:lnSpc>
                <a:spcPct val="115000"/>
              </a:lnSpc>
              <a:spcAft>
                <a:spcPts val="700"/>
              </a:spcAft>
              <a:buClr>
                <a:srgbClr val="FF007F"/>
              </a:buClr>
              <a:buChar char="–"/>
            </a:pPr>
            <a:r>
              <a:rPr sz="950">
                <a:solidFill>
                  <a:srgbClr val="3A3A3A"/>
                </a:solidFill>
                <a:latin typeface="Century Gothic"/>
              </a:rPr>
              <a:t>Register by email, Google or Apple</a:t>
            </a:r>
          </a:p>
          <a:p>
            <a:pPr marL="155448" indent="-155448">
              <a:lnSpc>
                <a:spcPct val="115000"/>
              </a:lnSpc>
              <a:spcAft>
                <a:spcPts val="700"/>
              </a:spcAft>
              <a:buClr>
                <a:srgbClr val="FF007F"/>
              </a:buClr>
              <a:buChar char="–"/>
            </a:pPr>
            <a:r>
              <a:rPr sz="950">
                <a:solidFill>
                  <a:srgbClr val="3A3A3A"/>
                </a:solidFill>
                <a:latin typeface="Century Gothic"/>
              </a:rPr>
              <a:t>Phone OTP verification — MANDATORY, always the next step</a:t>
            </a:r>
          </a:p>
          <a:p>
            <a:pPr marL="155448" indent="-155448">
              <a:lnSpc>
                <a:spcPct val="115000"/>
              </a:lnSpc>
              <a:spcAft>
                <a:spcPts val="700"/>
              </a:spcAft>
              <a:buClr>
                <a:srgbClr val="FF007F"/>
              </a:buClr>
              <a:buChar char="–"/>
            </a:pPr>
            <a:r>
              <a:rPr sz="950">
                <a:solidFill>
                  <a:srgbClr val="3A3A3A"/>
                </a:solidFill>
                <a:latin typeface="Century Gothic"/>
              </a:rPr>
              <a:t>Email verification — auto-satisfied by Google / Apple</a:t>
            </a:r>
          </a:p>
        </p:txBody>
      </p:sp>
      <p:sp>
        <p:nvSpPr>
          <p:cNvPr id="10" name="TextBox 9"/>
          <p:cNvSpPr txBox="1"/>
          <p:nvPr/>
        </p:nvSpPr>
        <p:spPr>
          <a:xfrm>
            <a:off x="822960" y="3310128"/>
            <a:ext cx="4846320" cy="457200"/>
          </a:xfrm>
          <a:prstGeom prst="rect">
            <a:avLst/>
          </a:prstGeom>
          <a:noFill/>
        </p:spPr>
        <p:txBody>
          <a:bodyPr wrap="square" anchor="t" lIns="0" rIns="0" tIns="0" bIns="0">
            <a:spAutoFit/>
          </a:bodyPr>
          <a:lstStyle/>
          <a:p>
            <a:pPr algn="l">
              <a:lnSpc>
                <a:spcPct val="118000"/>
              </a:lnSpc>
              <a:spcAft>
                <a:spcPts val="0"/>
              </a:spcAft>
            </a:pPr>
            <a:r>
              <a:rPr sz="880" b="0" i="0">
                <a:solidFill>
                  <a:srgbClr val="8B0000"/>
                </a:solidFill>
                <a:latin typeface="Century Gothic"/>
              </a:rPr>
              <a:t>Until BOTH phone and email are verified the app renders nothing but the verification screens.</a:t>
            </a:r>
          </a:p>
        </p:txBody>
      </p:sp>
      <p:sp>
        <p:nvSpPr>
          <p:cNvPr id="11" name="Right Arrow 10"/>
          <p:cNvSpPr/>
          <p:nvPr/>
        </p:nvSpPr>
        <p:spPr>
          <a:xfrm>
            <a:off x="6062472" y="2487168"/>
            <a:ext cx="384048" cy="201168"/>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0" y="1517904"/>
            <a:ext cx="5038344" cy="2103120"/>
          </a:xfrm>
          <a:prstGeom prst="roundRect">
            <a:avLst>
              <a:gd name="adj" fmla="val 6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39712" y="1737360"/>
            <a:ext cx="1417320" cy="274320"/>
          </a:xfrm>
          <a:prstGeom prst="roundRect">
            <a:avLst>
              <a:gd name="adj" fmla="val 50000"/>
            </a:avLst>
          </a:prstGeom>
          <a:gradFill rotWithShape="1">
            <a:gsLst>
              <a:gs pos="0">
                <a:srgbClr val="7F00FF"/>
              </a:gs>
              <a:gs pos="100000">
                <a:srgbClr val="4B00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50" b="1">
                <a:solidFill>
                  <a:srgbClr val="FFFFFF"/>
                </a:solidFill>
                <a:latin typeface="Century Gothic"/>
              </a:rPr>
              <a:t>GATE 2</a:t>
            </a:r>
          </a:p>
        </p:txBody>
      </p:sp>
      <p:sp>
        <p:nvSpPr>
          <p:cNvPr id="14" name="TextBox 13"/>
          <p:cNvSpPr txBox="1"/>
          <p:nvPr/>
        </p:nvSpPr>
        <p:spPr>
          <a:xfrm>
            <a:off x="6839712" y="2139696"/>
            <a:ext cx="4572000" cy="292608"/>
          </a:xfrm>
          <a:prstGeom prst="rect">
            <a:avLst/>
          </a:prstGeom>
          <a:noFill/>
        </p:spPr>
        <p:txBody>
          <a:bodyPr wrap="square" anchor="t" lIns="0" rIns="0" tIns="0" bIns="0">
            <a:spAutoFit/>
          </a:bodyPr>
          <a:lstStyle/>
          <a:p>
            <a:pPr algn="l">
              <a:lnSpc>
                <a:spcPct val="100000"/>
              </a:lnSpc>
              <a:spcAft>
                <a:spcPts val="0"/>
              </a:spcAft>
            </a:pPr>
            <a:r>
              <a:rPr sz="1500" b="1" i="0">
                <a:solidFill>
                  <a:srgbClr val="7F00FF"/>
                </a:solidFill>
                <a:latin typeface="Century Gothic"/>
              </a:rPr>
              <a:t>Subscription gate</a:t>
            </a:r>
          </a:p>
        </p:txBody>
      </p:sp>
      <p:sp>
        <p:nvSpPr>
          <p:cNvPr id="15" name="TextBox 14"/>
          <p:cNvSpPr txBox="1"/>
          <p:nvPr/>
        </p:nvSpPr>
        <p:spPr>
          <a:xfrm>
            <a:off x="6839712" y="2542032"/>
            <a:ext cx="4480560" cy="914400"/>
          </a:xfrm>
          <a:prstGeom prst="rect">
            <a:avLst/>
          </a:prstGeom>
          <a:noFill/>
        </p:spPr>
        <p:txBody>
          <a:bodyPr wrap="square" lIns="0" rIns="0" tIns="0" bIns="0">
            <a:spAutoFit/>
          </a:bodyPr>
          <a:lstStyle/>
          <a:p>
            <a:pPr marL="155448" indent="-155448">
              <a:lnSpc>
                <a:spcPct val="115000"/>
              </a:lnSpc>
              <a:spcAft>
                <a:spcPts val="700"/>
              </a:spcAft>
              <a:buClr>
                <a:srgbClr val="7F00FF"/>
              </a:buClr>
              <a:buChar char="–"/>
            </a:pPr>
            <a:r>
              <a:rPr sz="950">
                <a:solidFill>
                  <a:srgbClr val="3A3A3A"/>
                </a:solidFill>
                <a:latin typeface="Century Gothic"/>
              </a:rPr>
              <a:t>Pay the subscription fee via Paymennt (AED)</a:t>
            </a:r>
          </a:p>
          <a:p>
            <a:pPr marL="155448" indent="-155448">
              <a:lnSpc>
                <a:spcPct val="115000"/>
              </a:lnSpc>
              <a:spcAft>
                <a:spcPts val="700"/>
              </a:spcAft>
              <a:buClr>
                <a:srgbClr val="7F00FF"/>
              </a:buClr>
              <a:buChar char="–"/>
            </a:pPr>
            <a:r>
              <a:rPr sz="950">
                <a:solidFill>
                  <a:srgbClr val="3A3A3A"/>
                </a:solidFill>
                <a:latin typeface="Century Gothic"/>
              </a:rPr>
              <a:t>Wallet passes issued on success</a:t>
            </a:r>
          </a:p>
          <a:p>
            <a:pPr marL="155448" indent="-155448">
              <a:lnSpc>
                <a:spcPct val="115000"/>
              </a:lnSpc>
              <a:spcAft>
                <a:spcPts val="700"/>
              </a:spcAft>
              <a:buClr>
                <a:srgbClr val="7F00FF"/>
              </a:buClr>
              <a:buChar char="–"/>
            </a:pPr>
            <a:r>
              <a:rPr sz="950">
                <a:solidFill>
                  <a:srgbClr val="3A3A3A"/>
                </a:solidFill>
                <a:latin typeface="Century Gothic"/>
              </a:rPr>
              <a:t>The payment accrues a payout at the set percentage</a:t>
            </a:r>
          </a:p>
        </p:txBody>
      </p:sp>
      <p:sp>
        <p:nvSpPr>
          <p:cNvPr id="16" name="TextBox 15"/>
          <p:cNvSpPr txBox="1"/>
          <p:nvPr/>
        </p:nvSpPr>
        <p:spPr>
          <a:xfrm>
            <a:off x="6839712" y="3310128"/>
            <a:ext cx="4480560" cy="457200"/>
          </a:xfrm>
          <a:prstGeom prst="rect">
            <a:avLst/>
          </a:prstGeom>
          <a:noFill/>
        </p:spPr>
        <p:txBody>
          <a:bodyPr wrap="square" anchor="t" lIns="0" rIns="0" tIns="0" bIns="0">
            <a:spAutoFit/>
          </a:bodyPr>
          <a:lstStyle/>
          <a:p>
            <a:pPr algn="l">
              <a:lnSpc>
                <a:spcPct val="118000"/>
              </a:lnSpc>
              <a:spcAft>
                <a:spcPts val="0"/>
              </a:spcAft>
            </a:pPr>
            <a:r>
              <a:rPr sz="880" b="0" i="0">
                <a:solidFill>
                  <a:srgbClr val="8B0000"/>
                </a:solidFill>
                <a:latin typeface="Century Gothic"/>
              </a:rPr>
              <a:t>Unsubscribed members may browse everything, but cannot redeem. A persistent banner reminds them.</a:t>
            </a:r>
          </a:p>
        </p:txBody>
      </p:sp>
      <p:sp>
        <p:nvSpPr>
          <p:cNvPr id="17" name="Rounded Rectangle 16"/>
          <p:cNvSpPr/>
          <p:nvPr/>
        </p:nvSpPr>
        <p:spPr>
          <a:xfrm>
            <a:off x="566928" y="3749039"/>
            <a:ext cx="11057839" cy="603504"/>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749039"/>
            <a:ext cx="45720" cy="603504"/>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877055"/>
            <a:ext cx="10692079" cy="384048"/>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Social sign-in shortcuts EMAIL verification only. It never shortcuts PHONE verification — there is no route into the app, on any provider, that skips the OTP step.</a:t>
            </a:r>
          </a:p>
        </p:txBody>
      </p:sp>
      <p:sp>
        <p:nvSpPr>
          <p:cNvPr id="20" name="TextBox 19"/>
          <p:cNvSpPr txBox="1"/>
          <p:nvPr/>
        </p:nvSpPr>
        <p:spPr>
          <a:xfrm>
            <a:off x="566928" y="4517136"/>
            <a:ext cx="11057839"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What each state can do</a:t>
            </a:r>
          </a:p>
        </p:txBody>
      </p:sp>
      <p:sp>
        <p:nvSpPr>
          <p:cNvPr id="21" name="Rounded Rectangle 20"/>
          <p:cNvSpPr/>
          <p:nvPr/>
        </p:nvSpPr>
        <p:spPr>
          <a:xfrm>
            <a:off x="566928" y="4901184"/>
            <a:ext cx="2613583" cy="384048"/>
          </a:xfrm>
          <a:prstGeom prst="roundRect">
            <a:avLst>
              <a:gd name="adj" fmla="val 50000"/>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50" b="1">
                <a:solidFill>
                  <a:srgbClr val="808080"/>
                </a:solidFill>
                <a:latin typeface="Century Gothic"/>
              </a:rPr>
              <a:t>Unverified</a:t>
            </a:r>
          </a:p>
        </p:txBody>
      </p:sp>
      <p:sp>
        <p:nvSpPr>
          <p:cNvPr id="22" name="TextBox 21"/>
          <p:cNvSpPr txBox="1"/>
          <p:nvPr/>
        </p:nvSpPr>
        <p:spPr>
          <a:xfrm>
            <a:off x="621792" y="5376672"/>
            <a:ext cx="2503855" cy="822960"/>
          </a:xfrm>
          <a:prstGeom prst="rect">
            <a:avLst/>
          </a:prstGeom>
          <a:noFill/>
        </p:spPr>
        <p:txBody>
          <a:bodyPr wrap="square" anchor="t" lIns="0" rIns="0" tIns="0" bIns="0">
            <a:spAutoFit/>
          </a:bodyPr>
          <a:lstStyle/>
          <a:p>
            <a:pPr algn="l">
              <a:lnSpc>
                <a:spcPct val="120000"/>
              </a:lnSpc>
              <a:spcAft>
                <a:spcPts val="0"/>
              </a:spcAft>
            </a:pPr>
            <a:r>
              <a:rPr sz="900" b="0" i="0">
                <a:solidFill>
                  <a:srgbClr val="3A3A3A"/>
                </a:solidFill>
                <a:latin typeface="Century Gothic"/>
              </a:rPr>
              <a:t>Sees nothing but the verification screens</a:t>
            </a:r>
          </a:p>
        </p:txBody>
      </p:sp>
      <p:sp>
        <p:nvSpPr>
          <p:cNvPr id="23" name="Rounded Rectangle 22"/>
          <p:cNvSpPr/>
          <p:nvPr/>
        </p:nvSpPr>
        <p:spPr>
          <a:xfrm>
            <a:off x="3381679" y="4901184"/>
            <a:ext cx="2613583" cy="384048"/>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50" b="1">
                <a:solidFill>
                  <a:srgbClr val="FFFFFF"/>
                </a:solidFill>
                <a:latin typeface="Century Gothic"/>
              </a:rPr>
              <a:t>Verified · Unsubscribed</a:t>
            </a:r>
          </a:p>
        </p:txBody>
      </p:sp>
      <p:sp>
        <p:nvSpPr>
          <p:cNvPr id="24" name="TextBox 23"/>
          <p:cNvSpPr txBox="1"/>
          <p:nvPr/>
        </p:nvSpPr>
        <p:spPr>
          <a:xfrm>
            <a:off x="3436543" y="5376672"/>
            <a:ext cx="2503855" cy="822960"/>
          </a:xfrm>
          <a:prstGeom prst="rect">
            <a:avLst/>
          </a:prstGeom>
          <a:noFill/>
        </p:spPr>
        <p:txBody>
          <a:bodyPr wrap="square" anchor="t" lIns="0" rIns="0" tIns="0" bIns="0">
            <a:spAutoFit/>
          </a:bodyPr>
          <a:lstStyle/>
          <a:p>
            <a:pPr algn="l">
              <a:lnSpc>
                <a:spcPct val="120000"/>
              </a:lnSpc>
              <a:spcAft>
                <a:spcPts val="0"/>
              </a:spcAft>
            </a:pPr>
            <a:r>
              <a:rPr sz="900" b="0" i="0">
                <a:solidFill>
                  <a:srgbClr val="3A3A3A"/>
                </a:solidFill>
                <a:latin typeface="Century Gothic"/>
              </a:rPr>
              <a:t>Browses all offers and storefronts. The redeem action is blocked.</a:t>
            </a:r>
          </a:p>
        </p:txBody>
      </p:sp>
      <p:sp>
        <p:nvSpPr>
          <p:cNvPr id="25" name="Rounded Rectangle 24"/>
          <p:cNvSpPr/>
          <p:nvPr/>
        </p:nvSpPr>
        <p:spPr>
          <a:xfrm>
            <a:off x="6196431" y="4901184"/>
            <a:ext cx="2613583" cy="384048"/>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50" b="1">
                <a:solidFill>
                  <a:srgbClr val="FFFFFF"/>
                </a:solidFill>
                <a:latin typeface="Century Gothic"/>
              </a:rPr>
              <a:t>Verified · Subscribed</a:t>
            </a:r>
          </a:p>
        </p:txBody>
      </p:sp>
      <p:sp>
        <p:nvSpPr>
          <p:cNvPr id="26" name="TextBox 25"/>
          <p:cNvSpPr txBox="1"/>
          <p:nvPr/>
        </p:nvSpPr>
        <p:spPr>
          <a:xfrm>
            <a:off x="6251295" y="5376672"/>
            <a:ext cx="2503855" cy="822960"/>
          </a:xfrm>
          <a:prstGeom prst="rect">
            <a:avLst/>
          </a:prstGeom>
          <a:noFill/>
        </p:spPr>
        <p:txBody>
          <a:bodyPr wrap="square" anchor="t" lIns="0" rIns="0" tIns="0" bIns="0">
            <a:spAutoFit/>
          </a:bodyPr>
          <a:lstStyle/>
          <a:p>
            <a:pPr algn="l">
              <a:lnSpc>
                <a:spcPct val="120000"/>
              </a:lnSpc>
              <a:spcAft>
                <a:spcPts val="0"/>
              </a:spcAft>
            </a:pPr>
            <a:r>
              <a:rPr sz="900" b="0" i="0">
                <a:solidFill>
                  <a:srgbClr val="3A3A3A"/>
                </a:solidFill>
                <a:latin typeface="Century Gothic"/>
              </a:rPr>
              <a:t>Full access — redeems offers and holds an active pass.</a:t>
            </a:r>
          </a:p>
        </p:txBody>
      </p:sp>
      <p:sp>
        <p:nvSpPr>
          <p:cNvPr id="27" name="Rounded Rectangle 26"/>
          <p:cNvSpPr/>
          <p:nvPr/>
        </p:nvSpPr>
        <p:spPr>
          <a:xfrm>
            <a:off x="9011183" y="4901184"/>
            <a:ext cx="2613583" cy="384048"/>
          </a:xfrm>
          <a:prstGeom prst="roundRect">
            <a:avLst>
              <a:gd name="adj" fmla="val 50000"/>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50" b="1">
                <a:solidFill>
                  <a:srgbClr val="808080"/>
                </a:solidFill>
                <a:latin typeface="Century Gothic"/>
              </a:rPr>
              <a:t>Expired</a:t>
            </a:r>
          </a:p>
        </p:txBody>
      </p:sp>
      <p:sp>
        <p:nvSpPr>
          <p:cNvPr id="28" name="TextBox 27"/>
          <p:cNvSpPr txBox="1"/>
          <p:nvPr/>
        </p:nvSpPr>
        <p:spPr>
          <a:xfrm>
            <a:off x="9066047" y="5376672"/>
            <a:ext cx="2503855" cy="822960"/>
          </a:xfrm>
          <a:prstGeom prst="rect">
            <a:avLst/>
          </a:prstGeom>
          <a:noFill/>
        </p:spPr>
        <p:txBody>
          <a:bodyPr wrap="square" anchor="t" lIns="0" rIns="0" tIns="0" bIns="0">
            <a:spAutoFit/>
          </a:bodyPr>
          <a:lstStyle/>
          <a:p>
            <a:pPr algn="l">
              <a:lnSpc>
                <a:spcPct val="120000"/>
              </a:lnSpc>
              <a:spcAft>
                <a:spcPts val="0"/>
              </a:spcAft>
            </a:pPr>
            <a:r>
              <a:rPr sz="900" b="0" i="0">
                <a:solidFill>
                  <a:srgbClr val="3A3A3A"/>
                </a:solidFill>
                <a:latin typeface="Century Gothic"/>
              </a:rPr>
              <a:t>Reverts to browse-only. Banner returns. Pass is marked inactive automatically.</a:t>
            </a:r>
          </a:p>
        </p:txBody>
      </p:sp>
      <p:pic>
        <p:nvPicPr>
          <p:cNvPr id="29" name="Picture 28"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0" name="TextBox 29"/>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a.png"/>
          <p:cNvPicPr>
            <a:picLocks noChangeAspect="1"/>
          </p:cNvPicPr>
          <p:nvPr/>
        </p:nvPicPr>
        <p:blipFill>
          <a:blip r:embed="rId3"/>
          <a:stretch>
            <a:fillRect/>
          </a:stretch>
        </p:blipFill>
        <p:spPr>
          <a:xfrm>
            <a:off x="10436047" y="457200"/>
            <a:ext cx="1188720" cy="471889"/>
          </a:xfrm>
          <a:prstGeom prst="rect">
            <a:avLst/>
          </a:prstGeom>
        </p:spPr>
      </p:pic>
      <p:sp>
        <p:nvSpPr>
          <p:cNvPr id="4" name="TextBox 3"/>
          <p:cNvSpPr txBox="1"/>
          <p:nvPr/>
        </p:nvSpPr>
        <p:spPr>
          <a:xfrm>
            <a:off x="886968" y="2212848"/>
            <a:ext cx="2743200" cy="1188720"/>
          </a:xfrm>
          <a:prstGeom prst="rect">
            <a:avLst/>
          </a:prstGeom>
          <a:noFill/>
        </p:spPr>
        <p:txBody>
          <a:bodyPr wrap="square" anchor="t" lIns="0" rIns="0" tIns="0" bIns="0">
            <a:spAutoFit/>
          </a:bodyPr>
          <a:lstStyle/>
          <a:p>
            <a:pPr algn="l">
              <a:lnSpc>
                <a:spcPct val="100000"/>
              </a:lnSpc>
              <a:spcAft>
                <a:spcPts val="0"/>
              </a:spcAft>
            </a:pPr>
            <a:r>
              <a:rPr sz="7600" b="1" i="0">
                <a:solidFill>
                  <a:srgbClr val="FFFFFF"/>
                </a:solidFill>
                <a:latin typeface="Century Gothic"/>
              </a:rPr>
              <a:t>02</a:t>
            </a:r>
          </a:p>
        </p:txBody>
      </p:sp>
      <p:sp>
        <p:nvSpPr>
          <p:cNvPr id="5" name="Rectangle 4"/>
          <p:cNvSpPr/>
          <p:nvPr/>
        </p:nvSpPr>
        <p:spPr>
          <a:xfrm>
            <a:off x="950976" y="3310128"/>
            <a:ext cx="960120" cy="411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3584448"/>
            <a:ext cx="7863840" cy="640080"/>
          </a:xfrm>
          <a:prstGeom prst="rect">
            <a:avLst/>
          </a:prstGeom>
          <a:noFill/>
        </p:spPr>
        <p:txBody>
          <a:bodyPr wrap="square" anchor="t" lIns="0" rIns="0" tIns="0" bIns="0">
            <a:spAutoFit/>
          </a:bodyPr>
          <a:lstStyle/>
          <a:p>
            <a:pPr algn="l">
              <a:lnSpc>
                <a:spcPct val="100000"/>
              </a:lnSpc>
              <a:spcAft>
                <a:spcPts val="0"/>
              </a:spcAft>
            </a:pPr>
            <a:r>
              <a:rPr sz="3300" b="0" i="0">
                <a:solidFill>
                  <a:srgbClr val="FFFFFF"/>
                </a:solidFill>
                <a:latin typeface="Century Gothic"/>
              </a:rPr>
              <a:t>The Member Journey</a:t>
            </a:r>
          </a:p>
        </p:txBody>
      </p:sp>
      <p:sp>
        <p:nvSpPr>
          <p:cNvPr id="7" name="TextBox 6"/>
          <p:cNvSpPr txBox="1"/>
          <p:nvPr/>
        </p:nvSpPr>
        <p:spPr>
          <a:xfrm>
            <a:off x="914400" y="4315968"/>
            <a:ext cx="7498079" cy="411480"/>
          </a:xfrm>
          <a:prstGeom prst="rect">
            <a:avLst/>
          </a:prstGeom>
          <a:noFill/>
        </p:spPr>
        <p:txBody>
          <a:bodyPr wrap="square" anchor="t" lIns="0" rIns="0" tIns="0" bIns="0">
            <a:spAutoFit/>
          </a:bodyPr>
          <a:lstStyle/>
          <a:p>
            <a:pPr algn="l">
              <a:lnSpc>
                <a:spcPct val="100000"/>
              </a:lnSpc>
              <a:spcAft>
                <a:spcPts val="0"/>
              </a:spcAft>
            </a:pPr>
            <a:r>
              <a:rPr sz="1250" b="0" i="0">
                <a:solidFill>
                  <a:srgbClr val="F0DCEE"/>
                </a:solidFill>
                <a:latin typeface="Century Gothic"/>
              </a:rPr>
              <a:t>From an open registration screen to a wallet pass and a redeemed offer</a:t>
            </a:r>
          </a:p>
        </p:txBody>
      </p:sp>
      <p:pic>
        <p:nvPicPr>
          <p:cNvPr id="8" name="Picture 7" descr="footer_bar.png"/>
          <p:cNvPicPr>
            <a:picLocks noChangeAspect="1"/>
          </p:cNvPicPr>
          <p:nvPr/>
        </p:nvPicPr>
        <p:blipFill>
          <a:blip r:embed="rId4"/>
          <a:stretch>
            <a:fillRect/>
          </a:stretch>
        </p:blipFill>
        <p:spPr>
          <a:xfrm>
            <a:off x="7260336" y="5861304"/>
            <a:ext cx="4928616" cy="491032"/>
          </a:xfrm>
          <a:prstGeom prst="rect">
            <a:avLst/>
          </a:prstGeom>
        </p:spPr>
      </p:pic>
      <p:sp>
        <p:nvSpPr>
          <p:cNvPr id="9" name="TextBox 8"/>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End-to-End Member Journey</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Six steps from open registration to redemption</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566928" y="1572768"/>
            <a:ext cx="1721053" cy="1810512"/>
          </a:xfrm>
          <a:prstGeom prst="roundRect">
            <a:avLst>
              <a:gd name="adj" fmla="val 8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55648"/>
            <a:ext cx="329184" cy="329184"/>
          </a:xfrm>
          <a:prstGeom prst="ellipse">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entury Gothic"/>
              </a:rPr>
              <a:t>1</a:t>
            </a:r>
          </a:p>
        </p:txBody>
      </p:sp>
      <p:sp>
        <p:nvSpPr>
          <p:cNvPr id="8" name="TextBox 7"/>
          <p:cNvSpPr txBox="1"/>
          <p:nvPr/>
        </p:nvSpPr>
        <p:spPr>
          <a:xfrm>
            <a:off x="1170432" y="1773936"/>
            <a:ext cx="943813" cy="274320"/>
          </a:xfrm>
          <a:prstGeom prst="rect">
            <a:avLst/>
          </a:prstGeom>
          <a:noFill/>
        </p:spPr>
        <p:txBody>
          <a:bodyPr wrap="square" anchor="t" lIns="0" rIns="0" tIns="0" bIns="0">
            <a:spAutoFit/>
          </a:bodyPr>
          <a:lstStyle/>
          <a:p>
            <a:pPr algn="l">
              <a:lnSpc>
                <a:spcPct val="100000"/>
              </a:lnSpc>
              <a:spcAft>
                <a:spcPts val="0"/>
              </a:spcAft>
            </a:pPr>
            <a:r>
              <a:rPr sz="1100" b="1" i="0">
                <a:solidFill>
                  <a:srgbClr val="3A3A3A"/>
                </a:solidFill>
                <a:latin typeface="Century Gothic"/>
              </a:rPr>
              <a:t>Registers</a:t>
            </a:r>
          </a:p>
        </p:txBody>
      </p:sp>
      <p:sp>
        <p:nvSpPr>
          <p:cNvPr id="9" name="TextBox 8"/>
          <p:cNvSpPr txBox="1"/>
          <p:nvPr/>
        </p:nvSpPr>
        <p:spPr>
          <a:xfrm>
            <a:off x="768096" y="2194560"/>
            <a:ext cx="1337005" cy="1033271"/>
          </a:xfrm>
          <a:prstGeom prst="rect">
            <a:avLst/>
          </a:prstGeom>
          <a:noFill/>
        </p:spPr>
        <p:txBody>
          <a:bodyPr wrap="square" anchor="t" lIns="0" rIns="0" tIns="0" bIns="0">
            <a:spAutoFit/>
          </a:bodyPr>
          <a:lstStyle/>
          <a:p>
            <a:pPr algn="l">
              <a:lnSpc>
                <a:spcPct val="120000"/>
              </a:lnSpc>
              <a:spcAft>
                <a:spcPts val="0"/>
              </a:spcAft>
            </a:pPr>
            <a:r>
              <a:rPr sz="919" b="0" i="0">
                <a:solidFill>
                  <a:srgbClr val="808080"/>
                </a:solidFill>
                <a:latin typeface="Century Gothic"/>
              </a:rPr>
              <a:t>Anyone may sign up — by email and password, with Google, or with Apple. No invitation required.</a:t>
            </a:r>
          </a:p>
        </p:txBody>
      </p:sp>
      <p:sp>
        <p:nvSpPr>
          <p:cNvPr id="10" name="Right Arrow 9"/>
          <p:cNvSpPr/>
          <p:nvPr/>
        </p:nvSpPr>
        <p:spPr>
          <a:xfrm>
            <a:off x="2301697" y="2395728"/>
            <a:ext cx="118872"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34285" y="1572768"/>
            <a:ext cx="1721053" cy="1810512"/>
          </a:xfrm>
          <a:prstGeom prst="roundRect">
            <a:avLst>
              <a:gd name="adj" fmla="val 8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17165" y="1755648"/>
            <a:ext cx="329184" cy="329184"/>
          </a:xfrm>
          <a:prstGeom prst="ellipse">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entury Gothic"/>
              </a:rPr>
              <a:t>2</a:t>
            </a:r>
          </a:p>
        </p:txBody>
      </p:sp>
      <p:sp>
        <p:nvSpPr>
          <p:cNvPr id="13" name="TextBox 12"/>
          <p:cNvSpPr txBox="1"/>
          <p:nvPr/>
        </p:nvSpPr>
        <p:spPr>
          <a:xfrm>
            <a:off x="3037789" y="1773936"/>
            <a:ext cx="943813" cy="274320"/>
          </a:xfrm>
          <a:prstGeom prst="rect">
            <a:avLst/>
          </a:prstGeom>
          <a:noFill/>
        </p:spPr>
        <p:txBody>
          <a:bodyPr wrap="square" anchor="t" lIns="0" rIns="0" tIns="0" bIns="0">
            <a:spAutoFit/>
          </a:bodyPr>
          <a:lstStyle/>
          <a:p>
            <a:pPr algn="l">
              <a:lnSpc>
                <a:spcPct val="100000"/>
              </a:lnSpc>
              <a:spcAft>
                <a:spcPts val="0"/>
              </a:spcAft>
            </a:pPr>
            <a:r>
              <a:rPr sz="1100" b="1" i="0">
                <a:solidFill>
                  <a:srgbClr val="3A3A3A"/>
                </a:solidFill>
                <a:latin typeface="Century Gothic"/>
              </a:rPr>
              <a:t>Verifies phone</a:t>
            </a:r>
          </a:p>
        </p:txBody>
      </p:sp>
      <p:sp>
        <p:nvSpPr>
          <p:cNvPr id="14" name="TextBox 13"/>
          <p:cNvSpPr txBox="1"/>
          <p:nvPr/>
        </p:nvSpPr>
        <p:spPr>
          <a:xfrm>
            <a:off x="2635453" y="2194560"/>
            <a:ext cx="1337005" cy="1033271"/>
          </a:xfrm>
          <a:prstGeom prst="rect">
            <a:avLst/>
          </a:prstGeom>
          <a:noFill/>
        </p:spPr>
        <p:txBody>
          <a:bodyPr wrap="square" anchor="t" lIns="0" rIns="0" tIns="0" bIns="0">
            <a:spAutoFit/>
          </a:bodyPr>
          <a:lstStyle/>
          <a:p>
            <a:pPr algn="l">
              <a:lnSpc>
                <a:spcPct val="120000"/>
              </a:lnSpc>
              <a:spcAft>
                <a:spcPts val="0"/>
              </a:spcAft>
            </a:pPr>
            <a:r>
              <a:rPr sz="919" b="0" i="0">
                <a:solidFill>
                  <a:srgbClr val="808080"/>
                </a:solidFill>
                <a:latin typeface="Century Gothic"/>
              </a:rPr>
              <a:t>The OTP screen is the next step on every path. Mandatory, and never skipped.</a:t>
            </a:r>
          </a:p>
        </p:txBody>
      </p:sp>
      <p:sp>
        <p:nvSpPr>
          <p:cNvPr id="15" name="Right Arrow 14"/>
          <p:cNvSpPr/>
          <p:nvPr/>
        </p:nvSpPr>
        <p:spPr>
          <a:xfrm>
            <a:off x="4169054" y="2395728"/>
            <a:ext cx="118872"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01642" y="1572768"/>
            <a:ext cx="1721053" cy="1810512"/>
          </a:xfrm>
          <a:prstGeom prst="roundRect">
            <a:avLst>
              <a:gd name="adj" fmla="val 8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84522" y="1755648"/>
            <a:ext cx="329184" cy="329184"/>
          </a:xfrm>
          <a:prstGeom prst="ellipse">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entury Gothic"/>
              </a:rPr>
              <a:t>3</a:t>
            </a:r>
          </a:p>
        </p:txBody>
      </p:sp>
      <p:sp>
        <p:nvSpPr>
          <p:cNvPr id="18" name="TextBox 17"/>
          <p:cNvSpPr txBox="1"/>
          <p:nvPr/>
        </p:nvSpPr>
        <p:spPr>
          <a:xfrm>
            <a:off x="4905146" y="1773936"/>
            <a:ext cx="943813" cy="274320"/>
          </a:xfrm>
          <a:prstGeom prst="rect">
            <a:avLst/>
          </a:prstGeom>
          <a:noFill/>
        </p:spPr>
        <p:txBody>
          <a:bodyPr wrap="square" anchor="t" lIns="0" rIns="0" tIns="0" bIns="0">
            <a:spAutoFit/>
          </a:bodyPr>
          <a:lstStyle/>
          <a:p>
            <a:pPr algn="l">
              <a:lnSpc>
                <a:spcPct val="100000"/>
              </a:lnSpc>
              <a:spcAft>
                <a:spcPts val="0"/>
              </a:spcAft>
            </a:pPr>
            <a:r>
              <a:rPr sz="1100" b="1" i="0">
                <a:solidFill>
                  <a:srgbClr val="3A3A3A"/>
                </a:solidFill>
                <a:latin typeface="Century Gothic"/>
              </a:rPr>
              <a:t>Verifies email</a:t>
            </a:r>
          </a:p>
        </p:txBody>
      </p:sp>
      <p:sp>
        <p:nvSpPr>
          <p:cNvPr id="19" name="TextBox 18"/>
          <p:cNvSpPr txBox="1"/>
          <p:nvPr/>
        </p:nvSpPr>
        <p:spPr>
          <a:xfrm>
            <a:off x="4502810" y="2194560"/>
            <a:ext cx="1337005" cy="1033271"/>
          </a:xfrm>
          <a:prstGeom prst="rect">
            <a:avLst/>
          </a:prstGeom>
          <a:noFill/>
        </p:spPr>
        <p:txBody>
          <a:bodyPr wrap="square" anchor="t" lIns="0" rIns="0" tIns="0" bIns="0">
            <a:spAutoFit/>
          </a:bodyPr>
          <a:lstStyle/>
          <a:p>
            <a:pPr algn="l">
              <a:lnSpc>
                <a:spcPct val="120000"/>
              </a:lnSpc>
              <a:spcAft>
                <a:spcPts val="0"/>
              </a:spcAft>
            </a:pPr>
            <a:r>
              <a:rPr sz="919" b="0" i="0">
                <a:solidFill>
                  <a:srgbClr val="808080"/>
                </a:solidFill>
                <a:latin typeface="Century Gothic"/>
              </a:rPr>
              <a:t>Already satisfied for Google and Apple. The account becomes active but unsubscribed.</a:t>
            </a:r>
          </a:p>
        </p:txBody>
      </p:sp>
      <p:sp>
        <p:nvSpPr>
          <p:cNvPr id="20" name="Right Arrow 19"/>
          <p:cNvSpPr/>
          <p:nvPr/>
        </p:nvSpPr>
        <p:spPr>
          <a:xfrm>
            <a:off x="6036411" y="2395728"/>
            <a:ext cx="118872"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68999" y="1572768"/>
            <a:ext cx="1721053" cy="1810512"/>
          </a:xfrm>
          <a:prstGeom prst="roundRect">
            <a:avLst>
              <a:gd name="adj" fmla="val 8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51879" y="1755648"/>
            <a:ext cx="329184" cy="329184"/>
          </a:xfrm>
          <a:prstGeom prst="ellipse">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entury Gothic"/>
              </a:rPr>
              <a:t>4</a:t>
            </a:r>
          </a:p>
        </p:txBody>
      </p:sp>
      <p:sp>
        <p:nvSpPr>
          <p:cNvPr id="23" name="TextBox 22"/>
          <p:cNvSpPr txBox="1"/>
          <p:nvPr/>
        </p:nvSpPr>
        <p:spPr>
          <a:xfrm>
            <a:off x="6772503" y="1773936"/>
            <a:ext cx="943813" cy="274320"/>
          </a:xfrm>
          <a:prstGeom prst="rect">
            <a:avLst/>
          </a:prstGeom>
          <a:noFill/>
        </p:spPr>
        <p:txBody>
          <a:bodyPr wrap="square" anchor="t" lIns="0" rIns="0" tIns="0" bIns="0">
            <a:spAutoFit/>
          </a:bodyPr>
          <a:lstStyle/>
          <a:p>
            <a:pPr algn="l">
              <a:lnSpc>
                <a:spcPct val="100000"/>
              </a:lnSpc>
              <a:spcAft>
                <a:spcPts val="0"/>
              </a:spcAft>
            </a:pPr>
            <a:r>
              <a:rPr sz="1100" b="1" i="0">
                <a:solidFill>
                  <a:srgbClr val="3A3A3A"/>
                </a:solidFill>
                <a:latin typeface="Century Gothic"/>
              </a:rPr>
              <a:t>Subscribes</a:t>
            </a:r>
          </a:p>
        </p:txBody>
      </p:sp>
      <p:sp>
        <p:nvSpPr>
          <p:cNvPr id="24" name="TextBox 23"/>
          <p:cNvSpPr txBox="1"/>
          <p:nvPr/>
        </p:nvSpPr>
        <p:spPr>
          <a:xfrm>
            <a:off x="6370167" y="2194560"/>
            <a:ext cx="1337005" cy="1033271"/>
          </a:xfrm>
          <a:prstGeom prst="rect">
            <a:avLst/>
          </a:prstGeom>
          <a:noFill/>
        </p:spPr>
        <p:txBody>
          <a:bodyPr wrap="square" anchor="t" lIns="0" rIns="0" tIns="0" bIns="0">
            <a:spAutoFit/>
          </a:bodyPr>
          <a:lstStyle/>
          <a:p>
            <a:pPr algn="l">
              <a:lnSpc>
                <a:spcPct val="120000"/>
              </a:lnSpc>
              <a:spcAft>
                <a:spcPts val="0"/>
              </a:spcAft>
            </a:pPr>
            <a:r>
              <a:rPr sz="919" b="0" i="0">
                <a:solidFill>
                  <a:srgbClr val="808080"/>
                </a:solidFill>
                <a:latin typeface="Century Gothic"/>
              </a:rPr>
              <a:t>Pays via Paymennt (card, Apple Pay or Google Pay, AED). The platform ledger is credited.</a:t>
            </a:r>
          </a:p>
        </p:txBody>
      </p:sp>
      <p:sp>
        <p:nvSpPr>
          <p:cNvPr id="25" name="Right Arrow 24"/>
          <p:cNvSpPr/>
          <p:nvPr/>
        </p:nvSpPr>
        <p:spPr>
          <a:xfrm>
            <a:off x="7903768" y="2395728"/>
            <a:ext cx="118872"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36356" y="1572768"/>
            <a:ext cx="1721053" cy="1810512"/>
          </a:xfrm>
          <a:prstGeom prst="roundRect">
            <a:avLst>
              <a:gd name="adj" fmla="val 8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19236" y="1755648"/>
            <a:ext cx="329184" cy="329184"/>
          </a:xfrm>
          <a:prstGeom prst="ellipse">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entury Gothic"/>
              </a:rPr>
              <a:t>5</a:t>
            </a:r>
          </a:p>
        </p:txBody>
      </p:sp>
      <p:sp>
        <p:nvSpPr>
          <p:cNvPr id="28" name="TextBox 27"/>
          <p:cNvSpPr txBox="1"/>
          <p:nvPr/>
        </p:nvSpPr>
        <p:spPr>
          <a:xfrm>
            <a:off x="8639860" y="1773936"/>
            <a:ext cx="943813" cy="274320"/>
          </a:xfrm>
          <a:prstGeom prst="rect">
            <a:avLst/>
          </a:prstGeom>
          <a:noFill/>
        </p:spPr>
        <p:txBody>
          <a:bodyPr wrap="square" anchor="t" lIns="0" rIns="0" tIns="0" bIns="0">
            <a:spAutoFit/>
          </a:bodyPr>
          <a:lstStyle/>
          <a:p>
            <a:pPr algn="l">
              <a:lnSpc>
                <a:spcPct val="100000"/>
              </a:lnSpc>
              <a:spcAft>
                <a:spcPts val="0"/>
              </a:spcAft>
            </a:pPr>
            <a:r>
              <a:rPr sz="1100" b="1" i="0">
                <a:solidFill>
                  <a:srgbClr val="3A3A3A"/>
                </a:solidFill>
                <a:latin typeface="Century Gothic"/>
              </a:rPr>
              <a:t>Gets the pass</a:t>
            </a:r>
          </a:p>
        </p:txBody>
      </p:sp>
      <p:sp>
        <p:nvSpPr>
          <p:cNvPr id="29" name="TextBox 28"/>
          <p:cNvSpPr txBox="1"/>
          <p:nvPr/>
        </p:nvSpPr>
        <p:spPr>
          <a:xfrm>
            <a:off x="8237524" y="2194560"/>
            <a:ext cx="1337005" cy="1033271"/>
          </a:xfrm>
          <a:prstGeom prst="rect">
            <a:avLst/>
          </a:prstGeom>
          <a:noFill/>
        </p:spPr>
        <p:txBody>
          <a:bodyPr wrap="square" anchor="t" lIns="0" rIns="0" tIns="0" bIns="0">
            <a:spAutoFit/>
          </a:bodyPr>
          <a:lstStyle/>
          <a:p>
            <a:pPr algn="l">
              <a:lnSpc>
                <a:spcPct val="120000"/>
              </a:lnSpc>
              <a:spcAft>
                <a:spcPts val="0"/>
              </a:spcAft>
            </a:pPr>
            <a:r>
              <a:rPr sz="919" b="0" i="0">
                <a:solidFill>
                  <a:srgbClr val="808080"/>
                </a:solidFill>
                <a:latin typeface="Century Gothic"/>
              </a:rPr>
              <a:t>A membership number, an Apple Wallet pass, a Google Wallet pass and a QR/barcode.</a:t>
            </a:r>
          </a:p>
        </p:txBody>
      </p:sp>
      <p:sp>
        <p:nvSpPr>
          <p:cNvPr id="30" name="Right Arrow 29"/>
          <p:cNvSpPr/>
          <p:nvPr/>
        </p:nvSpPr>
        <p:spPr>
          <a:xfrm>
            <a:off x="9771126" y="2395728"/>
            <a:ext cx="118872"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903714" y="1572768"/>
            <a:ext cx="1721053" cy="1810512"/>
          </a:xfrm>
          <a:prstGeom prst="roundRect">
            <a:avLst>
              <a:gd name="adj" fmla="val 8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86593" y="1755648"/>
            <a:ext cx="329184" cy="329184"/>
          </a:xfrm>
          <a:prstGeom prst="ellipse">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entury Gothic"/>
              </a:rPr>
              <a:t>6</a:t>
            </a:r>
          </a:p>
        </p:txBody>
      </p:sp>
      <p:sp>
        <p:nvSpPr>
          <p:cNvPr id="33" name="TextBox 32"/>
          <p:cNvSpPr txBox="1"/>
          <p:nvPr/>
        </p:nvSpPr>
        <p:spPr>
          <a:xfrm>
            <a:off x="10507218" y="1773936"/>
            <a:ext cx="943813" cy="274320"/>
          </a:xfrm>
          <a:prstGeom prst="rect">
            <a:avLst/>
          </a:prstGeom>
          <a:noFill/>
        </p:spPr>
        <p:txBody>
          <a:bodyPr wrap="square" anchor="t" lIns="0" rIns="0" tIns="0" bIns="0">
            <a:spAutoFit/>
          </a:bodyPr>
          <a:lstStyle/>
          <a:p>
            <a:pPr algn="l">
              <a:lnSpc>
                <a:spcPct val="100000"/>
              </a:lnSpc>
              <a:spcAft>
                <a:spcPts val="0"/>
              </a:spcAft>
            </a:pPr>
            <a:r>
              <a:rPr sz="1100" b="1" i="0">
                <a:solidFill>
                  <a:srgbClr val="3A3A3A"/>
                </a:solidFill>
                <a:latin typeface="Century Gothic"/>
              </a:rPr>
              <a:t>Avails</a:t>
            </a:r>
          </a:p>
        </p:txBody>
      </p:sp>
      <p:sp>
        <p:nvSpPr>
          <p:cNvPr id="34" name="TextBox 33"/>
          <p:cNvSpPr txBox="1"/>
          <p:nvPr/>
        </p:nvSpPr>
        <p:spPr>
          <a:xfrm>
            <a:off x="10104882" y="2194560"/>
            <a:ext cx="1337005" cy="1033271"/>
          </a:xfrm>
          <a:prstGeom prst="rect">
            <a:avLst/>
          </a:prstGeom>
          <a:noFill/>
        </p:spPr>
        <p:txBody>
          <a:bodyPr wrap="square" anchor="t" lIns="0" rIns="0" tIns="0" bIns="0">
            <a:spAutoFit/>
          </a:bodyPr>
          <a:lstStyle/>
          <a:p>
            <a:pPr algn="l">
              <a:lnSpc>
                <a:spcPct val="120000"/>
              </a:lnSpc>
              <a:spcAft>
                <a:spcPts val="0"/>
              </a:spcAft>
            </a:pPr>
            <a:r>
              <a:rPr sz="919" b="0" i="0">
                <a:solidFill>
                  <a:srgbClr val="808080"/>
                </a:solidFill>
                <a:latin typeface="Century Gothic"/>
              </a:rPr>
              <a:t>Redeems offers, confirmed by the merchant at the venue. Merchants see every redemption.</a:t>
            </a:r>
          </a:p>
        </p:txBody>
      </p:sp>
      <p:sp>
        <p:nvSpPr>
          <p:cNvPr id="35" name="TextBox 34"/>
          <p:cNvSpPr txBox="1"/>
          <p:nvPr/>
        </p:nvSpPr>
        <p:spPr>
          <a:xfrm>
            <a:off x="566928" y="3712463"/>
            <a:ext cx="11057839"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What the system does behind the scenes</a:t>
            </a:r>
          </a:p>
        </p:txBody>
      </p:sp>
      <p:sp>
        <p:nvSpPr>
          <p:cNvPr id="36" name="Rounded Rectangle 35"/>
          <p:cNvSpPr/>
          <p:nvPr/>
        </p:nvSpPr>
        <p:spPr>
          <a:xfrm>
            <a:off x="566928" y="4133087"/>
            <a:ext cx="3539642" cy="157276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4133087"/>
            <a:ext cx="50292" cy="1572768"/>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4315968"/>
            <a:ext cx="3128162" cy="274320"/>
          </a:xfrm>
          <a:prstGeom prst="rect">
            <a:avLst/>
          </a:prstGeom>
          <a:noFill/>
        </p:spPr>
        <p:txBody>
          <a:bodyPr wrap="square" anchor="t" lIns="0" rIns="0" tIns="0" bIns="0">
            <a:spAutoFit/>
          </a:bodyPr>
          <a:lstStyle/>
          <a:p>
            <a:pPr algn="l">
              <a:lnSpc>
                <a:spcPct val="100000"/>
              </a:lnSpc>
              <a:spcAft>
                <a:spcPts val="0"/>
              </a:spcAft>
            </a:pPr>
            <a:r>
              <a:rPr sz="1100" b="1" i="0">
                <a:solidFill>
                  <a:srgbClr val="4B0082"/>
                </a:solidFill>
                <a:latin typeface="Century Gothic"/>
              </a:rPr>
              <a:t>On registration</a:t>
            </a:r>
          </a:p>
        </p:txBody>
      </p:sp>
      <p:sp>
        <p:nvSpPr>
          <p:cNvPr id="39" name="TextBox 38"/>
          <p:cNvSpPr txBox="1"/>
          <p:nvPr/>
        </p:nvSpPr>
        <p:spPr>
          <a:xfrm>
            <a:off x="804672" y="4681727"/>
            <a:ext cx="3128162" cy="886968"/>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If a promo code was supplied, a PromoCodeRedemption attributes the member to its influencer and applies the admin-set discount. With no code, registration still proceeds — unattributed, at full price.</a:t>
            </a:r>
          </a:p>
        </p:txBody>
      </p:sp>
      <p:sp>
        <p:nvSpPr>
          <p:cNvPr id="40" name="Rounded Rectangle 39"/>
          <p:cNvSpPr/>
          <p:nvPr/>
        </p:nvSpPr>
        <p:spPr>
          <a:xfrm>
            <a:off x="4326026" y="4133087"/>
            <a:ext cx="3539642" cy="157276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26026" y="4133087"/>
            <a:ext cx="50292" cy="1572768"/>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63770" y="4315968"/>
            <a:ext cx="3128162" cy="274320"/>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On payment</a:t>
            </a:r>
          </a:p>
        </p:txBody>
      </p:sp>
      <p:sp>
        <p:nvSpPr>
          <p:cNvPr id="43" name="TextBox 42"/>
          <p:cNvSpPr txBox="1"/>
          <p:nvPr/>
        </p:nvSpPr>
        <p:spPr>
          <a:xfrm>
            <a:off x="4563770" y="4681727"/>
            <a:ext cx="3128162" cy="886968"/>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An inbound Payment is recorded, the ledger is credited, the Subscription goes active, the wallet passes are issued — and a payout accrues at the set percentage.</a:t>
            </a:r>
          </a:p>
        </p:txBody>
      </p:sp>
      <p:sp>
        <p:nvSpPr>
          <p:cNvPr id="44" name="Rounded Rectangle 43"/>
          <p:cNvSpPr/>
          <p:nvPr/>
        </p:nvSpPr>
        <p:spPr>
          <a:xfrm>
            <a:off x="8085124" y="4133087"/>
            <a:ext cx="3539642" cy="157276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85124" y="4133087"/>
            <a:ext cx="50292" cy="1572768"/>
          </a:xfrm>
          <a:prstGeom prst="rect">
            <a:avLst/>
          </a:prstGeom>
          <a:gradFill rotWithShape="1">
            <a:gsLst>
              <a:gs pos="0">
                <a:srgbClr val="8B0000"/>
              </a:gs>
              <a:gs pos="100000">
                <a:srgbClr val="8B0000"/>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22868" y="4315968"/>
            <a:ext cx="3128162" cy="274320"/>
          </a:xfrm>
          <a:prstGeom prst="rect">
            <a:avLst/>
          </a:prstGeom>
          <a:noFill/>
        </p:spPr>
        <p:txBody>
          <a:bodyPr wrap="square" anchor="t" lIns="0" rIns="0" tIns="0" bIns="0">
            <a:spAutoFit/>
          </a:bodyPr>
          <a:lstStyle/>
          <a:p>
            <a:pPr algn="l">
              <a:lnSpc>
                <a:spcPct val="100000"/>
              </a:lnSpc>
              <a:spcAft>
                <a:spcPts val="0"/>
              </a:spcAft>
            </a:pPr>
            <a:r>
              <a:rPr sz="1100" b="1" i="0">
                <a:solidFill>
                  <a:srgbClr val="8B0000"/>
                </a:solidFill>
                <a:latin typeface="Century Gothic"/>
              </a:rPr>
              <a:t>On redemption</a:t>
            </a:r>
          </a:p>
        </p:txBody>
      </p:sp>
      <p:sp>
        <p:nvSpPr>
          <p:cNvPr id="47" name="TextBox 46"/>
          <p:cNvSpPr txBox="1"/>
          <p:nvPr/>
        </p:nvSpPr>
        <p:spPr>
          <a:xfrm>
            <a:off x="8322868" y="4681727"/>
            <a:ext cx="3128162" cy="886968"/>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A RedeemedOffer (or stamp) is written and surfaced in the owning merchant's report.</a:t>
            </a:r>
          </a:p>
        </p:txBody>
      </p:sp>
      <p:pic>
        <p:nvPicPr>
          <p:cNvPr id="48" name="Picture 47" descr="footer_bar.png"/>
          <p:cNvPicPr>
            <a:picLocks noChangeAspect="1"/>
          </p:cNvPicPr>
          <p:nvPr/>
        </p:nvPicPr>
        <p:blipFill>
          <a:blip r:embed="rId4"/>
          <a:stretch>
            <a:fillRect/>
          </a:stretch>
        </p:blipFill>
        <p:spPr>
          <a:xfrm>
            <a:off x="7260336" y="5861304"/>
            <a:ext cx="4928616" cy="491032"/>
          </a:xfrm>
          <a:prstGeom prst="rect">
            <a:avLst/>
          </a:prstGeom>
        </p:spPr>
      </p:pic>
      <p:sp>
        <p:nvSpPr>
          <p:cNvPr id="49" name="TextBox 48"/>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Open Registration &amp; Gate 1</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Three ways in — and one step that none of them can skip</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TextBox 6"/>
          <p:cNvSpPr txBox="1"/>
          <p:nvPr/>
        </p:nvSpPr>
        <p:spPr>
          <a:xfrm>
            <a:off x="566928" y="1444752"/>
            <a:ext cx="11057839"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Three entry paths on the registration screen</a:t>
            </a:r>
          </a:p>
        </p:txBody>
      </p:sp>
      <p:sp>
        <p:nvSpPr>
          <p:cNvPr id="8" name="Rounded Rectangle 7"/>
          <p:cNvSpPr/>
          <p:nvPr/>
        </p:nvSpPr>
        <p:spPr>
          <a:xfrm>
            <a:off x="566928" y="1847088"/>
            <a:ext cx="3527450" cy="129844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47088"/>
            <a:ext cx="50292" cy="1298448"/>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29968"/>
            <a:ext cx="311597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Email + password</a:t>
            </a:r>
          </a:p>
        </p:txBody>
      </p:sp>
      <p:sp>
        <p:nvSpPr>
          <p:cNvPr id="11" name="TextBox 10"/>
          <p:cNvSpPr txBox="1"/>
          <p:nvPr/>
        </p:nvSpPr>
        <p:spPr>
          <a:xfrm>
            <a:off x="804672" y="2395728"/>
            <a:ext cx="3115970" cy="612647"/>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Establishes email and password.</a:t>
            </a:r>
          </a:p>
        </p:txBody>
      </p:sp>
      <p:sp>
        <p:nvSpPr>
          <p:cNvPr id="12" name="TextBox 11"/>
          <p:cNvSpPr txBox="1"/>
          <p:nvPr/>
        </p:nvSpPr>
        <p:spPr>
          <a:xfrm>
            <a:off x="804672" y="2816352"/>
            <a:ext cx="3115970" cy="237744"/>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Email verification required</a:t>
            </a:r>
          </a:p>
        </p:txBody>
      </p:sp>
      <p:sp>
        <p:nvSpPr>
          <p:cNvPr id="13" name="Rounded Rectangle 12"/>
          <p:cNvSpPr/>
          <p:nvPr/>
        </p:nvSpPr>
        <p:spPr>
          <a:xfrm>
            <a:off x="4332122" y="1847088"/>
            <a:ext cx="3527450" cy="129844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32122" y="1847088"/>
            <a:ext cx="50292" cy="1298448"/>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9866" y="2029968"/>
            <a:ext cx="311597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Continue with Google</a:t>
            </a:r>
          </a:p>
        </p:txBody>
      </p:sp>
      <p:sp>
        <p:nvSpPr>
          <p:cNvPr id="16" name="TextBox 15"/>
          <p:cNvSpPr txBox="1"/>
          <p:nvPr/>
        </p:nvSpPr>
        <p:spPr>
          <a:xfrm>
            <a:off x="4569866" y="2395728"/>
            <a:ext cx="3115970" cy="612647"/>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Establishes a Google-verified email, name and provider_user_id.</a:t>
            </a:r>
          </a:p>
        </p:txBody>
      </p:sp>
      <p:sp>
        <p:nvSpPr>
          <p:cNvPr id="17" name="TextBox 16"/>
          <p:cNvSpPr txBox="1"/>
          <p:nvPr/>
        </p:nvSpPr>
        <p:spPr>
          <a:xfrm>
            <a:off x="4569866" y="2816352"/>
            <a:ext cx="3115970" cy="237744"/>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Email auto-verified</a:t>
            </a:r>
          </a:p>
        </p:txBody>
      </p:sp>
      <p:sp>
        <p:nvSpPr>
          <p:cNvPr id="18" name="Rounded Rectangle 17"/>
          <p:cNvSpPr/>
          <p:nvPr/>
        </p:nvSpPr>
        <p:spPr>
          <a:xfrm>
            <a:off x="8097316" y="1847088"/>
            <a:ext cx="3527450" cy="129844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7316" y="1847088"/>
            <a:ext cx="50292" cy="1298448"/>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5060" y="2029968"/>
            <a:ext cx="3115970" cy="274320"/>
          </a:xfrm>
          <a:prstGeom prst="rect">
            <a:avLst/>
          </a:prstGeom>
          <a:noFill/>
        </p:spPr>
        <p:txBody>
          <a:bodyPr wrap="square" anchor="t" lIns="0" rIns="0" tIns="0" bIns="0">
            <a:spAutoFit/>
          </a:bodyPr>
          <a:lstStyle/>
          <a:p>
            <a:pPr algn="l">
              <a:lnSpc>
                <a:spcPct val="100000"/>
              </a:lnSpc>
              <a:spcAft>
                <a:spcPts val="0"/>
              </a:spcAft>
            </a:pPr>
            <a:r>
              <a:rPr sz="1200" b="1" i="0">
                <a:solidFill>
                  <a:srgbClr val="4B0082"/>
                </a:solidFill>
                <a:latin typeface="Century Gothic"/>
              </a:rPr>
              <a:t>Continue with Apple</a:t>
            </a:r>
          </a:p>
        </p:txBody>
      </p:sp>
      <p:sp>
        <p:nvSpPr>
          <p:cNvPr id="21" name="TextBox 20"/>
          <p:cNvSpPr txBox="1"/>
          <p:nvPr/>
        </p:nvSpPr>
        <p:spPr>
          <a:xfrm>
            <a:off x="8335060" y="2395728"/>
            <a:ext cx="3115970" cy="612647"/>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Establishes an Apple email (or private relay), name and provider_user_id.</a:t>
            </a:r>
          </a:p>
        </p:txBody>
      </p:sp>
      <p:sp>
        <p:nvSpPr>
          <p:cNvPr id="22" name="TextBox 21"/>
          <p:cNvSpPr txBox="1"/>
          <p:nvPr/>
        </p:nvSpPr>
        <p:spPr>
          <a:xfrm>
            <a:off x="8335060" y="2816352"/>
            <a:ext cx="3115970" cy="237744"/>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Email auto-verified</a:t>
            </a:r>
          </a:p>
        </p:txBody>
      </p:sp>
      <p:sp>
        <p:nvSpPr>
          <p:cNvPr id="23" name="Rounded Rectangle 22"/>
          <p:cNvSpPr/>
          <p:nvPr/>
        </p:nvSpPr>
        <p:spPr>
          <a:xfrm>
            <a:off x="566928" y="3364992"/>
            <a:ext cx="11057839" cy="969264"/>
          </a:xfrm>
          <a:prstGeom prst="roundRect">
            <a:avLst>
              <a:gd name="adj" fmla="val 14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3529584"/>
            <a:ext cx="3291840" cy="292608"/>
          </a:xfrm>
          <a:prstGeom prst="rect">
            <a:avLst/>
          </a:prstGeom>
          <a:noFill/>
        </p:spPr>
        <p:txBody>
          <a:bodyPr wrap="square" anchor="t" lIns="0" rIns="0" tIns="0" bIns="0">
            <a:spAutoFit/>
          </a:bodyPr>
          <a:lstStyle/>
          <a:p>
            <a:pPr algn="l">
              <a:lnSpc>
                <a:spcPct val="100000"/>
              </a:lnSpc>
              <a:spcAft>
                <a:spcPts val="0"/>
              </a:spcAft>
            </a:pPr>
            <a:r>
              <a:rPr sz="1100" b="1" i="0">
                <a:solidFill>
                  <a:srgbClr val="FFFFFF"/>
                </a:solidFill>
                <a:latin typeface="Century Gothic"/>
              </a:rPr>
              <a:t>EVERY PATH →</a:t>
            </a:r>
          </a:p>
        </p:txBody>
      </p:sp>
      <p:sp>
        <p:nvSpPr>
          <p:cNvPr id="25" name="TextBox 24"/>
          <p:cNvSpPr txBox="1"/>
          <p:nvPr/>
        </p:nvSpPr>
        <p:spPr>
          <a:xfrm>
            <a:off x="877824" y="3822191"/>
            <a:ext cx="4937760" cy="365760"/>
          </a:xfrm>
          <a:prstGeom prst="rect">
            <a:avLst/>
          </a:prstGeom>
          <a:noFill/>
        </p:spPr>
        <p:txBody>
          <a:bodyPr wrap="square" anchor="t" lIns="0" rIns="0" tIns="0" bIns="0">
            <a:spAutoFit/>
          </a:bodyPr>
          <a:lstStyle/>
          <a:p>
            <a:pPr algn="l">
              <a:lnSpc>
                <a:spcPct val="100000"/>
              </a:lnSpc>
              <a:spcAft>
                <a:spcPts val="0"/>
              </a:spcAft>
            </a:pPr>
            <a:r>
              <a:rPr sz="1700" b="1" i="0">
                <a:solidFill>
                  <a:srgbClr val="FFFFFF"/>
                </a:solidFill>
                <a:latin typeface="Century Gothic"/>
              </a:rPr>
              <a:t>Phone + OTP verification</a:t>
            </a:r>
          </a:p>
        </p:txBody>
      </p:sp>
      <p:sp>
        <p:nvSpPr>
          <p:cNvPr id="26" name="TextBox 25"/>
          <p:cNvSpPr txBox="1"/>
          <p:nvPr/>
        </p:nvSpPr>
        <p:spPr>
          <a:xfrm>
            <a:off x="6035040" y="3584448"/>
            <a:ext cx="5486400" cy="731520"/>
          </a:xfrm>
          <a:prstGeom prst="rect">
            <a:avLst/>
          </a:prstGeom>
          <a:noFill/>
        </p:spPr>
        <p:txBody>
          <a:bodyPr wrap="square" anchor="t" lIns="0" rIns="0" tIns="0" bIns="0">
            <a:spAutoFit/>
          </a:bodyPr>
          <a:lstStyle/>
          <a:p>
            <a:pPr algn="l">
              <a:lnSpc>
                <a:spcPct val="120000"/>
              </a:lnSpc>
              <a:spcAft>
                <a:spcPts val="0"/>
              </a:spcAft>
            </a:pPr>
            <a:r>
              <a:rPr sz="950" b="0" i="0">
                <a:solidFill>
                  <a:srgbClr val="F6E4F4"/>
                </a:solidFill>
                <a:latin typeface="Century Gothic"/>
              </a:rPr>
              <a:t>Mandatory on every provider, and always the NEXT step after the account is created. Google and Apple satisfy the email requirement — they never satisfy this one.</a:t>
            </a:r>
          </a:p>
        </p:txBody>
      </p:sp>
      <p:sp>
        <p:nvSpPr>
          <p:cNvPr id="27" name="TextBox 26"/>
          <p:cNvSpPr txBox="1"/>
          <p:nvPr/>
        </p:nvSpPr>
        <p:spPr>
          <a:xfrm>
            <a:off x="566928" y="4535424"/>
            <a:ext cx="548640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Gate 1 is satisfied only when</a:t>
            </a:r>
          </a:p>
        </p:txBody>
      </p:sp>
      <p:sp>
        <p:nvSpPr>
          <p:cNvPr id="28" name="TextBox 27"/>
          <p:cNvSpPr txBox="1"/>
          <p:nvPr/>
        </p:nvSpPr>
        <p:spPr>
          <a:xfrm>
            <a:off x="566928" y="4919472"/>
            <a:ext cx="5394960" cy="1005840"/>
          </a:xfrm>
          <a:prstGeom prst="rect">
            <a:avLst/>
          </a:prstGeom>
          <a:noFill/>
        </p:spPr>
        <p:txBody>
          <a:bodyPr wrap="square" lIns="0" rIns="0" tIns="0" bIns="0">
            <a:spAutoFit/>
          </a:bodyPr>
          <a:lstStyle/>
          <a:p>
            <a:pPr marL="155448" indent="-155448">
              <a:lnSpc>
                <a:spcPct val="115000"/>
              </a:lnSpc>
              <a:spcAft>
                <a:spcPts val="700"/>
              </a:spcAft>
              <a:buClr>
                <a:srgbClr val="FF007F"/>
              </a:buClr>
              <a:buChar char="–"/>
            </a:pPr>
            <a:r>
              <a:rPr sz="950">
                <a:solidFill>
                  <a:srgbClr val="3A3A3A"/>
                </a:solidFill>
                <a:latin typeface="Century Gothic"/>
              </a:rPr>
              <a:t>phone_verified_at IS NOT NULL  —  no exceptions</a:t>
            </a:r>
          </a:p>
          <a:p>
            <a:pPr marL="155448" indent="-155448">
              <a:lnSpc>
                <a:spcPct val="115000"/>
              </a:lnSpc>
              <a:spcAft>
                <a:spcPts val="700"/>
              </a:spcAft>
              <a:buClr>
                <a:srgbClr val="FF007F"/>
              </a:buClr>
              <a:buChar char="–"/>
            </a:pPr>
            <a:r>
              <a:rPr sz="950">
                <a:solidFill>
                  <a:srgbClr val="3A3A3A"/>
                </a:solidFill>
                <a:latin typeface="Century Gothic"/>
              </a:rPr>
              <a:t>email_verified_at IS NOT NULL  —  auto-set for Google / Apple</a:t>
            </a:r>
          </a:p>
          <a:p>
            <a:pPr marL="155448" indent="-155448">
              <a:lnSpc>
                <a:spcPct val="115000"/>
              </a:lnSpc>
              <a:spcAft>
                <a:spcPts val="700"/>
              </a:spcAft>
              <a:buClr>
                <a:srgbClr val="FF007F"/>
              </a:buClr>
              <a:buChar char="–"/>
            </a:pPr>
            <a:r>
              <a:rPr sz="950">
                <a:solidFill>
                  <a:srgbClr val="3A3A3A"/>
                </a:solidFill>
                <a:latin typeface="Century Gothic"/>
              </a:rPr>
              <a:t>Enforced server-side in API middleware, not just in the client</a:t>
            </a:r>
          </a:p>
        </p:txBody>
      </p:sp>
      <p:sp>
        <p:nvSpPr>
          <p:cNvPr id="29" name="TextBox 28"/>
          <p:cNvSpPr txBox="1"/>
          <p:nvPr/>
        </p:nvSpPr>
        <p:spPr>
          <a:xfrm>
            <a:off x="6400800" y="4535424"/>
            <a:ext cx="521208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The promo code is optional — and reusable</a:t>
            </a:r>
          </a:p>
        </p:txBody>
      </p:sp>
      <p:sp>
        <p:nvSpPr>
          <p:cNvPr id="30" name="Rounded Rectangle 29"/>
          <p:cNvSpPr/>
          <p:nvPr/>
        </p:nvSpPr>
        <p:spPr>
          <a:xfrm>
            <a:off x="6400800" y="4919472"/>
            <a:ext cx="5212080" cy="932688"/>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4919472"/>
            <a:ext cx="45720" cy="932688"/>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01968" y="5047488"/>
            <a:ext cx="4846320" cy="713232"/>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A code may be typed in or arrive by deep link. A valid one attributes the member to its influencer and applies the admin-set discount. Absent or invalid, the signup still proceeds — unattributed, at full price.</a:t>
            </a:r>
          </a:p>
        </p:txBody>
      </p:sp>
      <p:pic>
        <p:nvPicPr>
          <p:cNvPr id="33" name="Picture 32"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4" name="TextBox 33"/>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Subscription, Membership Pass &amp; Payout</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One payment credits the platform, mints the passes, and accrues the payout</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Chevron 6"/>
          <p:cNvSpPr/>
          <p:nvPr/>
        </p:nvSpPr>
        <p:spPr>
          <a:xfrm>
            <a:off x="566928" y="1481328"/>
            <a:ext cx="2178649" cy="859536"/>
          </a:xfrm>
          <a:prstGeom prst="chevron">
            <a:avLst>
              <a:gd name="adj" fmla="val 22000"/>
            </a:avLst>
          </a:prstGeom>
          <a:gradFill rotWithShape="1">
            <a:gsLst>
              <a:gs pos="0">
                <a:srgbClr val="FF007F"/>
              </a:gs>
              <a:gs pos="100000">
                <a:srgbClr val="E8009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Taps
Subscribe</a:t>
            </a:r>
          </a:p>
        </p:txBody>
      </p:sp>
      <p:sp>
        <p:nvSpPr>
          <p:cNvPr id="8" name="Chevron 7"/>
          <p:cNvSpPr/>
          <p:nvPr/>
        </p:nvSpPr>
        <p:spPr>
          <a:xfrm>
            <a:off x="2786725" y="1481328"/>
            <a:ext cx="2178649" cy="859536"/>
          </a:xfrm>
          <a:prstGeom prst="chevron">
            <a:avLst>
              <a:gd name="adj" fmla="val 22000"/>
            </a:avLst>
          </a:prstGeom>
          <a:gradFill rotWithShape="1">
            <a:gsLst>
              <a:gs pos="0">
                <a:srgbClr val="DF009F"/>
              </a:gs>
              <a:gs pos="100000">
                <a:srgbClr val="C800B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Pays by card /
Apple Pay / Google Pay</a:t>
            </a:r>
          </a:p>
        </p:txBody>
      </p:sp>
      <p:sp>
        <p:nvSpPr>
          <p:cNvPr id="9" name="Chevron 8"/>
          <p:cNvSpPr/>
          <p:nvPr/>
        </p:nvSpPr>
        <p:spPr>
          <a:xfrm>
            <a:off x="5006522" y="1481328"/>
            <a:ext cx="2178649" cy="859536"/>
          </a:xfrm>
          <a:prstGeom prst="chevron">
            <a:avLst>
              <a:gd name="adj" fmla="val 22000"/>
            </a:avLst>
          </a:prstGeom>
          <a:gradFill rotWithShape="1">
            <a:gsLst>
              <a:gs pos="0">
                <a:srgbClr val="BF00BF"/>
              </a:gs>
              <a:gs pos="100000">
                <a:srgbClr val="A800D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Inbound Payment
completed</a:t>
            </a:r>
          </a:p>
        </p:txBody>
      </p:sp>
      <p:sp>
        <p:nvSpPr>
          <p:cNvPr id="10" name="Chevron 9"/>
          <p:cNvSpPr/>
          <p:nvPr/>
        </p:nvSpPr>
        <p:spPr>
          <a:xfrm>
            <a:off x="7226320" y="1481328"/>
            <a:ext cx="2178649" cy="859536"/>
          </a:xfrm>
          <a:prstGeom prst="chevron">
            <a:avLst>
              <a:gd name="adj" fmla="val 22000"/>
            </a:avLst>
          </a:prstGeom>
          <a:gradFill rotWithShape="1">
            <a:gsLst>
              <a:gs pos="0">
                <a:srgbClr val="9F00DF"/>
              </a:gs>
              <a:gs pos="100000">
                <a:srgbClr val="8800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Ledger credited ·
Subscription active</a:t>
            </a:r>
          </a:p>
        </p:txBody>
      </p:sp>
      <p:sp>
        <p:nvSpPr>
          <p:cNvPr id="11" name="Chevron 10"/>
          <p:cNvSpPr/>
          <p:nvPr/>
        </p:nvSpPr>
        <p:spPr>
          <a:xfrm>
            <a:off x="9446117" y="1481328"/>
            <a:ext cx="2178649" cy="859536"/>
          </a:xfrm>
          <a:prstGeom prst="chevron">
            <a:avLst>
              <a:gd name="adj" fmla="val 22000"/>
            </a:avLst>
          </a:prstGeom>
          <a:gradFill rotWithShape="1">
            <a:gsLst>
              <a:gs pos="0">
                <a:srgbClr val="7F00F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950" b="1">
                <a:solidFill>
                  <a:srgbClr val="FFFFFF"/>
                </a:solidFill>
                <a:latin typeface="Century Gothic"/>
              </a:rPr>
              <a:t>Pass issued ·
Payout accrued</a:t>
            </a:r>
          </a:p>
        </p:txBody>
      </p:sp>
      <p:sp>
        <p:nvSpPr>
          <p:cNvPr id="12" name="TextBox 11"/>
          <p:cNvSpPr txBox="1"/>
          <p:nvPr/>
        </p:nvSpPr>
        <p:spPr>
          <a:xfrm>
            <a:off x="566928" y="2724912"/>
            <a:ext cx="548640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What the member receives</a:t>
            </a:r>
          </a:p>
        </p:txBody>
      </p:sp>
      <p:sp>
        <p:nvSpPr>
          <p:cNvPr id="13" name="Rounded Rectangle 12"/>
          <p:cNvSpPr/>
          <p:nvPr/>
        </p:nvSpPr>
        <p:spPr>
          <a:xfrm>
            <a:off x="566928" y="3145536"/>
            <a:ext cx="2642616" cy="713232"/>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145536"/>
            <a:ext cx="50292" cy="713232"/>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328416"/>
            <a:ext cx="2231136" cy="274320"/>
          </a:xfrm>
          <a:prstGeom prst="rect">
            <a:avLst/>
          </a:prstGeom>
          <a:noFill/>
        </p:spPr>
        <p:txBody>
          <a:bodyPr wrap="square" anchor="t" lIns="0" rIns="0" tIns="0" bIns="0">
            <a:spAutoFit/>
          </a:bodyPr>
          <a:lstStyle/>
          <a:p>
            <a:pPr algn="l">
              <a:lnSpc>
                <a:spcPct val="100000"/>
              </a:lnSpc>
              <a:spcAft>
                <a:spcPts val="0"/>
              </a:spcAft>
            </a:pPr>
            <a:r>
              <a:rPr sz="1050" b="1" i="0">
                <a:solidFill>
                  <a:srgbClr val="FF007F"/>
                </a:solidFill>
                <a:latin typeface="Century Gothic"/>
              </a:rPr>
              <a:t>Membership number</a:t>
            </a:r>
          </a:p>
        </p:txBody>
      </p:sp>
      <p:sp>
        <p:nvSpPr>
          <p:cNvPr id="16" name="TextBox 15"/>
          <p:cNvSpPr txBox="1"/>
          <p:nvPr/>
        </p:nvSpPr>
        <p:spPr>
          <a:xfrm>
            <a:off x="804672" y="3694176"/>
            <a:ext cx="2231136" cy="27432"/>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Unique to the member</a:t>
            </a:r>
          </a:p>
        </p:txBody>
      </p:sp>
      <p:sp>
        <p:nvSpPr>
          <p:cNvPr id="17" name="Rounded Rectangle 16"/>
          <p:cNvSpPr/>
          <p:nvPr/>
        </p:nvSpPr>
        <p:spPr>
          <a:xfrm>
            <a:off x="3410712" y="3145536"/>
            <a:ext cx="2642616" cy="713232"/>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10712" y="3145536"/>
            <a:ext cx="50292" cy="713232"/>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8456" y="3328416"/>
            <a:ext cx="2231136" cy="274320"/>
          </a:xfrm>
          <a:prstGeom prst="rect">
            <a:avLst/>
          </a:prstGeom>
          <a:noFill/>
        </p:spPr>
        <p:txBody>
          <a:bodyPr wrap="square" anchor="t" lIns="0" rIns="0" tIns="0" bIns="0">
            <a:spAutoFit/>
          </a:bodyPr>
          <a:lstStyle/>
          <a:p>
            <a:pPr algn="l">
              <a:lnSpc>
                <a:spcPct val="100000"/>
              </a:lnSpc>
              <a:spcAft>
                <a:spcPts val="0"/>
              </a:spcAft>
            </a:pPr>
            <a:r>
              <a:rPr sz="1050" b="1" i="0">
                <a:solidFill>
                  <a:srgbClr val="7F00FF"/>
                </a:solidFill>
                <a:latin typeface="Century Gothic"/>
              </a:rPr>
              <a:t>Apple Wallet pass</a:t>
            </a:r>
          </a:p>
        </p:txBody>
      </p:sp>
      <p:sp>
        <p:nvSpPr>
          <p:cNvPr id="20" name="TextBox 19"/>
          <p:cNvSpPr txBox="1"/>
          <p:nvPr/>
        </p:nvSpPr>
        <p:spPr>
          <a:xfrm>
            <a:off x="3648456" y="3694176"/>
            <a:ext cx="2231136" cy="27432"/>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Serial + pass URL</a:t>
            </a:r>
          </a:p>
        </p:txBody>
      </p:sp>
      <p:sp>
        <p:nvSpPr>
          <p:cNvPr id="21" name="Rounded Rectangle 20"/>
          <p:cNvSpPr/>
          <p:nvPr/>
        </p:nvSpPr>
        <p:spPr>
          <a:xfrm>
            <a:off x="566928" y="3986784"/>
            <a:ext cx="2642616" cy="713232"/>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986784"/>
            <a:ext cx="50292" cy="713232"/>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169664"/>
            <a:ext cx="2231136" cy="274320"/>
          </a:xfrm>
          <a:prstGeom prst="rect">
            <a:avLst/>
          </a:prstGeom>
          <a:noFill/>
        </p:spPr>
        <p:txBody>
          <a:bodyPr wrap="square" anchor="t" lIns="0" rIns="0" tIns="0" bIns="0">
            <a:spAutoFit/>
          </a:bodyPr>
          <a:lstStyle/>
          <a:p>
            <a:pPr algn="l">
              <a:lnSpc>
                <a:spcPct val="100000"/>
              </a:lnSpc>
              <a:spcAft>
                <a:spcPts val="0"/>
              </a:spcAft>
            </a:pPr>
            <a:r>
              <a:rPr sz="1050" b="1" i="0">
                <a:solidFill>
                  <a:srgbClr val="4B0082"/>
                </a:solidFill>
                <a:latin typeface="Century Gothic"/>
              </a:rPr>
              <a:t>Google Wallet pass</a:t>
            </a:r>
          </a:p>
        </p:txBody>
      </p:sp>
      <p:sp>
        <p:nvSpPr>
          <p:cNvPr id="24" name="TextBox 23"/>
          <p:cNvSpPr txBox="1"/>
          <p:nvPr/>
        </p:nvSpPr>
        <p:spPr>
          <a:xfrm>
            <a:off x="804672" y="4535424"/>
            <a:ext cx="2231136" cy="27432"/>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Pass ID + pass URL</a:t>
            </a:r>
          </a:p>
        </p:txBody>
      </p:sp>
      <p:sp>
        <p:nvSpPr>
          <p:cNvPr id="25" name="Rounded Rectangle 24"/>
          <p:cNvSpPr/>
          <p:nvPr/>
        </p:nvSpPr>
        <p:spPr>
          <a:xfrm>
            <a:off x="3410712" y="3986784"/>
            <a:ext cx="2642616" cy="713232"/>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10712" y="3986784"/>
            <a:ext cx="50292" cy="713232"/>
          </a:xfrm>
          <a:prstGeom prst="rect">
            <a:avLst/>
          </a:prstGeom>
          <a:gradFill rotWithShape="1">
            <a:gsLst>
              <a:gs pos="0">
                <a:srgbClr val="8B0000"/>
              </a:gs>
              <a:gs pos="100000">
                <a:srgbClr val="8B0000"/>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48456" y="4169664"/>
            <a:ext cx="2231136" cy="274320"/>
          </a:xfrm>
          <a:prstGeom prst="rect">
            <a:avLst/>
          </a:prstGeom>
          <a:noFill/>
        </p:spPr>
        <p:txBody>
          <a:bodyPr wrap="square" anchor="t" lIns="0" rIns="0" tIns="0" bIns="0">
            <a:spAutoFit/>
          </a:bodyPr>
          <a:lstStyle/>
          <a:p>
            <a:pPr algn="l">
              <a:lnSpc>
                <a:spcPct val="100000"/>
              </a:lnSpc>
              <a:spcAft>
                <a:spcPts val="0"/>
              </a:spcAft>
            </a:pPr>
            <a:r>
              <a:rPr sz="1050" b="1" i="0">
                <a:solidFill>
                  <a:srgbClr val="8B0000"/>
                </a:solidFill>
                <a:latin typeface="Century Gothic"/>
              </a:rPr>
              <a:t>QR / barcode</a:t>
            </a:r>
          </a:p>
        </p:txBody>
      </p:sp>
      <p:sp>
        <p:nvSpPr>
          <p:cNvPr id="28" name="TextBox 27"/>
          <p:cNvSpPr txBox="1"/>
          <p:nvPr/>
        </p:nvSpPr>
        <p:spPr>
          <a:xfrm>
            <a:off x="3648456" y="4535424"/>
            <a:ext cx="2231136" cy="27432"/>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Presented at redemption</a:t>
            </a:r>
          </a:p>
        </p:txBody>
      </p:sp>
      <p:sp>
        <p:nvSpPr>
          <p:cNvPr id="29" name="TextBox 28"/>
          <p:cNvSpPr txBox="1"/>
          <p:nvPr/>
        </p:nvSpPr>
        <p:spPr>
          <a:xfrm>
            <a:off x="6492240" y="2724912"/>
            <a:ext cx="512064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What the platform does</a:t>
            </a:r>
          </a:p>
        </p:txBody>
      </p:sp>
      <p:sp>
        <p:nvSpPr>
          <p:cNvPr id="30" name="Rounded Rectangle 29"/>
          <p:cNvSpPr/>
          <p:nvPr/>
        </p:nvSpPr>
        <p:spPr>
          <a:xfrm>
            <a:off x="6492240" y="3145536"/>
            <a:ext cx="402336" cy="402336"/>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1</a:t>
            </a:r>
          </a:p>
        </p:txBody>
      </p:sp>
      <p:sp>
        <p:nvSpPr>
          <p:cNvPr id="31" name="TextBox 30"/>
          <p:cNvSpPr txBox="1"/>
          <p:nvPr/>
        </p:nvSpPr>
        <p:spPr>
          <a:xfrm>
            <a:off x="7040880" y="3227832"/>
            <a:ext cx="4572000" cy="457200"/>
          </a:xfrm>
          <a:prstGeom prst="rect">
            <a:avLst/>
          </a:prstGeom>
          <a:noFill/>
        </p:spPr>
        <p:txBody>
          <a:bodyPr wrap="square" anchor="t" lIns="0" rIns="0" tIns="0" bIns="0">
            <a:spAutoFit/>
          </a:bodyPr>
          <a:lstStyle/>
          <a:p>
            <a:pPr algn="l">
              <a:lnSpc>
                <a:spcPct val="115000"/>
              </a:lnSpc>
              <a:spcAft>
                <a:spcPts val="0"/>
              </a:spcAft>
            </a:pPr>
            <a:r>
              <a:rPr sz="950" b="0" i="0">
                <a:solidFill>
                  <a:srgbClr val="3A3A3A"/>
                </a:solidFill>
                <a:latin typeface="Century Gothic"/>
              </a:rPr>
              <a:t>Credits the ledger with the full subscription amount.</a:t>
            </a:r>
          </a:p>
        </p:txBody>
      </p:sp>
      <p:sp>
        <p:nvSpPr>
          <p:cNvPr id="32" name="Rounded Rectangle 31"/>
          <p:cNvSpPr/>
          <p:nvPr/>
        </p:nvSpPr>
        <p:spPr>
          <a:xfrm>
            <a:off x="6492240" y="3712463"/>
            <a:ext cx="402336" cy="402336"/>
          </a:xfrm>
          <a:prstGeom prst="roundRect">
            <a:avLst>
              <a:gd name="adj" fmla="val 50000"/>
            </a:avLst>
          </a:prstGeom>
          <a:solidFill>
            <a:srgbClr val="7F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2</a:t>
            </a:r>
          </a:p>
        </p:txBody>
      </p:sp>
      <p:sp>
        <p:nvSpPr>
          <p:cNvPr id="33" name="TextBox 32"/>
          <p:cNvSpPr txBox="1"/>
          <p:nvPr/>
        </p:nvSpPr>
        <p:spPr>
          <a:xfrm>
            <a:off x="7040880" y="3794759"/>
            <a:ext cx="4572000" cy="457200"/>
          </a:xfrm>
          <a:prstGeom prst="rect">
            <a:avLst/>
          </a:prstGeom>
          <a:noFill/>
        </p:spPr>
        <p:txBody>
          <a:bodyPr wrap="square" anchor="t" lIns="0" rIns="0" tIns="0" bIns="0">
            <a:spAutoFit/>
          </a:bodyPr>
          <a:lstStyle/>
          <a:p>
            <a:pPr algn="l">
              <a:lnSpc>
                <a:spcPct val="115000"/>
              </a:lnSpc>
              <a:spcAft>
                <a:spcPts val="0"/>
              </a:spcAft>
            </a:pPr>
            <a:r>
              <a:rPr sz="950" b="0" i="0">
                <a:solidFill>
                  <a:srgbClr val="3A3A3A"/>
                </a:solidFill>
                <a:latin typeface="Century Gothic"/>
              </a:rPr>
              <a:t>Activates the Subscription and issues the wallet passes.</a:t>
            </a:r>
          </a:p>
        </p:txBody>
      </p:sp>
      <p:sp>
        <p:nvSpPr>
          <p:cNvPr id="34" name="Rounded Rectangle 33"/>
          <p:cNvSpPr/>
          <p:nvPr/>
        </p:nvSpPr>
        <p:spPr>
          <a:xfrm>
            <a:off x="6492240" y="4279392"/>
            <a:ext cx="402336" cy="402336"/>
          </a:xfrm>
          <a:prstGeom prst="roundRect">
            <a:avLst>
              <a:gd name="adj" fmla="val 50000"/>
            </a:avLst>
          </a:prstGeom>
          <a:solidFill>
            <a:srgbClr val="4B0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3</a:t>
            </a:r>
          </a:p>
        </p:txBody>
      </p:sp>
      <p:sp>
        <p:nvSpPr>
          <p:cNvPr id="35" name="TextBox 34"/>
          <p:cNvSpPr txBox="1"/>
          <p:nvPr/>
        </p:nvSpPr>
        <p:spPr>
          <a:xfrm>
            <a:off x="7040880" y="4361688"/>
            <a:ext cx="4572000" cy="457200"/>
          </a:xfrm>
          <a:prstGeom prst="rect">
            <a:avLst/>
          </a:prstGeom>
          <a:noFill/>
        </p:spPr>
        <p:txBody>
          <a:bodyPr wrap="square" anchor="t" lIns="0" rIns="0" tIns="0" bIns="0">
            <a:spAutoFit/>
          </a:bodyPr>
          <a:lstStyle/>
          <a:p>
            <a:pPr algn="l">
              <a:lnSpc>
                <a:spcPct val="115000"/>
              </a:lnSpc>
              <a:spcAft>
                <a:spcPts val="0"/>
              </a:spcAft>
            </a:pPr>
            <a:r>
              <a:rPr sz="950" b="0" i="0">
                <a:solidFill>
                  <a:srgbClr val="3A3A3A"/>
                </a:solidFill>
                <a:latin typeface="Century Gothic"/>
              </a:rPr>
              <a:t>Accrues a payout worth a set percentage of the payment.</a:t>
            </a:r>
          </a:p>
        </p:txBody>
      </p:sp>
      <p:sp>
        <p:nvSpPr>
          <p:cNvPr id="36" name="Rounded Rectangle 35"/>
          <p:cNvSpPr/>
          <p:nvPr/>
        </p:nvSpPr>
        <p:spPr>
          <a:xfrm>
            <a:off x="6492240" y="4882896"/>
            <a:ext cx="5120640" cy="950976"/>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92240" y="4882896"/>
            <a:ext cx="45720" cy="950976"/>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93407" y="5010912"/>
            <a:ext cx="4754879" cy="731520"/>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A successful subscription payment is the event that COUNTS AS A PAYOUT. Nothing accrues for a payment that is pending, failed or refunded.</a:t>
            </a:r>
          </a:p>
        </p:txBody>
      </p:sp>
      <p:sp>
        <p:nvSpPr>
          <p:cNvPr id="39" name="Rounded Rectangle 38"/>
          <p:cNvSpPr/>
          <p:nvPr/>
        </p:nvSpPr>
        <p:spPr>
          <a:xfrm>
            <a:off x="566928" y="4882896"/>
            <a:ext cx="5486400" cy="950976"/>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882896"/>
            <a:ext cx="45720" cy="950976"/>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5010912"/>
            <a:ext cx="5120640" cy="731520"/>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Membership is never approved by a human. It is activated and expired automatically by payment status — staff only ever deactivate an account for cause.</a:t>
            </a:r>
          </a:p>
        </p:txBody>
      </p:sp>
      <p:pic>
        <p:nvPicPr>
          <p:cNvPr id="42" name="Picture 41" descr="footer_bar.png"/>
          <p:cNvPicPr>
            <a:picLocks noChangeAspect="1"/>
          </p:cNvPicPr>
          <p:nvPr/>
        </p:nvPicPr>
        <p:blipFill>
          <a:blip r:embed="rId4"/>
          <a:stretch>
            <a:fillRect/>
          </a:stretch>
        </p:blipFill>
        <p:spPr>
          <a:xfrm>
            <a:off x="7260336" y="5861304"/>
            <a:ext cx="4928616" cy="491032"/>
          </a:xfrm>
          <a:prstGeom prst="rect">
            <a:avLst/>
          </a:prstGeom>
        </p:spPr>
      </p:pic>
      <p:sp>
        <p:nvSpPr>
          <p:cNvPr id="43" name="TextBox 42"/>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Browse vs. Avail — The Paywall</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Everyone verified can look. Only subscribers can act.</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566928" y="1517904"/>
            <a:ext cx="3515258" cy="3931920"/>
          </a:xfrm>
          <a:prstGeom prst="roundRect">
            <a:avLst>
              <a:gd name="adj" fmla="val 5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17904"/>
            <a:ext cx="3515258" cy="566928"/>
          </a:xfrm>
          <a:prstGeom prst="roundRect">
            <a:avLst>
              <a:gd name="adj" fmla="val 18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150" b="1">
                <a:solidFill>
                  <a:srgbClr val="FFFFFF"/>
                </a:solidFill>
                <a:latin typeface="Century Gothic"/>
              </a:rPr>
              <a:t>Verified · Unsubscribed</a:t>
            </a:r>
          </a:p>
        </p:txBody>
      </p:sp>
      <p:sp>
        <p:nvSpPr>
          <p:cNvPr id="8" name="TextBox 7"/>
          <p:cNvSpPr txBox="1"/>
          <p:nvPr/>
        </p:nvSpPr>
        <p:spPr>
          <a:xfrm>
            <a:off x="804672" y="2286000"/>
            <a:ext cx="3058058" cy="237744"/>
          </a:xfrm>
          <a:prstGeom prst="rect">
            <a:avLst/>
          </a:prstGeom>
          <a:noFill/>
        </p:spPr>
        <p:txBody>
          <a:bodyPr wrap="square" anchor="t" lIns="0" rIns="0" tIns="0" bIns="0">
            <a:spAutoFit/>
          </a:bodyPr>
          <a:lstStyle/>
          <a:p>
            <a:pPr algn="l">
              <a:lnSpc>
                <a:spcPct val="100000"/>
              </a:lnSpc>
              <a:spcAft>
                <a:spcPts val="0"/>
              </a:spcAft>
            </a:pPr>
            <a:r>
              <a:rPr sz="850" b="1" i="0">
                <a:solidFill>
                  <a:srgbClr val="FF007F"/>
                </a:solidFill>
                <a:latin typeface="Century Gothic"/>
              </a:rPr>
              <a:t>CAN</a:t>
            </a:r>
          </a:p>
        </p:txBody>
      </p:sp>
      <p:sp>
        <p:nvSpPr>
          <p:cNvPr id="9" name="TextBox 8"/>
          <p:cNvSpPr txBox="1"/>
          <p:nvPr/>
        </p:nvSpPr>
        <p:spPr>
          <a:xfrm>
            <a:off x="804672" y="2578608"/>
            <a:ext cx="3058058" cy="1371600"/>
          </a:xfrm>
          <a:prstGeom prst="rect">
            <a:avLst/>
          </a:prstGeom>
          <a:noFill/>
        </p:spPr>
        <p:txBody>
          <a:bodyPr wrap="square" lIns="0" rIns="0" tIns="0" bIns="0">
            <a:spAutoFit/>
          </a:bodyPr>
          <a:lstStyle/>
          <a:p>
            <a:pPr marL="155448" indent="-155448">
              <a:lnSpc>
                <a:spcPct val="115000"/>
              </a:lnSpc>
              <a:spcAft>
                <a:spcPts val="500"/>
              </a:spcAft>
              <a:buClr>
                <a:srgbClr val="FF007F"/>
              </a:buClr>
              <a:buChar char="–"/>
            </a:pPr>
            <a:r>
              <a:rPr sz="950">
                <a:solidFill>
                  <a:srgbClr val="3A3A3A"/>
                </a:solidFill>
                <a:latin typeface="Century Gothic"/>
              </a:rPr>
              <a:t>View all offers</a:t>
            </a:r>
          </a:p>
          <a:p>
            <a:pPr marL="155448" indent="-155448">
              <a:lnSpc>
                <a:spcPct val="115000"/>
              </a:lnSpc>
              <a:spcAft>
                <a:spcPts val="500"/>
              </a:spcAft>
              <a:buClr>
                <a:srgbClr val="FF007F"/>
              </a:buClr>
              <a:buChar char="–"/>
            </a:pPr>
            <a:r>
              <a:rPr sz="950">
                <a:solidFill>
                  <a:srgbClr val="3A3A3A"/>
                </a:solidFill>
                <a:latin typeface="Century Gothic"/>
              </a:rPr>
              <a:t>View merchant storefronts</a:t>
            </a:r>
          </a:p>
          <a:p>
            <a:pPr marL="155448" indent="-155448">
              <a:lnSpc>
                <a:spcPct val="115000"/>
              </a:lnSpc>
              <a:spcAft>
                <a:spcPts val="500"/>
              </a:spcAft>
              <a:buClr>
                <a:srgbClr val="FF007F"/>
              </a:buClr>
              <a:buChar char="–"/>
            </a:pPr>
            <a:r>
              <a:rPr sz="950">
                <a:solidFill>
                  <a:srgbClr val="3A3A3A"/>
                </a:solidFill>
                <a:latin typeface="Century Gothic"/>
              </a:rPr>
              <a:t>Bold top banner: not subscribed</a:t>
            </a:r>
          </a:p>
        </p:txBody>
      </p:sp>
      <p:sp>
        <p:nvSpPr>
          <p:cNvPr id="10" name="TextBox 9"/>
          <p:cNvSpPr txBox="1"/>
          <p:nvPr/>
        </p:nvSpPr>
        <p:spPr>
          <a:xfrm>
            <a:off x="804672" y="3621024"/>
            <a:ext cx="3058058" cy="237744"/>
          </a:xfrm>
          <a:prstGeom prst="rect">
            <a:avLst/>
          </a:prstGeom>
          <a:noFill/>
        </p:spPr>
        <p:txBody>
          <a:bodyPr wrap="square" anchor="t" lIns="0" rIns="0" tIns="0" bIns="0">
            <a:spAutoFit/>
          </a:bodyPr>
          <a:lstStyle/>
          <a:p>
            <a:pPr algn="l">
              <a:lnSpc>
                <a:spcPct val="100000"/>
              </a:lnSpc>
              <a:spcAft>
                <a:spcPts val="0"/>
              </a:spcAft>
            </a:pPr>
            <a:r>
              <a:rPr sz="850" b="1" i="0">
                <a:solidFill>
                  <a:srgbClr val="808080"/>
                </a:solidFill>
                <a:latin typeface="Century Gothic"/>
              </a:rPr>
              <a:t>CANNOT</a:t>
            </a:r>
          </a:p>
        </p:txBody>
      </p:sp>
      <p:sp>
        <p:nvSpPr>
          <p:cNvPr id="11" name="TextBox 10"/>
          <p:cNvSpPr txBox="1"/>
          <p:nvPr/>
        </p:nvSpPr>
        <p:spPr>
          <a:xfrm>
            <a:off x="804672" y="3913632"/>
            <a:ext cx="3058058" cy="1371600"/>
          </a:xfrm>
          <a:prstGeom prst="rect">
            <a:avLst/>
          </a:prstGeom>
          <a:noFill/>
        </p:spPr>
        <p:txBody>
          <a:bodyPr wrap="square" lIns="0" rIns="0" tIns="0" bIns="0">
            <a:spAutoFit/>
          </a:bodyPr>
          <a:lstStyle/>
          <a:p>
            <a:pPr marL="155448" indent="-155448">
              <a:lnSpc>
                <a:spcPct val="115000"/>
              </a:lnSpc>
              <a:spcAft>
                <a:spcPts val="500"/>
              </a:spcAft>
              <a:buClr>
                <a:srgbClr val="D3D3D3"/>
              </a:buClr>
              <a:buChar char="–"/>
            </a:pPr>
            <a:r>
              <a:rPr sz="950">
                <a:solidFill>
                  <a:srgbClr val="808080"/>
                </a:solidFill>
                <a:latin typeface="Century Gothic"/>
              </a:rPr>
              <a:t>Redeem an offer</a:t>
            </a:r>
          </a:p>
        </p:txBody>
      </p:sp>
      <p:sp>
        <p:nvSpPr>
          <p:cNvPr id="12" name="Rounded Rectangle 11"/>
          <p:cNvSpPr/>
          <p:nvPr/>
        </p:nvSpPr>
        <p:spPr>
          <a:xfrm>
            <a:off x="4338218" y="1517904"/>
            <a:ext cx="3515258" cy="3931920"/>
          </a:xfrm>
          <a:prstGeom prst="roundRect">
            <a:avLst>
              <a:gd name="adj" fmla="val 5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517904"/>
            <a:ext cx="3515258" cy="566928"/>
          </a:xfrm>
          <a:prstGeom prst="roundRect">
            <a:avLst>
              <a:gd name="adj" fmla="val 18000"/>
            </a:avLst>
          </a:prstGeom>
          <a:gradFill rotWithShape="1">
            <a:gsLst>
              <a:gs pos="0">
                <a:srgbClr val="7F00FF"/>
              </a:gs>
              <a:gs pos="100000">
                <a:srgbClr val="4B00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150" b="1">
                <a:solidFill>
                  <a:srgbClr val="FFFFFF"/>
                </a:solidFill>
                <a:latin typeface="Century Gothic"/>
              </a:rPr>
              <a:t>Verified · Subscribed</a:t>
            </a:r>
          </a:p>
        </p:txBody>
      </p:sp>
      <p:sp>
        <p:nvSpPr>
          <p:cNvPr id="14" name="TextBox 13"/>
          <p:cNvSpPr txBox="1"/>
          <p:nvPr/>
        </p:nvSpPr>
        <p:spPr>
          <a:xfrm>
            <a:off x="4575962" y="2286000"/>
            <a:ext cx="3058058" cy="237744"/>
          </a:xfrm>
          <a:prstGeom prst="rect">
            <a:avLst/>
          </a:prstGeom>
          <a:noFill/>
        </p:spPr>
        <p:txBody>
          <a:bodyPr wrap="square" anchor="t" lIns="0" rIns="0" tIns="0" bIns="0">
            <a:spAutoFit/>
          </a:bodyPr>
          <a:lstStyle/>
          <a:p>
            <a:pPr algn="l">
              <a:lnSpc>
                <a:spcPct val="100000"/>
              </a:lnSpc>
              <a:spcAft>
                <a:spcPts val="0"/>
              </a:spcAft>
            </a:pPr>
            <a:r>
              <a:rPr sz="850" b="1" i="0">
                <a:solidFill>
                  <a:srgbClr val="7F00FF"/>
                </a:solidFill>
                <a:latin typeface="Century Gothic"/>
              </a:rPr>
              <a:t>CAN</a:t>
            </a:r>
          </a:p>
        </p:txBody>
      </p:sp>
      <p:sp>
        <p:nvSpPr>
          <p:cNvPr id="15" name="TextBox 14"/>
          <p:cNvSpPr txBox="1"/>
          <p:nvPr/>
        </p:nvSpPr>
        <p:spPr>
          <a:xfrm>
            <a:off x="4575962" y="2578608"/>
            <a:ext cx="3058058" cy="1371600"/>
          </a:xfrm>
          <a:prstGeom prst="rect">
            <a:avLst/>
          </a:prstGeom>
          <a:noFill/>
        </p:spPr>
        <p:txBody>
          <a:bodyPr wrap="square" lIns="0" rIns="0" tIns="0" bIns="0">
            <a:spAutoFit/>
          </a:bodyPr>
          <a:lstStyle/>
          <a:p>
            <a:pPr marL="155448" indent="-155448">
              <a:lnSpc>
                <a:spcPct val="115000"/>
              </a:lnSpc>
              <a:spcAft>
                <a:spcPts val="500"/>
              </a:spcAft>
              <a:buClr>
                <a:srgbClr val="7F00FF"/>
              </a:buClr>
              <a:buChar char="–"/>
            </a:pPr>
            <a:r>
              <a:rPr sz="950">
                <a:solidFill>
                  <a:srgbClr val="3A3A3A"/>
                </a:solidFill>
                <a:latin typeface="Century Gothic"/>
              </a:rPr>
              <a:t>View all offers</a:t>
            </a:r>
          </a:p>
          <a:p>
            <a:pPr marL="155448" indent="-155448">
              <a:lnSpc>
                <a:spcPct val="115000"/>
              </a:lnSpc>
              <a:spcAft>
                <a:spcPts val="500"/>
              </a:spcAft>
              <a:buClr>
                <a:srgbClr val="7F00FF"/>
              </a:buClr>
              <a:buChar char="–"/>
            </a:pPr>
            <a:r>
              <a:rPr sz="950">
                <a:solidFill>
                  <a:srgbClr val="3A3A3A"/>
                </a:solidFill>
                <a:latin typeface="Century Gothic"/>
              </a:rPr>
              <a:t>View merchant storefronts</a:t>
            </a:r>
          </a:p>
          <a:p>
            <a:pPr marL="155448" indent="-155448">
              <a:lnSpc>
                <a:spcPct val="115000"/>
              </a:lnSpc>
              <a:spcAft>
                <a:spcPts val="500"/>
              </a:spcAft>
              <a:buClr>
                <a:srgbClr val="7F00FF"/>
              </a:buClr>
              <a:buChar char="–"/>
            </a:pPr>
            <a:r>
              <a:rPr sz="950">
                <a:solidFill>
                  <a:srgbClr val="3A3A3A"/>
                </a:solidFill>
                <a:latin typeface="Century Gothic"/>
              </a:rPr>
              <a:t>Redeem offers</a:t>
            </a:r>
          </a:p>
          <a:p>
            <a:pPr marL="155448" indent="-155448">
              <a:lnSpc>
                <a:spcPct val="115000"/>
              </a:lnSpc>
              <a:spcAft>
                <a:spcPts val="500"/>
              </a:spcAft>
              <a:buClr>
                <a:srgbClr val="7F00FF"/>
              </a:buClr>
              <a:buChar char="–"/>
            </a:pPr>
            <a:r>
              <a:rPr sz="950">
                <a:solidFill>
                  <a:srgbClr val="3A3A3A"/>
                </a:solidFill>
                <a:latin typeface="Century Gothic"/>
              </a:rPr>
              <a:t>Hold an active wallet pass</a:t>
            </a:r>
          </a:p>
        </p:txBody>
      </p:sp>
      <p:sp>
        <p:nvSpPr>
          <p:cNvPr id="16" name="Rounded Rectangle 15"/>
          <p:cNvSpPr/>
          <p:nvPr/>
        </p:nvSpPr>
        <p:spPr>
          <a:xfrm>
            <a:off x="8109508" y="1517904"/>
            <a:ext cx="3515258" cy="3931920"/>
          </a:xfrm>
          <a:prstGeom prst="roundRect">
            <a:avLst>
              <a:gd name="adj" fmla="val 5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9508" y="1517904"/>
            <a:ext cx="3515258" cy="566928"/>
          </a:xfrm>
          <a:prstGeom prst="roundRect">
            <a:avLst>
              <a:gd name="adj" fmla="val 18000"/>
            </a:avLst>
          </a:prstGeom>
          <a:gradFill rotWithShape="1">
            <a:gsLst>
              <a:gs pos="0">
                <a:srgbClr val="8B0000"/>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150" b="1">
                <a:solidFill>
                  <a:srgbClr val="FFFFFF"/>
                </a:solidFill>
                <a:latin typeface="Century Gothic"/>
              </a:rPr>
              <a:t>Subscription expired</a:t>
            </a:r>
          </a:p>
        </p:txBody>
      </p:sp>
      <p:sp>
        <p:nvSpPr>
          <p:cNvPr id="18" name="TextBox 17"/>
          <p:cNvSpPr txBox="1"/>
          <p:nvPr/>
        </p:nvSpPr>
        <p:spPr>
          <a:xfrm>
            <a:off x="8347252" y="2286000"/>
            <a:ext cx="3058058" cy="237744"/>
          </a:xfrm>
          <a:prstGeom prst="rect">
            <a:avLst/>
          </a:prstGeom>
          <a:noFill/>
        </p:spPr>
        <p:txBody>
          <a:bodyPr wrap="square" anchor="t" lIns="0" rIns="0" tIns="0" bIns="0">
            <a:spAutoFit/>
          </a:bodyPr>
          <a:lstStyle/>
          <a:p>
            <a:pPr algn="l">
              <a:lnSpc>
                <a:spcPct val="100000"/>
              </a:lnSpc>
              <a:spcAft>
                <a:spcPts val="0"/>
              </a:spcAft>
            </a:pPr>
            <a:r>
              <a:rPr sz="850" b="1" i="0">
                <a:solidFill>
                  <a:srgbClr val="8B0000"/>
                </a:solidFill>
                <a:latin typeface="Century Gothic"/>
              </a:rPr>
              <a:t>CAN</a:t>
            </a:r>
          </a:p>
        </p:txBody>
      </p:sp>
      <p:sp>
        <p:nvSpPr>
          <p:cNvPr id="19" name="TextBox 18"/>
          <p:cNvSpPr txBox="1"/>
          <p:nvPr/>
        </p:nvSpPr>
        <p:spPr>
          <a:xfrm>
            <a:off x="8347252" y="2578608"/>
            <a:ext cx="3058058" cy="1371600"/>
          </a:xfrm>
          <a:prstGeom prst="rect">
            <a:avLst/>
          </a:prstGeom>
          <a:noFill/>
        </p:spPr>
        <p:txBody>
          <a:bodyPr wrap="square" lIns="0" rIns="0" tIns="0" bIns="0">
            <a:spAutoFit/>
          </a:bodyPr>
          <a:lstStyle/>
          <a:p>
            <a:pPr marL="155448" indent="-155448">
              <a:lnSpc>
                <a:spcPct val="115000"/>
              </a:lnSpc>
              <a:spcAft>
                <a:spcPts val="500"/>
              </a:spcAft>
              <a:buClr>
                <a:srgbClr val="8B0000"/>
              </a:buClr>
              <a:buChar char="–"/>
            </a:pPr>
            <a:r>
              <a:rPr sz="950">
                <a:solidFill>
                  <a:srgbClr val="3A3A3A"/>
                </a:solidFill>
                <a:latin typeface="Century Gothic"/>
              </a:rPr>
              <a:t>View all offers</a:t>
            </a:r>
          </a:p>
          <a:p>
            <a:pPr marL="155448" indent="-155448">
              <a:lnSpc>
                <a:spcPct val="115000"/>
              </a:lnSpc>
              <a:spcAft>
                <a:spcPts val="500"/>
              </a:spcAft>
              <a:buClr>
                <a:srgbClr val="8B0000"/>
              </a:buClr>
              <a:buChar char="–"/>
            </a:pPr>
            <a:r>
              <a:rPr sz="950">
                <a:solidFill>
                  <a:srgbClr val="3A3A3A"/>
                </a:solidFill>
                <a:latin typeface="Century Gothic"/>
              </a:rPr>
              <a:t>View merchant storefronts</a:t>
            </a:r>
          </a:p>
          <a:p>
            <a:pPr marL="155448" indent="-155448">
              <a:lnSpc>
                <a:spcPct val="115000"/>
              </a:lnSpc>
              <a:spcAft>
                <a:spcPts val="500"/>
              </a:spcAft>
              <a:buClr>
                <a:srgbClr val="8B0000"/>
              </a:buClr>
              <a:buChar char="–"/>
            </a:pPr>
            <a:r>
              <a:rPr sz="950">
                <a:solidFill>
                  <a:srgbClr val="3A3A3A"/>
                </a:solidFill>
                <a:latin typeface="Century Gothic"/>
              </a:rPr>
              <a:t>Banner returns</a:t>
            </a:r>
          </a:p>
        </p:txBody>
      </p:sp>
      <p:sp>
        <p:nvSpPr>
          <p:cNvPr id="20" name="TextBox 19"/>
          <p:cNvSpPr txBox="1"/>
          <p:nvPr/>
        </p:nvSpPr>
        <p:spPr>
          <a:xfrm>
            <a:off x="8347252" y="3621024"/>
            <a:ext cx="3058058" cy="237744"/>
          </a:xfrm>
          <a:prstGeom prst="rect">
            <a:avLst/>
          </a:prstGeom>
          <a:noFill/>
        </p:spPr>
        <p:txBody>
          <a:bodyPr wrap="square" anchor="t" lIns="0" rIns="0" tIns="0" bIns="0">
            <a:spAutoFit/>
          </a:bodyPr>
          <a:lstStyle/>
          <a:p>
            <a:pPr algn="l">
              <a:lnSpc>
                <a:spcPct val="100000"/>
              </a:lnSpc>
              <a:spcAft>
                <a:spcPts val="0"/>
              </a:spcAft>
            </a:pPr>
            <a:r>
              <a:rPr sz="850" b="1" i="0">
                <a:solidFill>
                  <a:srgbClr val="808080"/>
                </a:solidFill>
                <a:latin typeface="Century Gothic"/>
              </a:rPr>
              <a:t>CANNOT</a:t>
            </a:r>
          </a:p>
        </p:txBody>
      </p:sp>
      <p:sp>
        <p:nvSpPr>
          <p:cNvPr id="21" name="TextBox 20"/>
          <p:cNvSpPr txBox="1"/>
          <p:nvPr/>
        </p:nvSpPr>
        <p:spPr>
          <a:xfrm>
            <a:off x="8347252" y="3913632"/>
            <a:ext cx="3058058" cy="1371600"/>
          </a:xfrm>
          <a:prstGeom prst="rect">
            <a:avLst/>
          </a:prstGeom>
          <a:noFill/>
        </p:spPr>
        <p:txBody>
          <a:bodyPr wrap="square" lIns="0" rIns="0" tIns="0" bIns="0">
            <a:spAutoFit/>
          </a:bodyPr>
          <a:lstStyle/>
          <a:p>
            <a:pPr marL="155448" indent="-155448">
              <a:lnSpc>
                <a:spcPct val="115000"/>
              </a:lnSpc>
              <a:spcAft>
                <a:spcPts val="500"/>
              </a:spcAft>
              <a:buClr>
                <a:srgbClr val="D3D3D3"/>
              </a:buClr>
              <a:buChar char="–"/>
            </a:pPr>
            <a:r>
              <a:rPr sz="950">
                <a:solidFill>
                  <a:srgbClr val="808080"/>
                </a:solidFill>
                <a:latin typeface="Century Gothic"/>
              </a:rPr>
              <a:t>Redeem an offer</a:t>
            </a:r>
          </a:p>
          <a:p>
            <a:pPr marL="155448" indent="-155448">
              <a:lnSpc>
                <a:spcPct val="115000"/>
              </a:lnSpc>
              <a:spcAft>
                <a:spcPts val="500"/>
              </a:spcAft>
              <a:buClr>
                <a:srgbClr val="D3D3D3"/>
              </a:buClr>
              <a:buChar char="–"/>
            </a:pPr>
            <a:r>
              <a:rPr sz="950">
                <a:solidFill>
                  <a:srgbClr val="808080"/>
                </a:solidFill>
                <a:latin typeface="Century Gothic"/>
              </a:rPr>
              <a:t>Pass marked inactive automatically</a:t>
            </a:r>
          </a:p>
        </p:txBody>
      </p:sp>
      <p:sp>
        <p:nvSpPr>
          <p:cNvPr id="22" name="Rounded Rectangle 21"/>
          <p:cNvSpPr/>
          <p:nvPr/>
        </p:nvSpPr>
        <p:spPr>
          <a:xfrm>
            <a:off x="566928" y="5614416"/>
            <a:ext cx="6583680" cy="566928"/>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614416"/>
            <a:ext cx="45720" cy="566928"/>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742431"/>
            <a:ext cx="6217920" cy="347472"/>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The banner is the product's paywall reminder — persistent, and removed the moment the subscription goes active.</a:t>
            </a:r>
          </a:p>
        </p:txBody>
      </p:sp>
      <p:pic>
        <p:nvPicPr>
          <p:cNvPr id="25" name="Picture 24" descr="footer_bar.png"/>
          <p:cNvPicPr>
            <a:picLocks noChangeAspect="1"/>
          </p:cNvPicPr>
          <p:nvPr/>
        </p:nvPicPr>
        <p:blipFill>
          <a:blip r:embed="rId4"/>
          <a:stretch>
            <a:fillRect/>
          </a:stretch>
        </p:blipFill>
        <p:spPr>
          <a:xfrm>
            <a:off x="7260336" y="5861304"/>
            <a:ext cx="4928616" cy="491032"/>
          </a:xfrm>
          <a:prstGeom prst="rect">
            <a:avLst/>
          </a:prstGeom>
        </p:spPr>
      </p:pic>
      <p:sp>
        <p:nvSpPr>
          <p:cNvPr id="26" name="TextBox 25"/>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Offer Redemption</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A subscribed member selects an offer — behaviour depends on the offer type</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566928" y="1517904"/>
            <a:ext cx="3515258" cy="30540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17904"/>
            <a:ext cx="3515258" cy="5029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73936"/>
            <a:ext cx="3058058" cy="292608"/>
          </a:xfrm>
          <a:prstGeom prst="rect">
            <a:avLst/>
          </a:prstGeom>
          <a:noFill/>
        </p:spPr>
        <p:txBody>
          <a:bodyPr wrap="square" anchor="t" lIns="0" rIns="0" tIns="0" bIns="0">
            <a:spAutoFit/>
          </a:bodyPr>
          <a:lstStyle/>
          <a:p>
            <a:pPr algn="l">
              <a:lnSpc>
                <a:spcPct val="100000"/>
              </a:lnSpc>
              <a:spcAft>
                <a:spcPts val="0"/>
              </a:spcAft>
            </a:pPr>
            <a:r>
              <a:rPr sz="1400" b="1" i="0">
                <a:solidFill>
                  <a:srgbClr val="FF007F"/>
                </a:solidFill>
                <a:latin typeface="Century Gothic"/>
              </a:rPr>
              <a:t>Freebie</a:t>
            </a:r>
          </a:p>
        </p:txBody>
      </p:sp>
      <p:sp>
        <p:nvSpPr>
          <p:cNvPr id="9" name="TextBox 8"/>
          <p:cNvSpPr txBox="1"/>
          <p:nvPr/>
        </p:nvSpPr>
        <p:spPr>
          <a:xfrm>
            <a:off x="822960" y="2121408"/>
            <a:ext cx="3058058" cy="256032"/>
          </a:xfrm>
          <a:prstGeom prst="rect">
            <a:avLst/>
          </a:prstGeom>
          <a:noFill/>
        </p:spPr>
        <p:txBody>
          <a:bodyPr wrap="square" anchor="t" lIns="0" rIns="0" tIns="0" bIns="0">
            <a:spAutoFit/>
          </a:bodyPr>
          <a:lstStyle/>
          <a:p>
            <a:pPr algn="l">
              <a:lnSpc>
                <a:spcPct val="100000"/>
              </a:lnSpc>
              <a:spcAft>
                <a:spcPts val="0"/>
              </a:spcAft>
            </a:pPr>
            <a:r>
              <a:rPr sz="950" b="0" i="0">
                <a:solidFill>
                  <a:srgbClr val="808080"/>
                </a:solidFill>
                <a:latin typeface="Century Gothic"/>
              </a:rPr>
              <a:t>One-time claim per member.</a:t>
            </a:r>
          </a:p>
        </p:txBody>
      </p:sp>
      <p:sp>
        <p:nvSpPr>
          <p:cNvPr id="10" name="Oval 9"/>
          <p:cNvSpPr/>
          <p:nvPr/>
        </p:nvSpPr>
        <p:spPr>
          <a:xfrm>
            <a:off x="822960" y="2569463"/>
            <a:ext cx="201168" cy="201168"/>
          </a:xfrm>
          <a:prstGeom prst="ellipse">
            <a:avLst/>
          </a:prstGeom>
          <a:solidFill>
            <a:srgbClr val="FF007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1</a:t>
            </a:r>
          </a:p>
        </p:txBody>
      </p:sp>
      <p:sp>
        <p:nvSpPr>
          <p:cNvPr id="11" name="TextBox 10"/>
          <p:cNvSpPr txBox="1"/>
          <p:nvPr/>
        </p:nvSpPr>
        <p:spPr>
          <a:xfrm>
            <a:off x="1115568" y="2542032"/>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Member claims the offer</a:t>
            </a:r>
          </a:p>
        </p:txBody>
      </p:sp>
      <p:sp>
        <p:nvSpPr>
          <p:cNvPr id="12" name="Oval 11"/>
          <p:cNvSpPr/>
          <p:nvPr/>
        </p:nvSpPr>
        <p:spPr>
          <a:xfrm>
            <a:off x="822960" y="3227832"/>
            <a:ext cx="201168" cy="201168"/>
          </a:xfrm>
          <a:prstGeom prst="ellipse">
            <a:avLst/>
          </a:prstGeom>
          <a:solidFill>
            <a:srgbClr val="FF007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2</a:t>
            </a:r>
          </a:p>
        </p:txBody>
      </p:sp>
      <p:sp>
        <p:nvSpPr>
          <p:cNvPr id="13" name="TextBox 12"/>
          <p:cNvSpPr txBox="1"/>
          <p:nvPr/>
        </p:nvSpPr>
        <p:spPr>
          <a:xfrm>
            <a:off x="1115568" y="3200400"/>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A RedeemedOffer is created</a:t>
            </a:r>
          </a:p>
        </p:txBody>
      </p:sp>
      <p:sp>
        <p:nvSpPr>
          <p:cNvPr id="14" name="Oval 13"/>
          <p:cNvSpPr/>
          <p:nvPr/>
        </p:nvSpPr>
        <p:spPr>
          <a:xfrm>
            <a:off x="822960" y="3886200"/>
            <a:ext cx="201168" cy="201168"/>
          </a:xfrm>
          <a:prstGeom prst="ellipse">
            <a:avLst/>
          </a:prstGeom>
          <a:solidFill>
            <a:srgbClr val="FF007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3</a:t>
            </a:r>
          </a:p>
        </p:txBody>
      </p:sp>
      <p:sp>
        <p:nvSpPr>
          <p:cNvPr id="15" name="TextBox 14"/>
          <p:cNvSpPr txBox="1"/>
          <p:nvPr/>
        </p:nvSpPr>
        <p:spPr>
          <a:xfrm>
            <a:off x="1115568" y="3858768"/>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The claim cannot be repeated</a:t>
            </a:r>
          </a:p>
        </p:txBody>
      </p:sp>
      <p:sp>
        <p:nvSpPr>
          <p:cNvPr id="16" name="Rounded Rectangle 15"/>
          <p:cNvSpPr/>
          <p:nvPr/>
        </p:nvSpPr>
        <p:spPr>
          <a:xfrm>
            <a:off x="4338218" y="1517904"/>
            <a:ext cx="3515258" cy="30540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8218" y="1517904"/>
            <a:ext cx="3515258" cy="50292"/>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4250" y="1773936"/>
            <a:ext cx="3058058" cy="292608"/>
          </a:xfrm>
          <a:prstGeom prst="rect">
            <a:avLst/>
          </a:prstGeom>
          <a:noFill/>
        </p:spPr>
        <p:txBody>
          <a:bodyPr wrap="square" anchor="t" lIns="0" rIns="0" tIns="0" bIns="0">
            <a:spAutoFit/>
          </a:bodyPr>
          <a:lstStyle/>
          <a:p>
            <a:pPr algn="l">
              <a:lnSpc>
                <a:spcPct val="100000"/>
              </a:lnSpc>
              <a:spcAft>
                <a:spcPts val="0"/>
              </a:spcAft>
            </a:pPr>
            <a:r>
              <a:rPr sz="1400" b="1" i="0">
                <a:solidFill>
                  <a:srgbClr val="7F00FF"/>
                </a:solidFill>
                <a:latin typeface="Century Gothic"/>
              </a:rPr>
              <a:t>Buy N, get one</a:t>
            </a:r>
          </a:p>
        </p:txBody>
      </p:sp>
      <p:sp>
        <p:nvSpPr>
          <p:cNvPr id="19" name="TextBox 18"/>
          <p:cNvSpPr txBox="1"/>
          <p:nvPr/>
        </p:nvSpPr>
        <p:spPr>
          <a:xfrm>
            <a:off x="4594250" y="2121408"/>
            <a:ext cx="3058058" cy="256032"/>
          </a:xfrm>
          <a:prstGeom prst="rect">
            <a:avLst/>
          </a:prstGeom>
          <a:noFill/>
        </p:spPr>
        <p:txBody>
          <a:bodyPr wrap="square" anchor="t" lIns="0" rIns="0" tIns="0" bIns="0">
            <a:spAutoFit/>
          </a:bodyPr>
          <a:lstStyle/>
          <a:p>
            <a:pPr algn="l">
              <a:lnSpc>
                <a:spcPct val="100000"/>
              </a:lnSpc>
              <a:spcAft>
                <a:spcPts val="0"/>
              </a:spcAft>
            </a:pPr>
            <a:r>
              <a:rPr sz="950" b="0" i="0">
                <a:solidFill>
                  <a:srgbClr val="808080"/>
                </a:solidFill>
                <a:latin typeface="Century Gothic"/>
              </a:rPr>
              <a:t>Tracked on a stamp card.</a:t>
            </a:r>
          </a:p>
        </p:txBody>
      </p:sp>
      <p:sp>
        <p:nvSpPr>
          <p:cNvPr id="20" name="Oval 19"/>
          <p:cNvSpPr/>
          <p:nvPr/>
        </p:nvSpPr>
        <p:spPr>
          <a:xfrm>
            <a:off x="4594250" y="2569463"/>
            <a:ext cx="201168" cy="201168"/>
          </a:xfrm>
          <a:prstGeom prst="ellipse">
            <a:avLst/>
          </a:prstGeom>
          <a:solidFill>
            <a:srgbClr val="7F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1</a:t>
            </a:r>
          </a:p>
        </p:txBody>
      </p:sp>
      <p:sp>
        <p:nvSpPr>
          <p:cNvPr id="21" name="TextBox 20"/>
          <p:cNvSpPr txBox="1"/>
          <p:nvPr/>
        </p:nvSpPr>
        <p:spPr>
          <a:xfrm>
            <a:off x="4886858" y="2542032"/>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Each qualifying purchase adds a stamp</a:t>
            </a:r>
          </a:p>
        </p:txBody>
      </p:sp>
      <p:sp>
        <p:nvSpPr>
          <p:cNvPr id="22" name="Oval 21"/>
          <p:cNvSpPr/>
          <p:nvPr/>
        </p:nvSpPr>
        <p:spPr>
          <a:xfrm>
            <a:off x="4594250" y="3227832"/>
            <a:ext cx="201168" cy="201168"/>
          </a:xfrm>
          <a:prstGeom prst="ellipse">
            <a:avLst/>
          </a:prstGeom>
          <a:solidFill>
            <a:srgbClr val="7F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2</a:t>
            </a:r>
          </a:p>
        </p:txBody>
      </p:sp>
      <p:sp>
        <p:nvSpPr>
          <p:cNvPr id="23" name="TextBox 22"/>
          <p:cNvSpPr txBox="1"/>
          <p:nvPr/>
        </p:nvSpPr>
        <p:spPr>
          <a:xfrm>
            <a:off x="4886858" y="3200400"/>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At current_stamps = required_stamps the reward unlocks</a:t>
            </a:r>
          </a:p>
        </p:txBody>
      </p:sp>
      <p:sp>
        <p:nvSpPr>
          <p:cNvPr id="24" name="Oval 23"/>
          <p:cNvSpPr/>
          <p:nvPr/>
        </p:nvSpPr>
        <p:spPr>
          <a:xfrm>
            <a:off x="4594250" y="3886200"/>
            <a:ext cx="201168" cy="201168"/>
          </a:xfrm>
          <a:prstGeom prst="ellipse">
            <a:avLst/>
          </a:prstGeom>
          <a:solidFill>
            <a:srgbClr val="7F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3</a:t>
            </a:r>
          </a:p>
        </p:txBody>
      </p:sp>
      <p:sp>
        <p:nvSpPr>
          <p:cNvPr id="25" name="TextBox 24"/>
          <p:cNvSpPr txBox="1"/>
          <p:nvPr/>
        </p:nvSpPr>
        <p:spPr>
          <a:xfrm>
            <a:off x="4886858" y="3858768"/>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A reward RedeemedOffer is created and the card resets</a:t>
            </a:r>
          </a:p>
        </p:txBody>
      </p:sp>
      <p:sp>
        <p:nvSpPr>
          <p:cNvPr id="26" name="Rounded Rectangle 25"/>
          <p:cNvSpPr/>
          <p:nvPr/>
        </p:nvSpPr>
        <p:spPr>
          <a:xfrm>
            <a:off x="8109508" y="1517904"/>
            <a:ext cx="3515258" cy="30540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9508" y="1517904"/>
            <a:ext cx="3515258" cy="50292"/>
          </a:xfrm>
          <a:prstGeom prst="rect">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5540" y="1773936"/>
            <a:ext cx="3058058" cy="292608"/>
          </a:xfrm>
          <a:prstGeom prst="rect">
            <a:avLst/>
          </a:prstGeom>
          <a:noFill/>
        </p:spPr>
        <p:txBody>
          <a:bodyPr wrap="square" anchor="t" lIns="0" rIns="0" tIns="0" bIns="0">
            <a:spAutoFit/>
          </a:bodyPr>
          <a:lstStyle/>
          <a:p>
            <a:pPr algn="l">
              <a:lnSpc>
                <a:spcPct val="100000"/>
              </a:lnSpc>
              <a:spcAft>
                <a:spcPts val="0"/>
              </a:spcAft>
            </a:pPr>
            <a:r>
              <a:rPr sz="1400" b="1" i="0">
                <a:solidFill>
                  <a:srgbClr val="4B0082"/>
                </a:solidFill>
                <a:latin typeface="Century Gothic"/>
              </a:rPr>
              <a:t>Time-based</a:t>
            </a:r>
          </a:p>
        </p:txBody>
      </p:sp>
      <p:sp>
        <p:nvSpPr>
          <p:cNvPr id="29" name="TextBox 28"/>
          <p:cNvSpPr txBox="1"/>
          <p:nvPr/>
        </p:nvSpPr>
        <p:spPr>
          <a:xfrm>
            <a:off x="8365540" y="2121408"/>
            <a:ext cx="3058058" cy="256032"/>
          </a:xfrm>
          <a:prstGeom prst="rect">
            <a:avLst/>
          </a:prstGeom>
          <a:noFill/>
        </p:spPr>
        <p:txBody>
          <a:bodyPr wrap="square" anchor="t" lIns="0" rIns="0" tIns="0" bIns="0">
            <a:spAutoFit/>
          </a:bodyPr>
          <a:lstStyle/>
          <a:p>
            <a:pPr algn="l">
              <a:lnSpc>
                <a:spcPct val="100000"/>
              </a:lnSpc>
              <a:spcAft>
                <a:spcPts val="0"/>
              </a:spcAft>
            </a:pPr>
            <a:r>
              <a:rPr sz="950" b="0" i="0">
                <a:solidFill>
                  <a:srgbClr val="808080"/>
                </a:solidFill>
                <a:latin typeface="Century Gothic"/>
              </a:rPr>
              <a:t>Only inside the window.</a:t>
            </a:r>
          </a:p>
        </p:txBody>
      </p:sp>
      <p:sp>
        <p:nvSpPr>
          <p:cNvPr id="30" name="Oval 29"/>
          <p:cNvSpPr/>
          <p:nvPr/>
        </p:nvSpPr>
        <p:spPr>
          <a:xfrm>
            <a:off x="8365540" y="2569463"/>
            <a:ext cx="201168" cy="201168"/>
          </a:xfrm>
          <a:prstGeom prst="ellipse">
            <a:avLst/>
          </a:prstGeom>
          <a:solidFill>
            <a:srgbClr val="4B00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1</a:t>
            </a:r>
          </a:p>
        </p:txBody>
      </p:sp>
      <p:sp>
        <p:nvSpPr>
          <p:cNvPr id="31" name="TextBox 30"/>
          <p:cNvSpPr txBox="1"/>
          <p:nvPr/>
        </p:nvSpPr>
        <p:spPr>
          <a:xfrm>
            <a:off x="8658148" y="2542032"/>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Redeemable only between valid_from and valid_until</a:t>
            </a:r>
          </a:p>
        </p:txBody>
      </p:sp>
      <p:sp>
        <p:nvSpPr>
          <p:cNvPr id="32" name="Oval 31"/>
          <p:cNvSpPr/>
          <p:nvPr/>
        </p:nvSpPr>
        <p:spPr>
          <a:xfrm>
            <a:off x="8365540" y="3227832"/>
            <a:ext cx="201168" cy="201168"/>
          </a:xfrm>
          <a:prstGeom prst="ellipse">
            <a:avLst/>
          </a:prstGeom>
          <a:solidFill>
            <a:srgbClr val="4B00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2</a:t>
            </a:r>
          </a:p>
        </p:txBody>
      </p:sp>
      <p:sp>
        <p:nvSpPr>
          <p:cNvPr id="33" name="TextBox 32"/>
          <p:cNvSpPr txBox="1"/>
          <p:nvPr/>
        </p:nvSpPr>
        <p:spPr>
          <a:xfrm>
            <a:off x="8658148" y="3200400"/>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Outside the window the action is blocked</a:t>
            </a:r>
          </a:p>
        </p:txBody>
      </p:sp>
      <p:sp>
        <p:nvSpPr>
          <p:cNvPr id="34" name="Oval 33"/>
          <p:cNvSpPr/>
          <p:nvPr/>
        </p:nvSpPr>
        <p:spPr>
          <a:xfrm>
            <a:off x="8365540" y="3886200"/>
            <a:ext cx="201168" cy="201168"/>
          </a:xfrm>
          <a:prstGeom prst="ellipse">
            <a:avLst/>
          </a:prstGeom>
          <a:solidFill>
            <a:srgbClr val="4B00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750" b="1">
                <a:solidFill>
                  <a:srgbClr val="FFFFFF"/>
                </a:solidFill>
                <a:latin typeface="Century Gothic"/>
              </a:rPr>
              <a:t>3</a:t>
            </a:r>
          </a:p>
        </p:txBody>
      </p:sp>
      <p:sp>
        <p:nvSpPr>
          <p:cNvPr id="35" name="TextBox 34"/>
          <p:cNvSpPr txBox="1"/>
          <p:nvPr/>
        </p:nvSpPr>
        <p:spPr>
          <a:xfrm>
            <a:off x="8658148" y="3858768"/>
            <a:ext cx="2692298" cy="566928"/>
          </a:xfrm>
          <a:prstGeom prst="rect">
            <a:avLst/>
          </a:prstGeom>
          <a:noFill/>
        </p:spPr>
        <p:txBody>
          <a:bodyPr wrap="square" anchor="t" lIns="0" rIns="0" tIns="0" bIns="0">
            <a:spAutoFit/>
          </a:bodyPr>
          <a:lstStyle/>
          <a:p>
            <a:pPr algn="l">
              <a:lnSpc>
                <a:spcPct val="118000"/>
              </a:lnSpc>
              <a:spcAft>
                <a:spcPts val="0"/>
              </a:spcAft>
            </a:pPr>
            <a:r>
              <a:rPr sz="919" b="0" i="0">
                <a:solidFill>
                  <a:srgbClr val="3A3A3A"/>
                </a:solidFill>
                <a:latin typeface="Century Gothic"/>
              </a:rPr>
              <a:t>A RedeemedOffer is created on success</a:t>
            </a:r>
          </a:p>
        </p:txBody>
      </p:sp>
      <p:sp>
        <p:nvSpPr>
          <p:cNvPr id="36" name="Rounded Rectangle 35"/>
          <p:cNvSpPr/>
          <p:nvPr/>
        </p:nvSpPr>
        <p:spPr>
          <a:xfrm>
            <a:off x="566928" y="4828032"/>
            <a:ext cx="11055096" cy="804672"/>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4828032"/>
            <a:ext cx="45720" cy="80467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956048"/>
            <a:ext cx="10689336" cy="585216"/>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Every redemption is visible to the owning merchant. It is MERCHANT-CONFIRMED at the venue: the merchant holds/enters the redemption code. RedeemedOffer starts pending and becomes confirmed only when the merchant confirms (confirmed_by, confirmed_at).</a:t>
            </a:r>
          </a:p>
        </p:txBody>
      </p:sp>
      <p:pic>
        <p:nvPicPr>
          <p:cNvPr id="39" name="Picture 38" descr="footer_bar.png"/>
          <p:cNvPicPr>
            <a:picLocks noChangeAspect="1"/>
          </p:cNvPicPr>
          <p:nvPr/>
        </p:nvPicPr>
        <p:blipFill>
          <a:blip r:embed="rId4"/>
          <a:stretch>
            <a:fillRect/>
          </a:stretch>
        </p:blipFill>
        <p:spPr>
          <a:xfrm>
            <a:off x="7260336" y="5861304"/>
            <a:ext cx="4928616" cy="491032"/>
          </a:xfrm>
          <a:prstGeom prst="rect">
            <a:avLst/>
          </a:prstGeom>
        </p:spPr>
      </p:pic>
      <p:sp>
        <p:nvSpPr>
          <p:cNvPr id="40" name="TextBox 39"/>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a.png"/>
          <p:cNvPicPr>
            <a:picLocks noChangeAspect="1"/>
          </p:cNvPicPr>
          <p:nvPr/>
        </p:nvPicPr>
        <p:blipFill>
          <a:blip r:embed="rId3"/>
          <a:stretch>
            <a:fillRect/>
          </a:stretch>
        </p:blipFill>
        <p:spPr>
          <a:xfrm>
            <a:off x="10436047" y="457200"/>
            <a:ext cx="1188720" cy="471889"/>
          </a:xfrm>
          <a:prstGeom prst="rect">
            <a:avLst/>
          </a:prstGeom>
        </p:spPr>
      </p:pic>
      <p:sp>
        <p:nvSpPr>
          <p:cNvPr id="4" name="TextBox 3"/>
          <p:cNvSpPr txBox="1"/>
          <p:nvPr/>
        </p:nvSpPr>
        <p:spPr>
          <a:xfrm>
            <a:off x="886968" y="2212848"/>
            <a:ext cx="2743200" cy="1188720"/>
          </a:xfrm>
          <a:prstGeom prst="rect">
            <a:avLst/>
          </a:prstGeom>
          <a:noFill/>
        </p:spPr>
        <p:txBody>
          <a:bodyPr wrap="square" anchor="t" lIns="0" rIns="0" tIns="0" bIns="0">
            <a:spAutoFit/>
          </a:bodyPr>
          <a:lstStyle/>
          <a:p>
            <a:pPr algn="l">
              <a:lnSpc>
                <a:spcPct val="100000"/>
              </a:lnSpc>
              <a:spcAft>
                <a:spcPts val="0"/>
              </a:spcAft>
            </a:pPr>
            <a:r>
              <a:rPr sz="7600" b="1" i="0">
                <a:solidFill>
                  <a:srgbClr val="FFFFFF"/>
                </a:solidFill>
                <a:latin typeface="Century Gothic"/>
              </a:rPr>
              <a:t>03</a:t>
            </a:r>
          </a:p>
        </p:txBody>
      </p:sp>
      <p:sp>
        <p:nvSpPr>
          <p:cNvPr id="5" name="Rectangle 4"/>
          <p:cNvSpPr/>
          <p:nvPr/>
        </p:nvSpPr>
        <p:spPr>
          <a:xfrm>
            <a:off x="950976" y="3310128"/>
            <a:ext cx="960120" cy="411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3584448"/>
            <a:ext cx="7863840" cy="640080"/>
          </a:xfrm>
          <a:prstGeom prst="rect">
            <a:avLst/>
          </a:prstGeom>
          <a:noFill/>
        </p:spPr>
        <p:txBody>
          <a:bodyPr wrap="square" anchor="t" lIns="0" rIns="0" tIns="0" bIns="0">
            <a:spAutoFit/>
          </a:bodyPr>
          <a:lstStyle/>
          <a:p>
            <a:pPr algn="l">
              <a:lnSpc>
                <a:spcPct val="100000"/>
              </a:lnSpc>
              <a:spcAft>
                <a:spcPts val="0"/>
              </a:spcAft>
            </a:pPr>
            <a:r>
              <a:rPr sz="3300" b="0" i="0">
                <a:solidFill>
                  <a:srgbClr val="FFFFFF"/>
                </a:solidFill>
                <a:latin typeface="Century Gothic"/>
              </a:rPr>
              <a:t>The Supply Side</a:t>
            </a:r>
          </a:p>
        </p:txBody>
      </p:sp>
      <p:sp>
        <p:nvSpPr>
          <p:cNvPr id="7" name="TextBox 6"/>
          <p:cNvSpPr txBox="1"/>
          <p:nvPr/>
        </p:nvSpPr>
        <p:spPr>
          <a:xfrm>
            <a:off x="914400" y="4315968"/>
            <a:ext cx="7498079" cy="411480"/>
          </a:xfrm>
          <a:prstGeom prst="rect">
            <a:avLst/>
          </a:prstGeom>
          <a:noFill/>
        </p:spPr>
        <p:txBody>
          <a:bodyPr wrap="square" anchor="t" lIns="0" rIns="0" tIns="0" bIns="0">
            <a:spAutoFit/>
          </a:bodyPr>
          <a:lstStyle/>
          <a:p>
            <a:pPr algn="l">
              <a:lnSpc>
                <a:spcPct val="100000"/>
              </a:lnSpc>
              <a:spcAft>
                <a:spcPts val="0"/>
              </a:spcAft>
            </a:pPr>
            <a:r>
              <a:rPr sz="1250" b="0" i="0">
                <a:solidFill>
                  <a:srgbClr val="F0DCEE"/>
                </a:solidFill>
                <a:latin typeface="Century Gothic"/>
              </a:rPr>
              <a:t>Merchants and influencers do not sign themselves up. A Super Admin or Merchant Manager creates them.</a:t>
            </a:r>
          </a:p>
        </p:txBody>
      </p:sp>
      <p:pic>
        <p:nvPicPr>
          <p:cNvPr id="8" name="Picture 7" descr="footer_bar.png"/>
          <p:cNvPicPr>
            <a:picLocks noChangeAspect="1"/>
          </p:cNvPicPr>
          <p:nvPr/>
        </p:nvPicPr>
        <p:blipFill>
          <a:blip r:embed="rId4"/>
          <a:stretch>
            <a:fillRect/>
          </a:stretch>
        </p:blipFill>
        <p:spPr>
          <a:xfrm>
            <a:off x="7260336" y="5861304"/>
            <a:ext cx="4928616" cy="491032"/>
          </a:xfrm>
          <a:prstGeom prst="rect">
            <a:avLst/>
          </a:prstGeom>
        </p:spPr>
      </p:pic>
      <p:sp>
        <p:nvSpPr>
          <p:cNvPr id="9" name="TextBox 8"/>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Admin-Provisioned Onboarding</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There is no public signup screen for a merchant or an influencer</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TextBox 6"/>
          <p:cNvSpPr txBox="1"/>
          <p:nvPr/>
        </p:nvSpPr>
        <p:spPr>
          <a:xfrm>
            <a:off x="566928" y="1444752"/>
            <a:ext cx="5486400" cy="274320"/>
          </a:xfrm>
          <a:prstGeom prst="rect">
            <a:avLst/>
          </a:prstGeom>
          <a:noFill/>
        </p:spPr>
        <p:txBody>
          <a:bodyPr wrap="square" anchor="t" lIns="0" rIns="0" tIns="0" bIns="0">
            <a:spAutoFit/>
          </a:bodyPr>
          <a:lstStyle/>
          <a:p>
            <a:pPr algn="l">
              <a:lnSpc>
                <a:spcPct val="100000"/>
              </a:lnSpc>
              <a:spcAft>
                <a:spcPts val="0"/>
              </a:spcAft>
            </a:pPr>
            <a:r>
              <a:rPr sz="1300" b="1" i="0">
                <a:solidFill>
                  <a:srgbClr val="FF007F"/>
                </a:solidFill>
                <a:latin typeface="Century Gothic"/>
              </a:rPr>
              <a:t>Merchant onboarding</a:t>
            </a:r>
          </a:p>
        </p:txBody>
      </p:sp>
      <p:sp>
        <p:nvSpPr>
          <p:cNvPr id="8" name="Chevron 7"/>
          <p:cNvSpPr/>
          <p:nvPr/>
        </p:nvSpPr>
        <p:spPr>
          <a:xfrm>
            <a:off x="566928" y="1810512"/>
            <a:ext cx="1046073" cy="804672"/>
          </a:xfrm>
          <a:prstGeom prst="chevron">
            <a:avLst>
              <a:gd name="adj" fmla="val 22000"/>
            </a:avLst>
          </a:prstGeom>
          <a:gradFill rotWithShape="1">
            <a:gsLst>
              <a:gs pos="0">
                <a:srgbClr val="FF007F"/>
              </a:gs>
              <a:gs pos="100000">
                <a:srgbClr val="E8009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Admin creates
the account</a:t>
            </a:r>
          </a:p>
        </p:txBody>
      </p:sp>
      <p:sp>
        <p:nvSpPr>
          <p:cNvPr id="9" name="Chevron 8"/>
          <p:cNvSpPr/>
          <p:nvPr/>
        </p:nvSpPr>
        <p:spPr>
          <a:xfrm>
            <a:off x="1654149" y="1810512"/>
            <a:ext cx="1046073" cy="804672"/>
          </a:xfrm>
          <a:prstGeom prst="chevron">
            <a:avLst>
              <a:gd name="adj" fmla="val 22000"/>
            </a:avLst>
          </a:prstGeom>
          <a:gradFill rotWithShape="1">
            <a:gsLst>
              <a:gs pos="0">
                <a:srgbClr val="DF009F"/>
              </a:gs>
              <a:gs pos="100000">
                <a:srgbClr val="C800B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Admin uploads
KYC files</a:t>
            </a:r>
          </a:p>
        </p:txBody>
      </p:sp>
      <p:sp>
        <p:nvSpPr>
          <p:cNvPr id="10" name="Chevron 9"/>
          <p:cNvSpPr/>
          <p:nvPr/>
        </p:nvSpPr>
        <p:spPr>
          <a:xfrm>
            <a:off x="2741371" y="1810512"/>
            <a:ext cx="1046073" cy="804672"/>
          </a:xfrm>
          <a:prstGeom prst="chevron">
            <a:avLst>
              <a:gd name="adj" fmla="val 22000"/>
            </a:avLst>
          </a:prstGeom>
          <a:gradFill rotWithShape="1">
            <a:gsLst>
              <a:gs pos="0">
                <a:srgbClr val="BF00BF"/>
              </a:gs>
              <a:gs pos="100000">
                <a:srgbClr val="A800D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kyc_verified
set true</a:t>
            </a:r>
          </a:p>
        </p:txBody>
      </p:sp>
      <p:sp>
        <p:nvSpPr>
          <p:cNvPr id="11" name="Chevron 10"/>
          <p:cNvSpPr/>
          <p:nvPr/>
        </p:nvSpPr>
        <p:spPr>
          <a:xfrm>
            <a:off x="3828592" y="1810512"/>
            <a:ext cx="1046073" cy="804672"/>
          </a:xfrm>
          <a:prstGeom prst="chevron">
            <a:avLst>
              <a:gd name="adj" fmla="val 22000"/>
            </a:avLst>
          </a:prstGeom>
          <a:gradFill rotWithShape="1">
            <a:gsLst>
              <a:gs pos="0">
                <a:srgbClr val="9F00DF"/>
              </a:gs>
              <a:gs pos="100000">
                <a:srgbClr val="8800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Admin
approves</a:t>
            </a:r>
          </a:p>
        </p:txBody>
      </p:sp>
      <p:sp>
        <p:nvSpPr>
          <p:cNvPr id="12" name="Chevron 11"/>
          <p:cNvSpPr/>
          <p:nvPr/>
        </p:nvSpPr>
        <p:spPr>
          <a:xfrm>
            <a:off x="4915814" y="1810512"/>
            <a:ext cx="1046073" cy="804672"/>
          </a:xfrm>
          <a:prstGeom prst="chevron">
            <a:avLst>
              <a:gd name="adj" fmla="val 22000"/>
            </a:avLst>
          </a:prstGeom>
          <a:gradFill rotWithShape="1">
            <a:gsLst>
              <a:gs pos="0">
                <a:srgbClr val="7F00F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Dashboard &amp;
storefront unlock</a:t>
            </a:r>
          </a:p>
        </p:txBody>
      </p:sp>
      <p:sp>
        <p:nvSpPr>
          <p:cNvPr id="13" name="TextBox 12"/>
          <p:cNvSpPr txBox="1"/>
          <p:nvPr/>
        </p:nvSpPr>
        <p:spPr>
          <a:xfrm>
            <a:off x="566928" y="2798064"/>
            <a:ext cx="5394960" cy="1097280"/>
          </a:xfrm>
          <a:prstGeom prst="rect">
            <a:avLst/>
          </a:prstGeom>
          <a:noFill/>
        </p:spPr>
        <p:txBody>
          <a:bodyPr wrap="square" lIns="0" rIns="0" tIns="0" bIns="0">
            <a:spAutoFit/>
          </a:bodyPr>
          <a:lstStyle/>
          <a:p>
            <a:pPr marL="155448" indent="-155448">
              <a:lnSpc>
                <a:spcPct val="115000"/>
              </a:lnSpc>
              <a:spcAft>
                <a:spcPts val="700"/>
              </a:spcAft>
              <a:buClr>
                <a:srgbClr val="FF007F"/>
              </a:buClr>
              <a:buChar char="–"/>
            </a:pPr>
            <a:r>
              <a:rPr sz="919">
                <a:solidFill>
                  <a:srgbClr val="3A3A3A"/>
                </a:solidFill>
                <a:latin typeface="Century Gothic"/>
              </a:rPr>
              <a:t>Business name, category, registration number, address</a:t>
            </a:r>
          </a:p>
          <a:p>
            <a:pPr marL="155448" indent="-155448">
              <a:lnSpc>
                <a:spcPct val="115000"/>
              </a:lnSpc>
              <a:spcAft>
                <a:spcPts val="700"/>
              </a:spcAft>
              <a:buClr>
                <a:srgbClr val="FF007F"/>
              </a:buClr>
              <a:buChar char="–"/>
            </a:pPr>
            <a:r>
              <a:rPr sz="919">
                <a:solidFill>
                  <a:srgbClr val="3A3A3A"/>
                </a:solidFill>
                <a:latin typeface="Century Gothic"/>
              </a:rPr>
              <a:t>Builds its marketplace storefront and its offers</a:t>
            </a:r>
          </a:p>
          <a:p>
            <a:pPr marL="155448" indent="-155448">
              <a:lnSpc>
                <a:spcPct val="115000"/>
              </a:lnSpc>
              <a:spcAft>
                <a:spcPts val="700"/>
              </a:spcAft>
              <a:buClr>
                <a:srgbClr val="FF007F"/>
              </a:buClr>
              <a:buChar char="–"/>
            </a:pPr>
            <a:r>
              <a:rPr sz="919">
                <a:solidFill>
                  <a:srgbClr val="3A3A3A"/>
                </a:solidFill>
                <a:latin typeface="Century Gothic"/>
              </a:rPr>
              <a:t>No money is paid to or collected from merchants in Phase 1</a:t>
            </a:r>
          </a:p>
        </p:txBody>
      </p:sp>
      <p:sp>
        <p:nvSpPr>
          <p:cNvPr id="14" name="TextBox 13"/>
          <p:cNvSpPr txBox="1"/>
          <p:nvPr/>
        </p:nvSpPr>
        <p:spPr>
          <a:xfrm>
            <a:off x="6400800" y="1444752"/>
            <a:ext cx="52120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7F00FF"/>
                </a:solidFill>
                <a:latin typeface="Century Gothic"/>
              </a:rPr>
              <a:t>Influencer onboarding</a:t>
            </a:r>
          </a:p>
        </p:txBody>
      </p:sp>
      <p:sp>
        <p:nvSpPr>
          <p:cNvPr id="15" name="Chevron 14"/>
          <p:cNvSpPr/>
          <p:nvPr/>
        </p:nvSpPr>
        <p:spPr>
          <a:xfrm>
            <a:off x="6400800" y="1810512"/>
            <a:ext cx="1011326" cy="804672"/>
          </a:xfrm>
          <a:prstGeom prst="chevron">
            <a:avLst>
              <a:gd name="adj" fmla="val 22000"/>
            </a:avLst>
          </a:prstGeom>
          <a:gradFill rotWithShape="1">
            <a:gsLst>
              <a:gs pos="0">
                <a:srgbClr val="FF007F"/>
              </a:gs>
              <a:gs pos="100000">
                <a:srgbClr val="E8009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Admin creates
the account</a:t>
            </a:r>
          </a:p>
        </p:txBody>
      </p:sp>
      <p:sp>
        <p:nvSpPr>
          <p:cNvPr id="16" name="Chevron 15"/>
          <p:cNvSpPr/>
          <p:nvPr/>
        </p:nvSpPr>
        <p:spPr>
          <a:xfrm>
            <a:off x="7453274" y="1810512"/>
            <a:ext cx="1011326" cy="804672"/>
          </a:xfrm>
          <a:prstGeom prst="chevron">
            <a:avLst>
              <a:gd name="adj" fmla="val 22000"/>
            </a:avLst>
          </a:prstGeom>
          <a:gradFill rotWithShape="1">
            <a:gsLst>
              <a:gs pos="0">
                <a:srgbClr val="DF009F"/>
              </a:gs>
              <a:gs pos="100000">
                <a:srgbClr val="C800B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Admin uploads
KYC files</a:t>
            </a:r>
          </a:p>
        </p:txBody>
      </p:sp>
      <p:sp>
        <p:nvSpPr>
          <p:cNvPr id="17" name="Chevron 16"/>
          <p:cNvSpPr/>
          <p:nvPr/>
        </p:nvSpPr>
        <p:spPr>
          <a:xfrm>
            <a:off x="8505748" y="1810512"/>
            <a:ext cx="1011326" cy="804672"/>
          </a:xfrm>
          <a:prstGeom prst="chevron">
            <a:avLst>
              <a:gd name="adj" fmla="val 22000"/>
            </a:avLst>
          </a:prstGeom>
          <a:gradFill rotWithShape="1">
            <a:gsLst>
              <a:gs pos="0">
                <a:srgbClr val="BF00BF"/>
              </a:gs>
              <a:gs pos="100000">
                <a:srgbClr val="A800D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kyc_verified
set true</a:t>
            </a:r>
          </a:p>
        </p:txBody>
      </p:sp>
      <p:sp>
        <p:nvSpPr>
          <p:cNvPr id="18" name="Chevron 17"/>
          <p:cNvSpPr/>
          <p:nvPr/>
        </p:nvSpPr>
        <p:spPr>
          <a:xfrm>
            <a:off x="9558223" y="1810512"/>
            <a:ext cx="1011326" cy="804672"/>
          </a:xfrm>
          <a:prstGeom prst="chevron">
            <a:avLst>
              <a:gd name="adj" fmla="val 22000"/>
            </a:avLst>
          </a:prstGeom>
          <a:gradFill rotWithShape="1">
            <a:gsLst>
              <a:gs pos="0">
                <a:srgbClr val="9F00DF"/>
              </a:gs>
              <a:gs pos="100000">
                <a:srgbClr val="8800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Admin
approves</a:t>
            </a:r>
          </a:p>
        </p:txBody>
      </p:sp>
      <p:sp>
        <p:nvSpPr>
          <p:cNvPr id="19" name="Chevron 18"/>
          <p:cNvSpPr/>
          <p:nvPr/>
        </p:nvSpPr>
        <p:spPr>
          <a:xfrm>
            <a:off x="10610697" y="1810512"/>
            <a:ext cx="1011326" cy="804672"/>
          </a:xfrm>
          <a:prstGeom prst="chevron">
            <a:avLst>
              <a:gd name="adj" fmla="val 22000"/>
            </a:avLst>
          </a:prstGeom>
          <a:gradFill rotWithShape="1">
            <a:gsLst>
              <a:gs pos="0">
                <a:srgbClr val="7F00F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780" b="1">
                <a:solidFill>
                  <a:srgbClr val="FFFFFF"/>
                </a:solidFill>
                <a:latin typeface="Century Gothic"/>
              </a:rPr>
              <a:t>Codes &amp; trackers
unlock</a:t>
            </a:r>
          </a:p>
        </p:txBody>
      </p:sp>
      <p:sp>
        <p:nvSpPr>
          <p:cNvPr id="20" name="TextBox 19"/>
          <p:cNvSpPr txBox="1"/>
          <p:nvPr/>
        </p:nvSpPr>
        <p:spPr>
          <a:xfrm>
            <a:off x="6400800" y="2798064"/>
            <a:ext cx="5212080" cy="1097280"/>
          </a:xfrm>
          <a:prstGeom prst="rect">
            <a:avLst/>
          </a:prstGeom>
          <a:noFill/>
        </p:spPr>
        <p:txBody>
          <a:bodyPr wrap="square" lIns="0" rIns="0" tIns="0" bIns="0">
            <a:spAutoFit/>
          </a:bodyPr>
          <a:lstStyle/>
          <a:p>
            <a:pPr marL="155448" indent="-155448">
              <a:lnSpc>
                <a:spcPct val="115000"/>
              </a:lnSpc>
              <a:spcAft>
                <a:spcPts val="700"/>
              </a:spcAft>
              <a:buClr>
                <a:srgbClr val="7F00FF"/>
              </a:buClr>
              <a:buChar char="–"/>
            </a:pPr>
            <a:r>
              <a:rPr sz="919">
                <a:solidFill>
                  <a:srgbClr val="3A3A3A"/>
                </a:solidFill>
                <a:latin typeface="Century Gothic"/>
              </a:rPr>
              <a:t>Contract agreed off-platform, then the account is created</a:t>
            </a:r>
          </a:p>
          <a:p>
            <a:pPr marL="155448" indent="-155448">
              <a:lnSpc>
                <a:spcPct val="115000"/>
              </a:lnSpc>
              <a:spcAft>
                <a:spcPts val="700"/>
              </a:spcAft>
              <a:buClr>
                <a:srgbClr val="7F00FF"/>
              </a:buClr>
              <a:buChar char="–"/>
            </a:pPr>
            <a:r>
              <a:rPr sz="919">
                <a:solidFill>
                  <a:srgbClr val="3A3A3A"/>
                </a:solidFill>
                <a:latin typeface="Century Gothic"/>
              </a:rPr>
              <a:t>Gets a reusable promo code in their dashboard</a:t>
            </a:r>
          </a:p>
          <a:p>
            <a:pPr marL="155448" indent="-155448">
              <a:lnSpc>
                <a:spcPct val="115000"/>
              </a:lnSpc>
              <a:spcAft>
                <a:spcPts val="700"/>
              </a:spcAft>
              <a:buClr>
                <a:srgbClr val="7F00FF"/>
              </a:buClr>
              <a:buChar char="–"/>
            </a:pPr>
            <a:r>
              <a:rPr sz="919">
                <a:solidFill>
                  <a:srgbClr val="3A3A3A"/>
                </a:solidFill>
                <a:latin typeface="Century Gothic"/>
              </a:rPr>
              <a:t>KYC must be verified before any payout can be authorised</a:t>
            </a:r>
          </a:p>
        </p:txBody>
      </p:sp>
      <p:sp>
        <p:nvSpPr>
          <p:cNvPr id="21" name="Rectangle 20"/>
          <p:cNvSpPr/>
          <p:nvPr/>
        </p:nvSpPr>
        <p:spPr>
          <a:xfrm>
            <a:off x="566928" y="3968496"/>
            <a:ext cx="11057839" cy="9144"/>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151376"/>
            <a:ext cx="11057839"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Two switches, not one</a:t>
            </a:r>
          </a:p>
        </p:txBody>
      </p:sp>
      <p:sp>
        <p:nvSpPr>
          <p:cNvPr id="23" name="Rounded Rectangle 22"/>
          <p:cNvSpPr/>
          <p:nvPr/>
        </p:nvSpPr>
        <p:spPr>
          <a:xfrm>
            <a:off x="566928" y="4535424"/>
            <a:ext cx="3539642" cy="402336"/>
          </a:xfrm>
          <a:prstGeom prst="roundRect">
            <a:avLst>
              <a:gd name="adj" fmla="val 50000"/>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3A3A3A"/>
                </a:solidFill>
                <a:latin typeface="Century Gothic"/>
              </a:rPr>
              <a:t>created_by_admin</a:t>
            </a:r>
          </a:p>
        </p:txBody>
      </p:sp>
      <p:sp>
        <p:nvSpPr>
          <p:cNvPr id="24" name="TextBox 23"/>
          <p:cNvSpPr txBox="1"/>
          <p:nvPr/>
        </p:nvSpPr>
        <p:spPr>
          <a:xfrm>
            <a:off x="621792" y="5047488"/>
            <a:ext cx="3429914" cy="822960"/>
          </a:xfrm>
          <a:prstGeom prst="rect">
            <a:avLst/>
          </a:prstGeom>
          <a:noFill/>
        </p:spPr>
        <p:txBody>
          <a:bodyPr wrap="square" anchor="t" lIns="0" rIns="0" tIns="0" bIns="0">
            <a:spAutoFit/>
          </a:bodyPr>
          <a:lstStyle/>
          <a:p>
            <a:pPr algn="l">
              <a:lnSpc>
                <a:spcPct val="120000"/>
              </a:lnSpc>
              <a:spcAft>
                <a:spcPts val="0"/>
              </a:spcAft>
            </a:pPr>
            <a:r>
              <a:rPr sz="919" b="0" i="0">
                <a:solidFill>
                  <a:srgbClr val="3A3A3A"/>
                </a:solidFill>
                <a:latin typeface="Century Gothic"/>
              </a:rPr>
              <a:t>The account exists only because an admin made it. There is no self-registration route.</a:t>
            </a:r>
          </a:p>
        </p:txBody>
      </p:sp>
      <p:sp>
        <p:nvSpPr>
          <p:cNvPr id="25" name="Rounded Rectangle 24"/>
          <p:cNvSpPr/>
          <p:nvPr/>
        </p:nvSpPr>
        <p:spPr>
          <a:xfrm>
            <a:off x="4326026" y="4535424"/>
            <a:ext cx="3539642" cy="402336"/>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approval_status</a:t>
            </a:r>
          </a:p>
        </p:txBody>
      </p:sp>
      <p:sp>
        <p:nvSpPr>
          <p:cNvPr id="26" name="TextBox 25"/>
          <p:cNvSpPr txBox="1"/>
          <p:nvPr/>
        </p:nvSpPr>
        <p:spPr>
          <a:xfrm>
            <a:off x="4380890" y="5047488"/>
            <a:ext cx="3429914" cy="822960"/>
          </a:xfrm>
          <a:prstGeom prst="rect">
            <a:avLst/>
          </a:prstGeom>
          <a:noFill/>
        </p:spPr>
        <p:txBody>
          <a:bodyPr wrap="square" anchor="t" lIns="0" rIns="0" tIns="0" bIns="0">
            <a:spAutoFit/>
          </a:bodyPr>
          <a:lstStyle/>
          <a:p>
            <a:pPr algn="l">
              <a:lnSpc>
                <a:spcPct val="120000"/>
              </a:lnSpc>
              <a:spcAft>
                <a:spcPts val="0"/>
              </a:spcAft>
            </a:pPr>
            <a:r>
              <a:rPr sz="919" b="0" i="0">
                <a:solidFill>
                  <a:srgbClr val="3A3A3A"/>
                </a:solidFill>
                <a:latin typeface="Century Gothic"/>
              </a:rPr>
              <a:t>pending → approved. Stamped with approved_by and approved_at. Unlocks the role's capabilities.</a:t>
            </a:r>
          </a:p>
        </p:txBody>
      </p:sp>
      <p:sp>
        <p:nvSpPr>
          <p:cNvPr id="27" name="Rounded Rectangle 26"/>
          <p:cNvSpPr/>
          <p:nvPr/>
        </p:nvSpPr>
        <p:spPr>
          <a:xfrm>
            <a:off x="8085124" y="4535424"/>
            <a:ext cx="3539642" cy="402336"/>
          </a:xfrm>
          <a:prstGeom prst="roundRect">
            <a:avLst>
              <a:gd name="adj" fmla="val 50000"/>
            </a:avLst>
          </a:prstGeom>
          <a:gradFill rotWithShape="1">
            <a:gsLst>
              <a:gs pos="0">
                <a:srgbClr val="7F00FF"/>
              </a:gs>
              <a:gs pos="100000">
                <a:srgbClr val="4B00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kyc_verified</a:t>
            </a:r>
          </a:p>
        </p:txBody>
      </p:sp>
      <p:sp>
        <p:nvSpPr>
          <p:cNvPr id="28" name="TextBox 27"/>
          <p:cNvSpPr txBox="1"/>
          <p:nvPr/>
        </p:nvSpPr>
        <p:spPr>
          <a:xfrm>
            <a:off x="8139988" y="5047488"/>
            <a:ext cx="3429914" cy="822960"/>
          </a:xfrm>
          <a:prstGeom prst="rect">
            <a:avLst/>
          </a:prstGeom>
          <a:noFill/>
        </p:spPr>
        <p:txBody>
          <a:bodyPr wrap="square" anchor="t" lIns="0" rIns="0" tIns="0" bIns="0">
            <a:spAutoFit/>
          </a:bodyPr>
          <a:lstStyle/>
          <a:p>
            <a:pPr algn="l">
              <a:lnSpc>
                <a:spcPct val="120000"/>
              </a:lnSpc>
              <a:spcAft>
                <a:spcPts val="0"/>
              </a:spcAft>
            </a:pPr>
            <a:r>
              <a:rPr sz="919" b="0" i="0">
                <a:solidFill>
                  <a:srgbClr val="3A3A3A"/>
                </a:solidFill>
                <a:latin typeface="Century Gothic"/>
              </a:rPr>
              <a:t>The compliance switch. False blocks payouts, regardless of approval status.</a:t>
            </a:r>
          </a:p>
        </p:txBody>
      </p:sp>
      <p:pic>
        <p:nvPicPr>
          <p:cNvPr id="29" name="Picture 28"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0" name="TextBox 29"/>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KYC — Know Your Customer</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Merchants and influencers carry a KYC flag and a file of supporting documents</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Chevron 6"/>
          <p:cNvSpPr/>
          <p:nvPr/>
        </p:nvSpPr>
        <p:spPr>
          <a:xfrm>
            <a:off x="566928" y="1444752"/>
            <a:ext cx="2178649" cy="749808"/>
          </a:xfrm>
          <a:prstGeom prst="chevron">
            <a:avLst>
              <a:gd name="adj" fmla="val 22000"/>
            </a:avLst>
          </a:prstGeom>
          <a:gradFill rotWithShape="1">
            <a:gsLst>
              <a:gs pos="0">
                <a:srgbClr val="FF007F"/>
              </a:gs>
              <a:gs pos="100000">
                <a:srgbClr val="E8009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050" b="1">
                <a:solidFill>
                  <a:srgbClr val="FFFFFF"/>
                </a:solidFill>
                <a:latin typeface="Century Gothic"/>
              </a:rPr>
              <a:t>not_started</a:t>
            </a:r>
          </a:p>
        </p:txBody>
      </p:sp>
      <p:sp>
        <p:nvSpPr>
          <p:cNvPr id="8" name="Chevron 7"/>
          <p:cNvSpPr/>
          <p:nvPr/>
        </p:nvSpPr>
        <p:spPr>
          <a:xfrm>
            <a:off x="2786725" y="1444752"/>
            <a:ext cx="2178649" cy="749808"/>
          </a:xfrm>
          <a:prstGeom prst="chevron">
            <a:avLst>
              <a:gd name="adj" fmla="val 22000"/>
            </a:avLst>
          </a:prstGeom>
          <a:gradFill rotWithShape="1">
            <a:gsLst>
              <a:gs pos="0">
                <a:srgbClr val="DF009F"/>
              </a:gs>
              <a:gs pos="100000">
                <a:srgbClr val="C800B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050" b="1">
                <a:solidFill>
                  <a:srgbClr val="FFFFFF"/>
                </a:solidFill>
                <a:latin typeface="Century Gothic"/>
              </a:rPr>
              <a:t>submitted</a:t>
            </a:r>
          </a:p>
        </p:txBody>
      </p:sp>
      <p:sp>
        <p:nvSpPr>
          <p:cNvPr id="9" name="Chevron 8"/>
          <p:cNvSpPr/>
          <p:nvPr/>
        </p:nvSpPr>
        <p:spPr>
          <a:xfrm>
            <a:off x="5006522" y="1444752"/>
            <a:ext cx="2178649" cy="749808"/>
          </a:xfrm>
          <a:prstGeom prst="chevron">
            <a:avLst>
              <a:gd name="adj" fmla="val 22000"/>
            </a:avLst>
          </a:prstGeom>
          <a:gradFill rotWithShape="1">
            <a:gsLst>
              <a:gs pos="0">
                <a:srgbClr val="BF00BF"/>
              </a:gs>
              <a:gs pos="100000">
                <a:srgbClr val="A800D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050" b="1">
                <a:solidFill>
                  <a:srgbClr val="FFFFFF"/>
                </a:solidFill>
                <a:latin typeface="Century Gothic"/>
              </a:rPr>
              <a:t>under_review</a:t>
            </a:r>
          </a:p>
        </p:txBody>
      </p:sp>
      <p:sp>
        <p:nvSpPr>
          <p:cNvPr id="10" name="Chevron 9"/>
          <p:cNvSpPr/>
          <p:nvPr/>
        </p:nvSpPr>
        <p:spPr>
          <a:xfrm>
            <a:off x="7226320" y="1444752"/>
            <a:ext cx="2178649" cy="749808"/>
          </a:xfrm>
          <a:prstGeom prst="chevron">
            <a:avLst>
              <a:gd name="adj" fmla="val 22000"/>
            </a:avLst>
          </a:prstGeom>
          <a:gradFill rotWithShape="1">
            <a:gsLst>
              <a:gs pos="0">
                <a:srgbClr val="9F00DF"/>
              </a:gs>
              <a:gs pos="100000">
                <a:srgbClr val="8800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050" b="1">
                <a:solidFill>
                  <a:srgbClr val="FFFFFF"/>
                </a:solidFill>
                <a:latin typeface="Century Gothic"/>
              </a:rPr>
              <a:t>verified</a:t>
            </a:r>
          </a:p>
        </p:txBody>
      </p:sp>
      <p:sp>
        <p:nvSpPr>
          <p:cNvPr id="11" name="Chevron 10"/>
          <p:cNvSpPr/>
          <p:nvPr/>
        </p:nvSpPr>
        <p:spPr>
          <a:xfrm>
            <a:off x="9446117" y="1444752"/>
            <a:ext cx="2178649" cy="749808"/>
          </a:xfrm>
          <a:prstGeom prst="chevron">
            <a:avLst>
              <a:gd name="adj" fmla="val 22000"/>
            </a:avLst>
          </a:prstGeom>
          <a:gradFill rotWithShape="1">
            <a:gsLst>
              <a:gs pos="0">
                <a:srgbClr val="7F00F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050" b="1">
                <a:solidFill>
                  <a:srgbClr val="FFFFFF"/>
                </a:solidFill>
                <a:latin typeface="Century Gothic"/>
              </a:rPr>
              <a:t>rejected</a:t>
            </a:r>
          </a:p>
        </p:txBody>
      </p:sp>
      <p:sp>
        <p:nvSpPr>
          <p:cNvPr id="12" name="TextBox 11"/>
          <p:cNvSpPr txBox="1"/>
          <p:nvPr/>
        </p:nvSpPr>
        <p:spPr>
          <a:xfrm>
            <a:off x="566928" y="2414016"/>
            <a:ext cx="548640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What is collected</a:t>
            </a:r>
          </a:p>
        </p:txBody>
      </p:sp>
      <p:sp>
        <p:nvSpPr>
          <p:cNvPr id="13" name="Rounded Rectangle 12"/>
          <p:cNvSpPr/>
          <p:nvPr/>
        </p:nvSpPr>
        <p:spPr>
          <a:xfrm>
            <a:off x="566928" y="2798064"/>
            <a:ext cx="5486400" cy="877824"/>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798064"/>
            <a:ext cx="50292" cy="877824"/>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980944"/>
            <a:ext cx="5074920" cy="274320"/>
          </a:xfrm>
          <a:prstGeom prst="rect">
            <a:avLst/>
          </a:prstGeom>
          <a:noFill/>
        </p:spPr>
        <p:txBody>
          <a:bodyPr wrap="square" anchor="t" lIns="0" rIns="0" tIns="0" bIns="0">
            <a:spAutoFit/>
          </a:bodyPr>
          <a:lstStyle/>
          <a:p>
            <a:pPr algn="l">
              <a:lnSpc>
                <a:spcPct val="100000"/>
              </a:lnSpc>
              <a:spcAft>
                <a:spcPts val="0"/>
              </a:spcAft>
            </a:pPr>
            <a:r>
              <a:rPr sz="1150" b="1" i="0">
                <a:solidFill>
                  <a:srgbClr val="FF007F"/>
                </a:solidFill>
                <a:latin typeface="Century Gothic"/>
              </a:rPr>
              <a:t>Merchant</a:t>
            </a:r>
          </a:p>
        </p:txBody>
      </p:sp>
      <p:sp>
        <p:nvSpPr>
          <p:cNvPr id="16" name="TextBox 15"/>
          <p:cNvSpPr txBox="1"/>
          <p:nvPr/>
        </p:nvSpPr>
        <p:spPr>
          <a:xfrm>
            <a:off x="804672" y="3346704"/>
            <a:ext cx="5074920" cy="192023"/>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Business licence · trade registration · tax certificate · owner ID</a:t>
            </a:r>
          </a:p>
        </p:txBody>
      </p:sp>
      <p:sp>
        <p:nvSpPr>
          <p:cNvPr id="17" name="Rounded Rectangle 16"/>
          <p:cNvSpPr/>
          <p:nvPr/>
        </p:nvSpPr>
        <p:spPr>
          <a:xfrm>
            <a:off x="566928" y="3803904"/>
            <a:ext cx="5486400" cy="877824"/>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803904"/>
            <a:ext cx="50292" cy="877824"/>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986784"/>
            <a:ext cx="5074920" cy="274320"/>
          </a:xfrm>
          <a:prstGeom prst="rect">
            <a:avLst/>
          </a:prstGeom>
          <a:noFill/>
        </p:spPr>
        <p:txBody>
          <a:bodyPr wrap="square" anchor="t" lIns="0" rIns="0" tIns="0" bIns="0">
            <a:spAutoFit/>
          </a:bodyPr>
          <a:lstStyle/>
          <a:p>
            <a:pPr algn="l">
              <a:lnSpc>
                <a:spcPct val="100000"/>
              </a:lnSpc>
              <a:spcAft>
                <a:spcPts val="0"/>
              </a:spcAft>
            </a:pPr>
            <a:r>
              <a:rPr sz="1150" b="1" i="0">
                <a:solidFill>
                  <a:srgbClr val="7F00FF"/>
                </a:solidFill>
                <a:latin typeface="Century Gothic"/>
              </a:rPr>
              <a:t>Influencer</a:t>
            </a:r>
          </a:p>
        </p:txBody>
      </p:sp>
      <p:sp>
        <p:nvSpPr>
          <p:cNvPr id="20" name="TextBox 19"/>
          <p:cNvSpPr txBox="1"/>
          <p:nvPr/>
        </p:nvSpPr>
        <p:spPr>
          <a:xfrm>
            <a:off x="804672" y="4352544"/>
            <a:ext cx="5074920" cy="192023"/>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National ID or passport · proof of address · bank / payout details</a:t>
            </a:r>
          </a:p>
        </p:txBody>
      </p:sp>
      <p:sp>
        <p:nvSpPr>
          <p:cNvPr id="21" name="TextBox 20"/>
          <p:cNvSpPr txBox="1"/>
          <p:nvPr/>
        </p:nvSpPr>
        <p:spPr>
          <a:xfrm>
            <a:off x="566928" y="4864608"/>
            <a:ext cx="548640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The columns on both profiles</a:t>
            </a:r>
          </a:p>
        </p:txBody>
      </p:sp>
      <p:sp>
        <p:nvSpPr>
          <p:cNvPr id="22" name="Rounded Rectangle 21"/>
          <p:cNvSpPr/>
          <p:nvPr/>
        </p:nvSpPr>
        <p:spPr>
          <a:xfrm>
            <a:off x="566928" y="5248656"/>
            <a:ext cx="1298448" cy="365760"/>
          </a:xfrm>
          <a:prstGeom prst="roundRect">
            <a:avLst>
              <a:gd name="adj" fmla="val 5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3A3A3A"/>
                </a:solidFill>
                <a:latin typeface="Century Gothic"/>
              </a:rPr>
              <a:t>kyc_verified</a:t>
            </a:r>
          </a:p>
        </p:txBody>
      </p:sp>
      <p:sp>
        <p:nvSpPr>
          <p:cNvPr id="23" name="Rounded Rectangle 22"/>
          <p:cNvSpPr/>
          <p:nvPr/>
        </p:nvSpPr>
        <p:spPr>
          <a:xfrm>
            <a:off x="1956816" y="5248656"/>
            <a:ext cx="1298448" cy="365760"/>
          </a:xfrm>
          <a:prstGeom prst="roundRect">
            <a:avLst>
              <a:gd name="adj" fmla="val 5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3A3A3A"/>
                </a:solidFill>
                <a:latin typeface="Century Gothic"/>
              </a:rPr>
              <a:t>kyc_status</a:t>
            </a:r>
          </a:p>
        </p:txBody>
      </p:sp>
      <p:sp>
        <p:nvSpPr>
          <p:cNvPr id="24" name="Rounded Rectangle 23"/>
          <p:cNvSpPr/>
          <p:nvPr/>
        </p:nvSpPr>
        <p:spPr>
          <a:xfrm>
            <a:off x="3346704" y="5248656"/>
            <a:ext cx="1298448" cy="365760"/>
          </a:xfrm>
          <a:prstGeom prst="roundRect">
            <a:avLst>
              <a:gd name="adj" fmla="val 5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3A3A3A"/>
                </a:solidFill>
                <a:latin typeface="Century Gothic"/>
              </a:rPr>
              <a:t>kyc_verified_by</a:t>
            </a:r>
          </a:p>
        </p:txBody>
      </p:sp>
      <p:sp>
        <p:nvSpPr>
          <p:cNvPr id="25" name="Rounded Rectangle 24"/>
          <p:cNvSpPr/>
          <p:nvPr/>
        </p:nvSpPr>
        <p:spPr>
          <a:xfrm>
            <a:off x="4736592" y="5248656"/>
            <a:ext cx="1298448" cy="365760"/>
          </a:xfrm>
          <a:prstGeom prst="roundRect">
            <a:avLst>
              <a:gd name="adj" fmla="val 5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3A3A3A"/>
                </a:solidFill>
                <a:latin typeface="Century Gothic"/>
              </a:rPr>
              <a:t>kyc_verified_at</a:t>
            </a:r>
          </a:p>
        </p:txBody>
      </p:sp>
      <p:sp>
        <p:nvSpPr>
          <p:cNvPr id="26" name="TextBox 25"/>
          <p:cNvSpPr txBox="1"/>
          <p:nvPr/>
        </p:nvSpPr>
        <p:spPr>
          <a:xfrm>
            <a:off x="6400800" y="2414016"/>
            <a:ext cx="521208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KycDocument — the file</a:t>
            </a:r>
          </a:p>
        </p:txBody>
      </p:sp>
      <p:sp>
        <p:nvSpPr>
          <p:cNvPr id="27" name="TextBox 26"/>
          <p:cNvSpPr txBox="1"/>
          <p:nvPr/>
        </p:nvSpPr>
        <p:spPr>
          <a:xfrm>
            <a:off x="6400800" y="2798064"/>
            <a:ext cx="5212080" cy="1554480"/>
          </a:xfrm>
          <a:prstGeom prst="rect">
            <a:avLst/>
          </a:prstGeom>
          <a:noFill/>
        </p:spPr>
        <p:txBody>
          <a:bodyPr wrap="square" lIns="0" rIns="0" tIns="0" bIns="0">
            <a:spAutoFit/>
          </a:bodyPr>
          <a:lstStyle/>
          <a:p>
            <a:pPr marL="155448" indent="-155448">
              <a:lnSpc>
                <a:spcPct val="115000"/>
              </a:lnSpc>
              <a:spcAft>
                <a:spcPts val="700"/>
              </a:spcAft>
              <a:buClr>
                <a:srgbClr val="7F00FF"/>
              </a:buClr>
              <a:buChar char="–"/>
            </a:pPr>
            <a:r>
              <a:rPr sz="919">
                <a:solidFill>
                  <a:srgbClr val="3A3A3A"/>
                </a:solidFill>
                <a:latin typeface="Century Gothic"/>
              </a:rPr>
              <a:t>file_url, file_name, mime_type, file_size</a:t>
            </a:r>
          </a:p>
          <a:p>
            <a:pPr marL="155448" indent="-155448">
              <a:lnSpc>
                <a:spcPct val="115000"/>
              </a:lnSpc>
              <a:spcAft>
                <a:spcPts val="700"/>
              </a:spcAft>
              <a:buClr>
                <a:srgbClr val="7F00FF"/>
              </a:buClr>
              <a:buChar char="–"/>
            </a:pPr>
            <a:r>
              <a:rPr sz="919">
                <a:solidFill>
                  <a:srgbClr val="3A3A3A"/>
                </a:solidFill>
                <a:latin typeface="Century Gothic"/>
              </a:rPr>
              <a:t>document_type — ID, licence, proof of address, …</a:t>
            </a:r>
          </a:p>
          <a:p>
            <a:pPr marL="155448" indent="-155448">
              <a:lnSpc>
                <a:spcPct val="115000"/>
              </a:lnSpc>
              <a:spcAft>
                <a:spcPts val="700"/>
              </a:spcAft>
              <a:buClr>
                <a:srgbClr val="7F00FF"/>
              </a:buClr>
              <a:buChar char="–"/>
            </a:pPr>
            <a:r>
              <a:rPr sz="919">
                <a:solidFill>
                  <a:srgbClr val="3A3A3A"/>
                </a:solidFill>
                <a:latin typeface="Century Gothic"/>
              </a:rPr>
              <a:t>status — pending / verified / rejected</a:t>
            </a:r>
          </a:p>
          <a:p>
            <a:pPr marL="155448" indent="-155448">
              <a:lnSpc>
                <a:spcPct val="115000"/>
              </a:lnSpc>
              <a:spcAft>
                <a:spcPts val="700"/>
              </a:spcAft>
              <a:buClr>
                <a:srgbClr val="7F00FF"/>
              </a:buClr>
              <a:buChar char="–"/>
            </a:pPr>
            <a:r>
              <a:rPr sz="919">
                <a:solidFill>
                  <a:srgbClr val="3A3A3A"/>
                </a:solidFill>
                <a:latin typeface="Century Gothic"/>
              </a:rPr>
              <a:t>uploaded_by and reviewed_by — always an admin</a:t>
            </a:r>
          </a:p>
          <a:p>
            <a:pPr marL="155448" indent="-155448">
              <a:lnSpc>
                <a:spcPct val="115000"/>
              </a:lnSpc>
              <a:spcAft>
                <a:spcPts val="700"/>
              </a:spcAft>
              <a:buClr>
                <a:srgbClr val="7F00FF"/>
              </a:buClr>
              <a:buChar char="–"/>
            </a:pPr>
            <a:r>
              <a:rPr sz="919">
                <a:solidFill>
                  <a:srgbClr val="3A3A3A"/>
                </a:solidFill>
                <a:latin typeface="Century Gothic"/>
              </a:rPr>
              <a:t>expires_at — prompts re-collection on expiry</a:t>
            </a:r>
          </a:p>
        </p:txBody>
      </p:sp>
      <p:sp>
        <p:nvSpPr>
          <p:cNvPr id="28" name="Rounded Rectangle 27"/>
          <p:cNvSpPr/>
          <p:nvPr/>
        </p:nvSpPr>
        <p:spPr>
          <a:xfrm>
            <a:off x="6400800" y="4462272"/>
            <a:ext cx="5212080" cy="694944"/>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4462272"/>
            <a:ext cx="45720" cy="694944"/>
          </a:xfrm>
          <a:prstGeom prst="rect">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1968" y="4590288"/>
            <a:ext cx="4846320" cy="475488"/>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kyc_verified may only be set true by a Super Admin or the relevant manager, and only once at least one KycDocument for that user has reached status = verified. The act is stamped into kyc_verified_by and kyc_verified_at.</a:t>
            </a:r>
          </a:p>
        </p:txBody>
      </p:sp>
      <p:sp>
        <p:nvSpPr>
          <p:cNvPr id="31" name="Rounded Rectangle 30"/>
          <p:cNvSpPr/>
          <p:nvPr/>
        </p:nvSpPr>
        <p:spPr>
          <a:xfrm>
            <a:off x="6400800" y="5230368"/>
            <a:ext cx="5212080" cy="603504"/>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5230368"/>
            <a:ext cx="45720" cy="603504"/>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01968" y="5358383"/>
            <a:ext cx="4846320" cy="384048"/>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KYC files are personal data — private storage, signed URLs, admin-only. Never on a member-facing endpoint.</a:t>
            </a:r>
          </a:p>
        </p:txBody>
      </p:sp>
      <p:pic>
        <p:nvPicPr>
          <p:cNvPr id="34" name="Picture 33"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5" name="TextBox 34"/>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The Merchant Marketplace</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An approved merchant builds its own branded storefront inside the app</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Rounded Rectangle 6"/>
          <p:cNvSpPr/>
          <p:nvPr/>
        </p:nvSpPr>
        <p:spPr>
          <a:xfrm>
            <a:off x="566928" y="1481328"/>
            <a:ext cx="502920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627632"/>
            <a:ext cx="4736592" cy="1389888"/>
          </a:xfrm>
          <a:prstGeom prst="roundRect">
            <a:avLst>
              <a:gd name="adj" fmla="val 6000"/>
            </a:avLst>
          </a:prstGeom>
          <a:gradFill rotWithShape="1">
            <a:gsLst>
              <a:gs pos="0">
                <a:srgbClr val="FF007F"/>
              </a:gs>
              <a:gs pos="100000">
                <a:srgbClr val="7F00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83664"/>
            <a:ext cx="3657600" cy="274320"/>
          </a:xfrm>
          <a:prstGeom prst="rect">
            <a:avLst/>
          </a:prstGeom>
          <a:noFill/>
        </p:spPr>
        <p:txBody>
          <a:bodyPr wrap="square" anchor="t" lIns="0" rIns="0" tIns="0" bIns="0">
            <a:spAutoFit/>
          </a:bodyPr>
          <a:lstStyle/>
          <a:p>
            <a:pPr algn="l">
              <a:lnSpc>
                <a:spcPct val="100000"/>
              </a:lnSpc>
              <a:spcAft>
                <a:spcPts val="0"/>
              </a:spcAft>
            </a:pPr>
            <a:r>
              <a:rPr sz="950" b="1" i="0">
                <a:solidFill>
                  <a:srgbClr val="FFFFFF"/>
                </a:solidFill>
                <a:latin typeface="Century Gothic"/>
              </a:rPr>
              <a:t>LANDING VIDEO</a:t>
            </a:r>
          </a:p>
        </p:txBody>
      </p:sp>
      <p:sp>
        <p:nvSpPr>
          <p:cNvPr id="10" name="TextBox 9"/>
          <p:cNvSpPr txBox="1"/>
          <p:nvPr/>
        </p:nvSpPr>
        <p:spPr>
          <a:xfrm>
            <a:off x="896112" y="2176272"/>
            <a:ext cx="4206240" cy="457200"/>
          </a:xfrm>
          <a:prstGeom prst="rect">
            <a:avLst/>
          </a:prstGeom>
          <a:noFill/>
        </p:spPr>
        <p:txBody>
          <a:bodyPr wrap="square" anchor="t" lIns="0" rIns="0" tIns="0" bIns="0">
            <a:spAutoFit/>
          </a:bodyPr>
          <a:lstStyle/>
          <a:p>
            <a:pPr algn="l">
              <a:lnSpc>
                <a:spcPct val="115000"/>
              </a:lnSpc>
              <a:spcAft>
                <a:spcPts val="0"/>
              </a:spcAft>
            </a:pPr>
            <a:r>
              <a:rPr sz="900" b="0" i="0">
                <a:solidFill>
                  <a:srgbClr val="F6E4F4"/>
                </a:solidFill>
                <a:latin typeface="Century Gothic"/>
              </a:rPr>
              <a:t>Autoplays muted, in place of the cover image</a:t>
            </a:r>
          </a:p>
        </p:txBody>
      </p:sp>
      <p:sp>
        <p:nvSpPr>
          <p:cNvPr id="11" name="Oval 10"/>
          <p:cNvSpPr/>
          <p:nvPr/>
        </p:nvSpPr>
        <p:spPr>
          <a:xfrm>
            <a:off x="4700016" y="2139696"/>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rot="5400000">
            <a:off x="4864608" y="2267712"/>
            <a:ext cx="201168" cy="219456"/>
          </a:xfrm>
          <a:prstGeom prst="triangle">
            <a:avLst/>
          </a:prstGeom>
          <a:solidFill>
            <a:srgbClr val="7F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 y="2798064"/>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9264" y="2871216"/>
            <a:ext cx="530352" cy="530352"/>
          </a:xfrm>
          <a:prstGeom prst="roundRect">
            <a:avLst/>
          </a:prstGeom>
          <a:solidFill>
            <a:srgbClr val="F2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035808"/>
            <a:ext cx="530352" cy="274320"/>
          </a:xfrm>
          <a:prstGeom prst="rect">
            <a:avLst/>
          </a:prstGeom>
          <a:noFill/>
        </p:spPr>
        <p:txBody>
          <a:bodyPr wrap="square" anchor="t" lIns="0" rIns="0" tIns="0" bIns="0">
            <a:spAutoFit/>
          </a:bodyPr>
          <a:lstStyle/>
          <a:p>
            <a:pPr algn="ctr">
              <a:lnSpc>
                <a:spcPct val="100000"/>
              </a:lnSpc>
              <a:spcAft>
                <a:spcPts val="0"/>
              </a:spcAft>
            </a:pPr>
            <a:r>
              <a:rPr sz="650" b="1" i="0">
                <a:solidFill>
                  <a:srgbClr val="808080"/>
                </a:solidFill>
                <a:latin typeface="Century Gothic"/>
              </a:rPr>
              <a:t>LOGO</a:t>
            </a:r>
          </a:p>
        </p:txBody>
      </p:sp>
      <p:sp>
        <p:nvSpPr>
          <p:cNvPr id="16" name="TextBox 15"/>
          <p:cNvSpPr txBox="1"/>
          <p:nvPr/>
        </p:nvSpPr>
        <p:spPr>
          <a:xfrm>
            <a:off x="1719072" y="3145536"/>
            <a:ext cx="3108960" cy="274320"/>
          </a:xfrm>
          <a:prstGeom prst="rect">
            <a:avLst/>
          </a:prstGeom>
          <a:noFill/>
        </p:spPr>
        <p:txBody>
          <a:bodyPr wrap="square" anchor="t" lIns="0" rIns="0" tIns="0" bIns="0">
            <a:spAutoFit/>
          </a:bodyPr>
          <a:lstStyle/>
          <a:p>
            <a:pPr algn="l">
              <a:lnSpc>
                <a:spcPct val="100000"/>
              </a:lnSpc>
              <a:spcAft>
                <a:spcPts val="0"/>
              </a:spcAft>
            </a:pPr>
            <a:r>
              <a:rPr sz="1200" b="1" i="0">
                <a:solidFill>
                  <a:srgbClr val="3A3A3A"/>
                </a:solidFill>
                <a:latin typeface="Century Gothic"/>
              </a:rPr>
              <a:t>Merchant display name</a:t>
            </a:r>
          </a:p>
        </p:txBody>
      </p:sp>
      <p:sp>
        <p:nvSpPr>
          <p:cNvPr id="17" name="TextBox 16"/>
          <p:cNvSpPr txBox="1"/>
          <p:nvPr/>
        </p:nvSpPr>
        <p:spPr>
          <a:xfrm>
            <a:off x="1719072" y="3419856"/>
            <a:ext cx="3657600" cy="237744"/>
          </a:xfrm>
          <a:prstGeom prst="rect">
            <a:avLst/>
          </a:prstGeom>
          <a:noFill/>
        </p:spPr>
        <p:txBody>
          <a:bodyPr wrap="square" anchor="t" lIns="0" rIns="0" tIns="0" bIns="0">
            <a:spAutoFit/>
          </a:bodyPr>
          <a:lstStyle/>
          <a:p>
            <a:pPr algn="l">
              <a:lnSpc>
                <a:spcPct val="100000"/>
              </a:lnSpc>
              <a:spcAft>
                <a:spcPts val="0"/>
              </a:spcAft>
            </a:pPr>
            <a:r>
              <a:rPr sz="850" b="0" i="0">
                <a:solidFill>
                  <a:srgbClr val="808080"/>
                </a:solidFill>
                <a:latin typeface="Century Gothic"/>
              </a:rPr>
              <a:t>Tagline · category · address · opening hours</a:t>
            </a:r>
          </a:p>
        </p:txBody>
      </p:sp>
      <p:sp>
        <p:nvSpPr>
          <p:cNvPr id="18" name="TextBox 17"/>
          <p:cNvSpPr txBox="1"/>
          <p:nvPr/>
        </p:nvSpPr>
        <p:spPr>
          <a:xfrm>
            <a:off x="896112" y="3785615"/>
            <a:ext cx="4389120" cy="237744"/>
          </a:xfrm>
          <a:prstGeom prst="rect">
            <a:avLst/>
          </a:prstGeom>
          <a:noFill/>
        </p:spPr>
        <p:txBody>
          <a:bodyPr wrap="square" anchor="t" lIns="0" rIns="0" tIns="0" bIns="0">
            <a:spAutoFit/>
          </a:bodyPr>
          <a:lstStyle/>
          <a:p>
            <a:pPr algn="l">
              <a:lnSpc>
                <a:spcPct val="100000"/>
              </a:lnSpc>
              <a:spcAft>
                <a:spcPts val="0"/>
              </a:spcAft>
            </a:pPr>
            <a:r>
              <a:rPr sz="800" b="1" i="0">
                <a:solidFill>
                  <a:srgbClr val="FF007F"/>
                </a:solidFill>
                <a:latin typeface="Century Gothic"/>
              </a:rPr>
              <a:t>BRAND IMAGE GALLERY</a:t>
            </a:r>
          </a:p>
        </p:txBody>
      </p:sp>
      <p:sp>
        <p:nvSpPr>
          <p:cNvPr id="19" name="Rounded Rectangle 18"/>
          <p:cNvSpPr/>
          <p:nvPr/>
        </p:nvSpPr>
        <p:spPr>
          <a:xfrm>
            <a:off x="896112" y="4059936"/>
            <a:ext cx="969264" cy="65836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011680" y="4059936"/>
            <a:ext cx="969264" cy="65836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27248" y="4059936"/>
            <a:ext cx="969264" cy="65836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42816" y="4059936"/>
            <a:ext cx="969264" cy="65836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846320"/>
            <a:ext cx="4389120" cy="237744"/>
          </a:xfrm>
          <a:prstGeom prst="rect">
            <a:avLst/>
          </a:prstGeom>
          <a:noFill/>
        </p:spPr>
        <p:txBody>
          <a:bodyPr wrap="square" anchor="t" lIns="0" rIns="0" tIns="0" bIns="0">
            <a:spAutoFit/>
          </a:bodyPr>
          <a:lstStyle/>
          <a:p>
            <a:pPr algn="l">
              <a:lnSpc>
                <a:spcPct val="100000"/>
              </a:lnSpc>
              <a:spcAft>
                <a:spcPts val="0"/>
              </a:spcAft>
            </a:pPr>
            <a:r>
              <a:rPr sz="800" b="1" i="0">
                <a:solidFill>
                  <a:srgbClr val="7F00FF"/>
                </a:solidFill>
                <a:latin typeface="Century Gothic"/>
              </a:rPr>
              <a:t>THE MERCHANT'S OFFERS</a:t>
            </a:r>
          </a:p>
        </p:txBody>
      </p:sp>
      <p:sp>
        <p:nvSpPr>
          <p:cNvPr id="24" name="Rounded Rectangle 23"/>
          <p:cNvSpPr/>
          <p:nvPr/>
        </p:nvSpPr>
        <p:spPr>
          <a:xfrm>
            <a:off x="896112" y="5102352"/>
            <a:ext cx="2103120" cy="109728"/>
          </a:xfrm>
          <a:prstGeom prst="round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45536" y="5102352"/>
            <a:ext cx="2103120" cy="109728"/>
          </a:xfrm>
          <a:prstGeom prst="round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1481328"/>
            <a:ext cx="5586984"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What a merchant uploads</a:t>
            </a:r>
          </a:p>
        </p:txBody>
      </p:sp>
      <p:sp>
        <p:nvSpPr>
          <p:cNvPr id="27" name="Rounded Rectangle 26"/>
          <p:cNvSpPr/>
          <p:nvPr/>
        </p:nvSpPr>
        <p:spPr>
          <a:xfrm>
            <a:off x="6035040" y="1865376"/>
            <a:ext cx="5586984" cy="93268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1865376"/>
            <a:ext cx="50292" cy="932688"/>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72783" y="2048256"/>
            <a:ext cx="5175504" cy="274320"/>
          </a:xfrm>
          <a:prstGeom prst="rect">
            <a:avLst/>
          </a:prstGeom>
          <a:noFill/>
        </p:spPr>
        <p:txBody>
          <a:bodyPr wrap="square" anchor="t" lIns="0" rIns="0" tIns="0" bIns="0">
            <a:spAutoFit/>
          </a:bodyPr>
          <a:lstStyle/>
          <a:p>
            <a:pPr algn="l">
              <a:lnSpc>
                <a:spcPct val="100000"/>
              </a:lnSpc>
              <a:spcAft>
                <a:spcPts val="0"/>
              </a:spcAft>
            </a:pPr>
            <a:r>
              <a:rPr sz="1100" b="1" i="0">
                <a:solidFill>
                  <a:srgbClr val="FF007F"/>
                </a:solidFill>
                <a:latin typeface="Century Gothic"/>
              </a:rPr>
              <a:t>Brand images</a:t>
            </a:r>
          </a:p>
        </p:txBody>
      </p:sp>
      <p:sp>
        <p:nvSpPr>
          <p:cNvPr id="30" name="TextBox 29"/>
          <p:cNvSpPr txBox="1"/>
          <p:nvPr/>
        </p:nvSpPr>
        <p:spPr>
          <a:xfrm>
            <a:off x="6272783" y="2414016"/>
            <a:ext cx="5175504" cy="246888"/>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Logo, cover/banner and a gallery of brand photos.</a:t>
            </a:r>
          </a:p>
        </p:txBody>
      </p:sp>
      <p:sp>
        <p:nvSpPr>
          <p:cNvPr id="31" name="Rounded Rectangle 30"/>
          <p:cNvSpPr/>
          <p:nvPr/>
        </p:nvSpPr>
        <p:spPr>
          <a:xfrm>
            <a:off x="6035040" y="2926080"/>
            <a:ext cx="5586984" cy="93268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35040" y="2926080"/>
            <a:ext cx="50292" cy="932688"/>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72783" y="3108960"/>
            <a:ext cx="5175504" cy="274320"/>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Landing video</a:t>
            </a:r>
          </a:p>
        </p:txBody>
      </p:sp>
      <p:sp>
        <p:nvSpPr>
          <p:cNvPr id="34" name="TextBox 33"/>
          <p:cNvSpPr txBox="1"/>
          <p:nvPr/>
        </p:nvSpPr>
        <p:spPr>
          <a:xfrm>
            <a:off x="6272783" y="3474720"/>
            <a:ext cx="5175504" cy="246888"/>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An optional hero video that autoplays muted at the top of the page, replacing the cover image — like a Facebook or Twitter profile.</a:t>
            </a:r>
          </a:p>
        </p:txBody>
      </p:sp>
      <p:sp>
        <p:nvSpPr>
          <p:cNvPr id="35" name="Rounded Rectangle 34"/>
          <p:cNvSpPr/>
          <p:nvPr/>
        </p:nvSpPr>
        <p:spPr>
          <a:xfrm>
            <a:off x="6035040" y="3986783"/>
            <a:ext cx="5586984" cy="93268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35040" y="3986783"/>
            <a:ext cx="50292" cy="932688"/>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72783" y="4169663"/>
            <a:ext cx="5175504" cy="274320"/>
          </a:xfrm>
          <a:prstGeom prst="rect">
            <a:avLst/>
          </a:prstGeom>
          <a:noFill/>
        </p:spPr>
        <p:txBody>
          <a:bodyPr wrap="square" anchor="t" lIns="0" rIns="0" tIns="0" bIns="0">
            <a:spAutoFit/>
          </a:bodyPr>
          <a:lstStyle/>
          <a:p>
            <a:pPr algn="l">
              <a:lnSpc>
                <a:spcPct val="100000"/>
              </a:lnSpc>
              <a:spcAft>
                <a:spcPts val="0"/>
              </a:spcAft>
            </a:pPr>
            <a:r>
              <a:rPr sz="1100" b="1" i="0">
                <a:solidFill>
                  <a:srgbClr val="4B0082"/>
                </a:solidFill>
                <a:latin typeface="Century Gothic"/>
              </a:rPr>
              <a:t>Profile content</a:t>
            </a:r>
          </a:p>
        </p:txBody>
      </p:sp>
      <p:sp>
        <p:nvSpPr>
          <p:cNvPr id="38" name="TextBox 37"/>
          <p:cNvSpPr txBox="1"/>
          <p:nvPr/>
        </p:nvSpPr>
        <p:spPr>
          <a:xfrm>
            <a:off x="6272783" y="4535423"/>
            <a:ext cx="5175504" cy="246888"/>
          </a:xfrm>
          <a:prstGeom prst="rect">
            <a:avLst/>
          </a:prstGeom>
          <a:noFill/>
        </p:spPr>
        <p:txBody>
          <a:bodyPr wrap="square" anchor="t" lIns="0" rIns="0" tIns="0" bIns="0">
            <a:spAutoFit/>
          </a:bodyPr>
          <a:lstStyle/>
          <a:p>
            <a:pPr algn="l">
              <a:lnSpc>
                <a:spcPct val="122000"/>
              </a:lnSpc>
              <a:spcAft>
                <a:spcPts val="0"/>
              </a:spcAft>
            </a:pPr>
            <a:r>
              <a:rPr sz="880" b="0" i="0">
                <a:solidFill>
                  <a:srgbClr val="3A3A3A"/>
                </a:solidFill>
                <a:latin typeface="Century Gothic"/>
              </a:rPr>
              <a:t>Display name, tagline, about, category, address and map pin, opening hours, website and social links.</a:t>
            </a:r>
          </a:p>
        </p:txBody>
      </p:sp>
      <p:sp>
        <p:nvSpPr>
          <p:cNvPr id="39" name="TextBox 38"/>
          <p:cNvSpPr txBox="1"/>
          <p:nvPr/>
        </p:nvSpPr>
        <p:spPr>
          <a:xfrm>
            <a:off x="6035040" y="5084064"/>
            <a:ext cx="5586984" cy="274320"/>
          </a:xfrm>
          <a:prstGeom prst="rect">
            <a:avLst/>
          </a:prstGeom>
          <a:noFill/>
        </p:spPr>
        <p:txBody>
          <a:bodyPr wrap="square" anchor="t" lIns="0" rIns="0" tIns="0" bIns="0">
            <a:spAutoFit/>
          </a:bodyPr>
          <a:lstStyle/>
          <a:p>
            <a:pPr algn="l">
              <a:lnSpc>
                <a:spcPct val="100000"/>
              </a:lnSpc>
              <a:spcAft>
                <a:spcPts val="0"/>
              </a:spcAft>
            </a:pPr>
            <a:r>
              <a:rPr sz="950" b="1" i="0">
                <a:solidFill>
                  <a:srgbClr val="7F00FF"/>
                </a:solidFill>
                <a:latin typeface="Century Gothic"/>
              </a:rPr>
              <a:t>Storefront status  ·  draft → published, and the admin may unpublish for cause</a:t>
            </a:r>
          </a:p>
        </p:txBody>
      </p:sp>
      <p:sp>
        <p:nvSpPr>
          <p:cNvPr id="40" name="Rounded Rectangle 39"/>
          <p:cNvSpPr/>
          <p:nvPr/>
        </p:nvSpPr>
        <p:spPr>
          <a:xfrm>
            <a:off x="6035040" y="5431536"/>
            <a:ext cx="1371600" cy="365760"/>
          </a:xfrm>
          <a:prstGeom prst="roundRect">
            <a:avLst>
              <a:gd name="adj" fmla="val 50000"/>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3A3A3A"/>
                </a:solidFill>
                <a:latin typeface="Century Gothic"/>
              </a:rPr>
              <a:t>draft</a:t>
            </a:r>
          </a:p>
        </p:txBody>
      </p:sp>
      <p:sp>
        <p:nvSpPr>
          <p:cNvPr id="41" name="Rounded Rectangle 40"/>
          <p:cNvSpPr/>
          <p:nvPr/>
        </p:nvSpPr>
        <p:spPr>
          <a:xfrm>
            <a:off x="7516367" y="5431536"/>
            <a:ext cx="1371600" cy="365760"/>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FFFFFF"/>
                </a:solidFill>
                <a:latin typeface="Century Gothic"/>
              </a:rPr>
              <a:t>published</a:t>
            </a:r>
          </a:p>
        </p:txBody>
      </p:sp>
      <p:sp>
        <p:nvSpPr>
          <p:cNvPr id="42" name="Rounded Rectangle 41"/>
          <p:cNvSpPr/>
          <p:nvPr/>
        </p:nvSpPr>
        <p:spPr>
          <a:xfrm>
            <a:off x="8997696" y="5431536"/>
            <a:ext cx="1371600" cy="365760"/>
          </a:xfrm>
          <a:prstGeom prst="roundRect">
            <a:avLst>
              <a:gd name="adj" fmla="val 50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FFFFFF"/>
                </a:solidFill>
                <a:latin typeface="Century Gothic"/>
              </a:rPr>
              <a:t>unpublished</a:t>
            </a:r>
          </a:p>
        </p:txBody>
      </p:sp>
      <p:sp>
        <p:nvSpPr>
          <p:cNvPr id="43" name="Rounded Rectangle 42"/>
          <p:cNvSpPr/>
          <p:nvPr/>
        </p:nvSpPr>
        <p:spPr>
          <a:xfrm>
            <a:off x="566928" y="5431536"/>
            <a:ext cx="5029200" cy="512064"/>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5431536"/>
            <a:ext cx="45720" cy="512064"/>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6" y="5559552"/>
            <a:ext cx="4663440" cy="292608"/>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Storefronts follow the same paywall — browse yes, redeem no.</a:t>
            </a:r>
          </a:p>
        </p:txBody>
      </p:sp>
      <p:pic>
        <p:nvPicPr>
          <p:cNvPr id="46" name="Picture 45" descr="footer_bar.png"/>
          <p:cNvPicPr>
            <a:picLocks noChangeAspect="1"/>
          </p:cNvPicPr>
          <p:nvPr/>
        </p:nvPicPr>
        <p:blipFill>
          <a:blip r:embed="rId4"/>
          <a:stretch>
            <a:fillRect/>
          </a:stretch>
        </p:blipFill>
        <p:spPr>
          <a:xfrm>
            <a:off x="7260336" y="5861304"/>
            <a:ext cx="4928616" cy="491032"/>
          </a:xfrm>
          <a:prstGeom prst="rect">
            <a:avLst/>
          </a:prstGeom>
        </p:spPr>
      </p:pic>
      <p:sp>
        <p:nvSpPr>
          <p:cNvPr id="47" name="TextBox 46"/>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Promo Codes — Reusable, Not Consumed</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One code per influencer, redeemable by any number of members</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Rounded Rectangle 6"/>
          <p:cNvSpPr/>
          <p:nvPr/>
        </p:nvSpPr>
        <p:spPr>
          <a:xfrm>
            <a:off x="566928" y="1554480"/>
            <a:ext cx="1992111" cy="12435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554480"/>
            <a:ext cx="1992111" cy="457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92224"/>
            <a:ext cx="1681215" cy="475488"/>
          </a:xfrm>
          <a:prstGeom prst="rect">
            <a:avLst/>
          </a:prstGeom>
          <a:noFill/>
        </p:spPr>
        <p:txBody>
          <a:bodyPr wrap="square" anchor="t" lIns="0" rIns="0" tIns="0" bIns="0">
            <a:spAutoFit/>
          </a:bodyPr>
          <a:lstStyle/>
          <a:p>
            <a:pPr algn="l">
              <a:lnSpc>
                <a:spcPct val="110000"/>
              </a:lnSpc>
              <a:spcAft>
                <a:spcPts val="0"/>
              </a:spcAft>
            </a:pPr>
            <a:r>
              <a:rPr sz="1000" b="1" i="0">
                <a:solidFill>
                  <a:srgbClr val="FF007F"/>
                </a:solidFill>
                <a:latin typeface="Century Gothic"/>
              </a:rPr>
              <a:t>Influencer clears
all four gates</a:t>
            </a:r>
          </a:p>
        </p:txBody>
      </p:sp>
      <p:sp>
        <p:nvSpPr>
          <p:cNvPr id="10" name="TextBox 9"/>
          <p:cNvSpPr txBox="1"/>
          <p:nvPr/>
        </p:nvSpPr>
        <p:spPr>
          <a:xfrm>
            <a:off x="731520" y="2377440"/>
            <a:ext cx="1681215" cy="365760"/>
          </a:xfrm>
          <a:prstGeom prst="rect">
            <a:avLst/>
          </a:prstGeom>
          <a:noFill/>
        </p:spPr>
        <p:txBody>
          <a:bodyPr wrap="square" anchor="t" lIns="0" rIns="0" tIns="0" bIns="0">
            <a:spAutoFit/>
          </a:bodyPr>
          <a:lstStyle/>
          <a:p>
            <a:pPr algn="l">
              <a:lnSpc>
                <a:spcPct val="115000"/>
              </a:lnSpc>
              <a:spcAft>
                <a:spcPts val="0"/>
              </a:spcAft>
            </a:pPr>
            <a:r>
              <a:rPr sz="850" b="0" i="0">
                <a:solidFill>
                  <a:srgbClr val="3A3A3A"/>
                </a:solidFill>
                <a:latin typeface="Century Gothic"/>
              </a:rPr>
              <a:t>Approved + KYC verified</a:t>
            </a:r>
          </a:p>
        </p:txBody>
      </p:sp>
      <p:sp>
        <p:nvSpPr>
          <p:cNvPr id="11" name="Right Arrow 10"/>
          <p:cNvSpPr/>
          <p:nvPr/>
        </p:nvSpPr>
        <p:spPr>
          <a:xfrm>
            <a:off x="2604759" y="2103120"/>
            <a:ext cx="182880"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3359" y="1554480"/>
            <a:ext cx="1992111" cy="12435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33359" y="1554480"/>
            <a:ext cx="1992111" cy="45720"/>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7951" y="1792224"/>
            <a:ext cx="1681215" cy="475488"/>
          </a:xfrm>
          <a:prstGeom prst="rect">
            <a:avLst/>
          </a:prstGeom>
          <a:noFill/>
        </p:spPr>
        <p:txBody>
          <a:bodyPr wrap="square" anchor="t" lIns="0" rIns="0" tIns="0" bIns="0">
            <a:spAutoFit/>
          </a:bodyPr>
          <a:lstStyle/>
          <a:p>
            <a:pPr algn="l">
              <a:lnSpc>
                <a:spcPct val="110000"/>
              </a:lnSpc>
              <a:spcAft>
                <a:spcPts val="0"/>
              </a:spcAft>
            </a:pPr>
            <a:r>
              <a:rPr sz="1000" b="1" i="0">
                <a:solidFill>
                  <a:srgbClr val="7F00FF"/>
                </a:solidFill>
                <a:latin typeface="Century Gothic"/>
              </a:rPr>
              <a:t>Code appears in
their dashboard</a:t>
            </a:r>
          </a:p>
        </p:txBody>
      </p:sp>
      <p:sp>
        <p:nvSpPr>
          <p:cNvPr id="15" name="TextBox 14"/>
          <p:cNvSpPr txBox="1"/>
          <p:nvPr/>
        </p:nvSpPr>
        <p:spPr>
          <a:xfrm>
            <a:off x="2997951" y="2377440"/>
            <a:ext cx="1681215" cy="365760"/>
          </a:xfrm>
          <a:prstGeom prst="rect">
            <a:avLst/>
          </a:prstGeom>
          <a:noFill/>
        </p:spPr>
        <p:txBody>
          <a:bodyPr wrap="square" anchor="t" lIns="0" rIns="0" tIns="0" bIns="0">
            <a:spAutoFit/>
          </a:bodyPr>
          <a:lstStyle/>
          <a:p>
            <a:pPr algn="l">
              <a:lnSpc>
                <a:spcPct val="115000"/>
              </a:lnSpc>
              <a:spcAft>
                <a:spcPts val="0"/>
              </a:spcAft>
            </a:pPr>
            <a:r>
              <a:rPr sz="850" b="0" i="0">
                <a:solidFill>
                  <a:srgbClr val="3A3A3A"/>
                </a:solidFill>
                <a:latin typeface="Century Gothic"/>
              </a:rPr>
              <a:t>Copy · deep link · QR</a:t>
            </a:r>
          </a:p>
        </p:txBody>
      </p:sp>
      <p:sp>
        <p:nvSpPr>
          <p:cNvPr id="16" name="Right Arrow 15"/>
          <p:cNvSpPr/>
          <p:nvPr/>
        </p:nvSpPr>
        <p:spPr>
          <a:xfrm>
            <a:off x="4871191" y="2103120"/>
            <a:ext cx="182880"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99791" y="1554480"/>
            <a:ext cx="1992111" cy="12435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99791" y="1554480"/>
            <a:ext cx="1992111" cy="45720"/>
          </a:xfrm>
          <a:prstGeom prst="rect">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64383" y="1792224"/>
            <a:ext cx="1681215" cy="475488"/>
          </a:xfrm>
          <a:prstGeom prst="rect">
            <a:avLst/>
          </a:prstGeom>
          <a:noFill/>
        </p:spPr>
        <p:txBody>
          <a:bodyPr wrap="square" anchor="t" lIns="0" rIns="0" tIns="0" bIns="0">
            <a:spAutoFit/>
          </a:bodyPr>
          <a:lstStyle/>
          <a:p>
            <a:pPr algn="l">
              <a:lnSpc>
                <a:spcPct val="110000"/>
              </a:lnSpc>
              <a:spcAft>
                <a:spcPts val="0"/>
              </a:spcAft>
            </a:pPr>
            <a:r>
              <a:rPr sz="1000" b="1" i="0">
                <a:solidFill>
                  <a:srgbClr val="4B0082"/>
                </a:solidFill>
                <a:latin typeface="Century Gothic"/>
              </a:rPr>
              <a:t>Many members
redeem it</a:t>
            </a:r>
          </a:p>
        </p:txBody>
      </p:sp>
      <p:sp>
        <p:nvSpPr>
          <p:cNvPr id="20" name="TextBox 19"/>
          <p:cNvSpPr txBox="1"/>
          <p:nvPr/>
        </p:nvSpPr>
        <p:spPr>
          <a:xfrm>
            <a:off x="5264383" y="2377440"/>
            <a:ext cx="1681215" cy="365760"/>
          </a:xfrm>
          <a:prstGeom prst="rect">
            <a:avLst/>
          </a:prstGeom>
          <a:noFill/>
        </p:spPr>
        <p:txBody>
          <a:bodyPr wrap="square" anchor="t" lIns="0" rIns="0" tIns="0" bIns="0">
            <a:spAutoFit/>
          </a:bodyPr>
          <a:lstStyle/>
          <a:p>
            <a:pPr algn="l">
              <a:lnSpc>
                <a:spcPct val="115000"/>
              </a:lnSpc>
              <a:spcAft>
                <a:spcPts val="0"/>
              </a:spcAft>
            </a:pPr>
            <a:r>
              <a:rPr sz="850" b="0" i="0">
                <a:solidFill>
                  <a:srgbClr val="3A3A3A"/>
                </a:solidFill>
                <a:latin typeface="Century Gothic"/>
              </a:rPr>
              <a:t>No usage limit, no expiry</a:t>
            </a:r>
          </a:p>
        </p:txBody>
      </p:sp>
      <p:sp>
        <p:nvSpPr>
          <p:cNvPr id="21" name="Right Arrow 20"/>
          <p:cNvSpPr/>
          <p:nvPr/>
        </p:nvSpPr>
        <p:spPr>
          <a:xfrm>
            <a:off x="7137623" y="2103120"/>
            <a:ext cx="182880"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66223" y="1554480"/>
            <a:ext cx="1992111" cy="12435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66223" y="1554480"/>
            <a:ext cx="1992111" cy="4572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30815" y="1792224"/>
            <a:ext cx="1681215" cy="475488"/>
          </a:xfrm>
          <a:prstGeom prst="rect">
            <a:avLst/>
          </a:prstGeom>
          <a:noFill/>
        </p:spPr>
        <p:txBody>
          <a:bodyPr wrap="square" anchor="t" lIns="0" rIns="0" tIns="0" bIns="0">
            <a:spAutoFit/>
          </a:bodyPr>
          <a:lstStyle/>
          <a:p>
            <a:pPr algn="l">
              <a:lnSpc>
                <a:spcPct val="110000"/>
              </a:lnSpc>
              <a:spcAft>
                <a:spcPts val="0"/>
              </a:spcAft>
            </a:pPr>
            <a:r>
              <a:rPr sz="1000" b="1" i="0">
                <a:solidFill>
                  <a:srgbClr val="8B0000"/>
                </a:solidFill>
                <a:latin typeface="Century Gothic"/>
              </a:rPr>
              <a:t>PromoCodeRedemption</a:t>
            </a:r>
          </a:p>
        </p:txBody>
      </p:sp>
      <p:sp>
        <p:nvSpPr>
          <p:cNvPr id="25" name="TextBox 24"/>
          <p:cNvSpPr txBox="1"/>
          <p:nvPr/>
        </p:nvSpPr>
        <p:spPr>
          <a:xfrm>
            <a:off x="7530815" y="2377440"/>
            <a:ext cx="1681215" cy="365760"/>
          </a:xfrm>
          <a:prstGeom prst="rect">
            <a:avLst/>
          </a:prstGeom>
          <a:noFill/>
        </p:spPr>
        <p:txBody>
          <a:bodyPr wrap="square" anchor="t" lIns="0" rIns="0" tIns="0" bIns="0">
            <a:spAutoFit/>
          </a:bodyPr>
          <a:lstStyle/>
          <a:p>
            <a:pPr algn="l">
              <a:lnSpc>
                <a:spcPct val="115000"/>
              </a:lnSpc>
              <a:spcAft>
                <a:spcPts val="0"/>
              </a:spcAft>
            </a:pPr>
            <a:r>
              <a:rPr sz="850" b="0" i="0">
                <a:solidFill>
                  <a:srgbClr val="3A3A3A"/>
                </a:solidFill>
                <a:latin typeface="Century Gothic"/>
              </a:rPr>
              <a:t>One row per member</a:t>
            </a:r>
          </a:p>
        </p:txBody>
      </p:sp>
      <p:sp>
        <p:nvSpPr>
          <p:cNvPr id="26" name="Right Arrow 25"/>
          <p:cNvSpPr/>
          <p:nvPr/>
        </p:nvSpPr>
        <p:spPr>
          <a:xfrm>
            <a:off x="9404055" y="2103120"/>
            <a:ext cx="182880" cy="146304"/>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32655" y="1554480"/>
            <a:ext cx="1992111" cy="12435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32655" y="1554480"/>
            <a:ext cx="1992111" cy="457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97247" y="1792224"/>
            <a:ext cx="1681215" cy="475488"/>
          </a:xfrm>
          <a:prstGeom prst="rect">
            <a:avLst/>
          </a:prstGeom>
          <a:noFill/>
        </p:spPr>
        <p:txBody>
          <a:bodyPr wrap="square" anchor="t" lIns="0" rIns="0" tIns="0" bIns="0">
            <a:spAutoFit/>
          </a:bodyPr>
          <a:lstStyle/>
          <a:p>
            <a:pPr algn="l">
              <a:lnSpc>
                <a:spcPct val="110000"/>
              </a:lnSpc>
              <a:spcAft>
                <a:spcPts val="0"/>
              </a:spcAft>
            </a:pPr>
            <a:r>
              <a:rPr sz="1000" b="1" i="0">
                <a:solidFill>
                  <a:srgbClr val="FF007F"/>
                </a:solidFill>
                <a:latin typeface="Century Gothic"/>
              </a:rPr>
              <a:t>Member gets the
admin-set discount</a:t>
            </a:r>
          </a:p>
        </p:txBody>
      </p:sp>
      <p:sp>
        <p:nvSpPr>
          <p:cNvPr id="30" name="TextBox 29"/>
          <p:cNvSpPr txBox="1"/>
          <p:nvPr/>
        </p:nvSpPr>
        <p:spPr>
          <a:xfrm>
            <a:off x="9797247" y="2377440"/>
            <a:ext cx="1681215" cy="365760"/>
          </a:xfrm>
          <a:prstGeom prst="rect">
            <a:avLst/>
          </a:prstGeom>
          <a:noFill/>
        </p:spPr>
        <p:txBody>
          <a:bodyPr wrap="square" anchor="t" lIns="0" rIns="0" tIns="0" bIns="0">
            <a:spAutoFit/>
          </a:bodyPr>
          <a:lstStyle/>
          <a:p>
            <a:pPr algn="l">
              <a:lnSpc>
                <a:spcPct val="115000"/>
              </a:lnSpc>
              <a:spcAft>
                <a:spcPts val="0"/>
              </a:spcAft>
            </a:pPr>
            <a:r>
              <a:rPr sz="850" b="0" i="0">
                <a:solidFill>
                  <a:srgbClr val="3A3A3A"/>
                </a:solidFill>
                <a:latin typeface="Century Gothic"/>
              </a:rPr>
              <a:t>Frozen at redemption</a:t>
            </a:r>
          </a:p>
        </p:txBody>
      </p:sp>
      <p:sp>
        <p:nvSpPr>
          <p:cNvPr id="31" name="TextBox 30"/>
          <p:cNvSpPr txBox="1"/>
          <p:nvPr/>
        </p:nvSpPr>
        <p:spPr>
          <a:xfrm>
            <a:off x="566928" y="2999232"/>
            <a:ext cx="11057839"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The code is redeemable for exactly as long as ALL FOUR gates hold</a:t>
            </a:r>
          </a:p>
        </p:txBody>
      </p:sp>
      <p:sp>
        <p:nvSpPr>
          <p:cNvPr id="32" name="Rounded Rectangle 31"/>
          <p:cNvSpPr/>
          <p:nvPr/>
        </p:nvSpPr>
        <p:spPr>
          <a:xfrm>
            <a:off x="566928" y="3383280"/>
            <a:ext cx="2599867" cy="84124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31520" y="3529584"/>
            <a:ext cx="292608" cy="292608"/>
          </a:xfrm>
          <a:prstGeom prst="ellipse">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Century Gothic"/>
              </a:rPr>
              <a:t>1</a:t>
            </a:r>
          </a:p>
        </p:txBody>
      </p:sp>
      <p:sp>
        <p:nvSpPr>
          <p:cNvPr id="34" name="TextBox 33"/>
          <p:cNvSpPr txBox="1"/>
          <p:nvPr/>
        </p:nvSpPr>
        <p:spPr>
          <a:xfrm>
            <a:off x="1115568" y="3547872"/>
            <a:ext cx="19140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Account live</a:t>
            </a:r>
          </a:p>
        </p:txBody>
      </p:sp>
      <p:sp>
        <p:nvSpPr>
          <p:cNvPr id="35" name="TextBox 34"/>
          <p:cNvSpPr txBox="1"/>
          <p:nvPr/>
        </p:nvSpPr>
        <p:spPr>
          <a:xfrm>
            <a:off x="749808" y="3877056"/>
            <a:ext cx="2270683" cy="274320"/>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User.status = active</a:t>
            </a:r>
          </a:p>
        </p:txBody>
      </p:sp>
      <p:sp>
        <p:nvSpPr>
          <p:cNvPr id="36" name="Rounded Rectangle 35"/>
          <p:cNvSpPr/>
          <p:nvPr/>
        </p:nvSpPr>
        <p:spPr>
          <a:xfrm>
            <a:off x="3386251" y="3383280"/>
            <a:ext cx="2599867" cy="84124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50843" y="3529584"/>
            <a:ext cx="292608" cy="292608"/>
          </a:xfrm>
          <a:prstGeom prst="ellipse">
            <a:avLst/>
          </a:prstGeom>
          <a:gradFill rotWithShape="1">
            <a:gsLst>
              <a:gs pos="0">
                <a:srgbClr val="7F00F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Century Gothic"/>
              </a:rPr>
              <a:t>2</a:t>
            </a:r>
          </a:p>
        </p:txBody>
      </p:sp>
      <p:sp>
        <p:nvSpPr>
          <p:cNvPr id="38" name="TextBox 37"/>
          <p:cNvSpPr txBox="1"/>
          <p:nvPr/>
        </p:nvSpPr>
        <p:spPr>
          <a:xfrm>
            <a:off x="3934891" y="3547872"/>
            <a:ext cx="19140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7F00FF"/>
                </a:solidFill>
                <a:latin typeface="Century Gothic"/>
              </a:rPr>
              <a:t>Admin approved</a:t>
            </a:r>
          </a:p>
        </p:txBody>
      </p:sp>
      <p:sp>
        <p:nvSpPr>
          <p:cNvPr id="39" name="TextBox 38"/>
          <p:cNvSpPr txBox="1"/>
          <p:nvPr/>
        </p:nvSpPr>
        <p:spPr>
          <a:xfrm>
            <a:off x="3569131" y="3877056"/>
            <a:ext cx="2270683" cy="274320"/>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approval_status = approved</a:t>
            </a:r>
          </a:p>
        </p:txBody>
      </p:sp>
      <p:sp>
        <p:nvSpPr>
          <p:cNvPr id="40" name="Rounded Rectangle 39"/>
          <p:cNvSpPr/>
          <p:nvPr/>
        </p:nvSpPr>
        <p:spPr>
          <a:xfrm>
            <a:off x="6205575" y="3383280"/>
            <a:ext cx="2599867" cy="84124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370167" y="3529584"/>
            <a:ext cx="292608" cy="292608"/>
          </a:xfrm>
          <a:prstGeom prst="ellipse">
            <a:avLst/>
          </a:prstGeom>
          <a:gradFill rotWithShape="1">
            <a:gsLst>
              <a:gs pos="0">
                <a:srgbClr val="4B0082"/>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Century Gothic"/>
              </a:rPr>
              <a:t>3</a:t>
            </a:r>
          </a:p>
        </p:txBody>
      </p:sp>
      <p:sp>
        <p:nvSpPr>
          <p:cNvPr id="42" name="TextBox 41"/>
          <p:cNvSpPr txBox="1"/>
          <p:nvPr/>
        </p:nvSpPr>
        <p:spPr>
          <a:xfrm>
            <a:off x="6754215" y="3547872"/>
            <a:ext cx="19140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4B0082"/>
                </a:solidFill>
                <a:latin typeface="Century Gothic"/>
              </a:rPr>
              <a:t>KYC verified</a:t>
            </a:r>
          </a:p>
        </p:txBody>
      </p:sp>
      <p:sp>
        <p:nvSpPr>
          <p:cNvPr id="43" name="TextBox 42"/>
          <p:cNvSpPr txBox="1"/>
          <p:nvPr/>
        </p:nvSpPr>
        <p:spPr>
          <a:xfrm>
            <a:off x="6388455" y="3877056"/>
            <a:ext cx="2270683" cy="274320"/>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kyc_verified = true</a:t>
            </a:r>
          </a:p>
        </p:txBody>
      </p:sp>
      <p:sp>
        <p:nvSpPr>
          <p:cNvPr id="44" name="Rounded Rectangle 43"/>
          <p:cNvSpPr/>
          <p:nvPr/>
        </p:nvSpPr>
        <p:spPr>
          <a:xfrm>
            <a:off x="9024899" y="3383280"/>
            <a:ext cx="2599867" cy="841248"/>
          </a:xfrm>
          <a:prstGeom prst="roundRect">
            <a:avLst>
              <a:gd name="adj" fmla="val 10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189491" y="3529584"/>
            <a:ext cx="292608" cy="292608"/>
          </a:xfrm>
          <a:prstGeom prst="ellipse">
            <a:avLst/>
          </a:prstGeom>
          <a:gradFill rotWithShape="1">
            <a:gsLst>
              <a:gs pos="0">
                <a:srgbClr val="8B0000"/>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Century Gothic"/>
              </a:rPr>
              <a:t>4</a:t>
            </a:r>
          </a:p>
        </p:txBody>
      </p:sp>
      <p:sp>
        <p:nvSpPr>
          <p:cNvPr id="46" name="TextBox 45"/>
          <p:cNvSpPr txBox="1"/>
          <p:nvPr/>
        </p:nvSpPr>
        <p:spPr>
          <a:xfrm>
            <a:off x="9573539" y="3547872"/>
            <a:ext cx="19140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8B0000"/>
                </a:solidFill>
                <a:latin typeface="Century Gothic"/>
              </a:rPr>
              <a:t>Code switched on</a:t>
            </a:r>
          </a:p>
        </p:txBody>
      </p:sp>
      <p:sp>
        <p:nvSpPr>
          <p:cNvPr id="47" name="TextBox 46"/>
          <p:cNvSpPr txBox="1"/>
          <p:nvPr/>
        </p:nvSpPr>
        <p:spPr>
          <a:xfrm>
            <a:off x="9207779" y="3877056"/>
            <a:ext cx="2270683" cy="274320"/>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PromoCode.status = active</a:t>
            </a:r>
          </a:p>
        </p:txBody>
      </p:sp>
      <p:sp>
        <p:nvSpPr>
          <p:cNvPr id="48" name="Rounded Rectangle 47"/>
          <p:cNvSpPr/>
          <p:nvPr/>
        </p:nvSpPr>
        <p:spPr>
          <a:xfrm>
            <a:off x="566928" y="4389120"/>
            <a:ext cx="11057839" cy="658368"/>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6928" y="4389120"/>
            <a:ext cx="45720" cy="658368"/>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4517136"/>
            <a:ext cx="10692079" cy="438912"/>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VALIDITY IS DERIVED, NOT STORED — no expiry date, no usage counter, no "used" state. If KYC lapses or the admin suspends the influencer, the code stops working for NEW redemptions instantly. Redemptions already made are never rolled back.</a:t>
            </a:r>
          </a:p>
        </p:txBody>
      </p:sp>
      <p:sp>
        <p:nvSpPr>
          <p:cNvPr id="51" name="TextBox 50"/>
          <p:cNvSpPr txBox="1"/>
          <p:nvPr/>
        </p:nvSpPr>
        <p:spPr>
          <a:xfrm>
            <a:off x="566928" y="5212080"/>
            <a:ext cx="5486400" cy="274320"/>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What replaced the old one-shot token</a:t>
            </a:r>
          </a:p>
        </p:txBody>
      </p:sp>
      <p:sp>
        <p:nvSpPr>
          <p:cNvPr id="52" name="TextBox 51"/>
          <p:cNvSpPr txBox="1"/>
          <p:nvPr/>
        </p:nvSpPr>
        <p:spPr>
          <a:xfrm>
            <a:off x="566928" y="5522976"/>
            <a:ext cx="5669280" cy="329184"/>
          </a:xfrm>
          <a:prstGeom prst="rect">
            <a:avLst/>
          </a:prstGeom>
          <a:noFill/>
        </p:spPr>
        <p:txBody>
          <a:bodyPr wrap="square" anchor="t" lIns="0" rIns="0" tIns="0" bIns="0">
            <a:spAutoFit/>
          </a:bodyPr>
          <a:lstStyle/>
          <a:p>
            <a:pPr algn="l">
              <a:lnSpc>
                <a:spcPct val="115000"/>
              </a:lnSpc>
              <a:spcAft>
                <a:spcPts val="0"/>
              </a:spcAft>
            </a:pPr>
            <a:r>
              <a:rPr sz="850" b="0" i="0">
                <a:solidFill>
                  <a:srgbClr val="808080"/>
                </a:solidFill>
                <a:latin typeface="Century Gothic"/>
              </a:rPr>
              <a:t>status: unused → used  ·  redeemed_by_user_id  ·  lead_to_signup     ARE GONE</a:t>
            </a:r>
          </a:p>
        </p:txBody>
      </p:sp>
      <p:sp>
        <p:nvSpPr>
          <p:cNvPr id="53" name="Rounded Rectangle 52"/>
          <p:cNvSpPr/>
          <p:nvPr/>
        </p:nvSpPr>
        <p:spPr>
          <a:xfrm>
            <a:off x="6400800" y="5212080"/>
            <a:ext cx="5212080" cy="640080"/>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00800" y="5212080"/>
            <a:ext cx="45720" cy="640080"/>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01968" y="5340096"/>
            <a:ext cx="4846320" cy="420623"/>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A member may redeem ONE code, ONCE. Codes acquire new members — they do not discount renewals.</a:t>
            </a:r>
          </a:p>
        </p:txBody>
      </p:sp>
      <p:pic>
        <p:nvPicPr>
          <p:cNvPr id="56" name="Picture 55" descr="footer_bar.png"/>
          <p:cNvPicPr>
            <a:picLocks noChangeAspect="1"/>
          </p:cNvPicPr>
          <p:nvPr/>
        </p:nvPicPr>
        <p:blipFill>
          <a:blip r:embed="rId4"/>
          <a:stretch>
            <a:fillRect/>
          </a:stretch>
        </p:blipFill>
        <p:spPr>
          <a:xfrm>
            <a:off x="7260336" y="5861304"/>
            <a:ext cx="4928616" cy="491032"/>
          </a:xfrm>
          <a:prstGeom prst="rect">
            <a:avLst/>
          </a:prstGeom>
        </p:spPr>
      </p:pic>
      <p:sp>
        <p:nvSpPr>
          <p:cNvPr id="57" name="TextBox 56"/>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The Discount — Per Influencer, Super-Admin-Set</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What a code is worth is the Super Admin's decision — one value per influencer</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TextBox 6"/>
          <p:cNvSpPr txBox="1"/>
          <p:nvPr/>
        </p:nvSpPr>
        <p:spPr>
          <a:xfrm>
            <a:off x="566928" y="1444752"/>
            <a:ext cx="11057839"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Who controls the value of a code</a:t>
            </a:r>
          </a:p>
        </p:txBody>
      </p:sp>
      <p:sp>
        <p:nvSpPr>
          <p:cNvPr id="8" name="Rounded Rectangle 7"/>
          <p:cNvSpPr/>
          <p:nvPr/>
        </p:nvSpPr>
        <p:spPr>
          <a:xfrm>
            <a:off x="566928" y="1828800"/>
            <a:ext cx="3527450" cy="1316736"/>
          </a:xfrm>
          <a:prstGeom prst="roundRect">
            <a:avLst>
              <a:gd name="adj" fmla="val 7000"/>
            </a:avLst>
          </a:prstGeom>
          <a:gradFill rotWithShape="1">
            <a:gsLst>
              <a:gs pos="0">
                <a:srgbClr val="FF007F"/>
              </a:gs>
              <a:gs pos="100000">
                <a:srgbClr val="7F00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11680"/>
            <a:ext cx="3070250" cy="274320"/>
          </a:xfrm>
          <a:prstGeom prst="rect">
            <a:avLst/>
          </a:prstGeom>
          <a:noFill/>
        </p:spPr>
        <p:txBody>
          <a:bodyPr wrap="square" anchor="t" lIns="0" rIns="0" tIns="0" bIns="0">
            <a:spAutoFit/>
          </a:bodyPr>
          <a:lstStyle/>
          <a:p>
            <a:pPr algn="l">
              <a:lnSpc>
                <a:spcPct val="100000"/>
              </a:lnSpc>
              <a:spcAft>
                <a:spcPts val="0"/>
              </a:spcAft>
            </a:pPr>
            <a:r>
              <a:rPr sz="1300" b="1" i="0">
                <a:solidFill>
                  <a:srgbClr val="FFFFFF"/>
                </a:solidFill>
                <a:latin typeface="Century Gothic"/>
              </a:rPr>
              <a:t>Super Admin</a:t>
            </a:r>
          </a:p>
        </p:txBody>
      </p:sp>
      <p:sp>
        <p:nvSpPr>
          <p:cNvPr id="10" name="TextBox 9"/>
          <p:cNvSpPr txBox="1"/>
          <p:nvPr/>
        </p:nvSpPr>
        <p:spPr>
          <a:xfrm>
            <a:off x="804672" y="2377440"/>
            <a:ext cx="3070250" cy="694944"/>
          </a:xfrm>
          <a:prstGeom prst="rect">
            <a:avLst/>
          </a:prstGeom>
          <a:noFill/>
        </p:spPr>
        <p:txBody>
          <a:bodyPr wrap="square" anchor="t" lIns="0" rIns="0" tIns="0" bIns="0">
            <a:spAutoFit/>
          </a:bodyPr>
          <a:lstStyle/>
          <a:p>
            <a:pPr algn="l">
              <a:lnSpc>
                <a:spcPct val="120000"/>
              </a:lnSpc>
              <a:spcAft>
                <a:spcPts val="0"/>
              </a:spcAft>
            </a:pPr>
            <a:r>
              <a:rPr sz="900" b="0" i="0">
                <a:solidFill>
                  <a:srgbClr val="F6E4F4"/>
                </a:solidFill>
                <a:latin typeface="Century Gothic"/>
              </a:rPr>
              <a:t>SETS the discount value. Creates and changes PromoDiscount. The only role with a write path to it.</a:t>
            </a:r>
          </a:p>
        </p:txBody>
      </p:sp>
      <p:sp>
        <p:nvSpPr>
          <p:cNvPr id="11" name="Rounded Rectangle 10"/>
          <p:cNvSpPr/>
          <p:nvPr/>
        </p:nvSpPr>
        <p:spPr>
          <a:xfrm>
            <a:off x="4332122" y="1828800"/>
            <a:ext cx="3527450" cy="1316736"/>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2122" y="1828800"/>
            <a:ext cx="50292" cy="1316736"/>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9866" y="2011680"/>
            <a:ext cx="3070250" cy="274320"/>
          </a:xfrm>
          <a:prstGeom prst="rect">
            <a:avLst/>
          </a:prstGeom>
          <a:noFill/>
        </p:spPr>
        <p:txBody>
          <a:bodyPr wrap="square" anchor="t" lIns="0" rIns="0" tIns="0" bIns="0">
            <a:spAutoFit/>
          </a:bodyPr>
          <a:lstStyle/>
          <a:p>
            <a:pPr algn="l">
              <a:lnSpc>
                <a:spcPct val="100000"/>
              </a:lnSpc>
              <a:spcAft>
                <a:spcPts val="0"/>
              </a:spcAft>
            </a:pPr>
            <a:r>
              <a:rPr sz="1300" b="1" i="0">
                <a:solidFill>
                  <a:srgbClr val="808080"/>
                </a:solidFill>
                <a:latin typeface="Century Gothic"/>
              </a:rPr>
              <a:t>Influencer</a:t>
            </a:r>
          </a:p>
        </p:txBody>
      </p:sp>
      <p:sp>
        <p:nvSpPr>
          <p:cNvPr id="14" name="TextBox 13"/>
          <p:cNvSpPr txBox="1"/>
          <p:nvPr/>
        </p:nvSpPr>
        <p:spPr>
          <a:xfrm>
            <a:off x="4569866" y="2377440"/>
            <a:ext cx="3070250" cy="694944"/>
          </a:xfrm>
          <a:prstGeom prst="rect">
            <a:avLst/>
          </a:prstGeom>
          <a:noFill/>
        </p:spPr>
        <p:txBody>
          <a:bodyPr wrap="square" anchor="t" lIns="0" rIns="0" tIns="0" bIns="0">
            <a:spAutoFit/>
          </a:bodyPr>
          <a:lstStyle/>
          <a:p>
            <a:pPr algn="l">
              <a:lnSpc>
                <a:spcPct val="120000"/>
              </a:lnSpc>
              <a:spcAft>
                <a:spcPts val="0"/>
              </a:spcAft>
            </a:pPr>
            <a:r>
              <a:rPr sz="900" b="0" i="0">
                <a:solidFill>
                  <a:srgbClr val="3A3A3A"/>
                </a:solidFill>
                <a:latin typeface="Century Gothic"/>
              </a:rPr>
              <a:t>READS the discount attached to their code, and sees how many members redeemed it. Cannot set, raise or negotiate it.</a:t>
            </a:r>
          </a:p>
        </p:txBody>
      </p:sp>
      <p:sp>
        <p:nvSpPr>
          <p:cNvPr id="15" name="Rounded Rectangle 14"/>
          <p:cNvSpPr/>
          <p:nvPr/>
        </p:nvSpPr>
        <p:spPr>
          <a:xfrm>
            <a:off x="8097316" y="1828800"/>
            <a:ext cx="3527450" cy="1316736"/>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7316" y="1828800"/>
            <a:ext cx="50292" cy="1316736"/>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5060" y="2011680"/>
            <a:ext cx="3070250" cy="274320"/>
          </a:xfrm>
          <a:prstGeom prst="rect">
            <a:avLst/>
          </a:prstGeom>
          <a:noFill/>
        </p:spPr>
        <p:txBody>
          <a:bodyPr wrap="square" anchor="t" lIns="0" rIns="0" tIns="0" bIns="0">
            <a:spAutoFit/>
          </a:bodyPr>
          <a:lstStyle/>
          <a:p>
            <a:pPr algn="l">
              <a:lnSpc>
                <a:spcPct val="100000"/>
              </a:lnSpc>
              <a:spcAft>
                <a:spcPts val="0"/>
              </a:spcAft>
            </a:pPr>
            <a:r>
              <a:rPr sz="1300" b="1" i="0">
                <a:solidFill>
                  <a:srgbClr val="808080"/>
                </a:solidFill>
                <a:latin typeface="Century Gothic"/>
              </a:rPr>
              <a:t>Member</a:t>
            </a:r>
          </a:p>
        </p:txBody>
      </p:sp>
      <p:sp>
        <p:nvSpPr>
          <p:cNvPr id="18" name="TextBox 17"/>
          <p:cNvSpPr txBox="1"/>
          <p:nvPr/>
        </p:nvSpPr>
        <p:spPr>
          <a:xfrm>
            <a:off x="8335060" y="2377440"/>
            <a:ext cx="3070250" cy="694944"/>
          </a:xfrm>
          <a:prstGeom prst="rect">
            <a:avLst/>
          </a:prstGeom>
          <a:noFill/>
        </p:spPr>
        <p:txBody>
          <a:bodyPr wrap="square" anchor="t" lIns="0" rIns="0" tIns="0" bIns="0">
            <a:spAutoFit/>
          </a:bodyPr>
          <a:lstStyle/>
          <a:p>
            <a:pPr algn="l">
              <a:lnSpc>
                <a:spcPct val="120000"/>
              </a:lnSpc>
              <a:spcAft>
                <a:spcPts val="0"/>
              </a:spcAft>
            </a:pPr>
            <a:r>
              <a:rPr sz="900" b="0" i="0">
                <a:solidFill>
                  <a:srgbClr val="3A3A3A"/>
                </a:solidFill>
                <a:latin typeface="Century Gothic"/>
              </a:rPr>
              <a:t>RECEIVES the discount at checkout. The value is frozen onto their redemption row.</a:t>
            </a:r>
          </a:p>
        </p:txBody>
      </p:sp>
      <p:sp>
        <p:nvSpPr>
          <p:cNvPr id="19" name="TextBox 18"/>
          <p:cNvSpPr txBox="1"/>
          <p:nvPr/>
        </p:nvSpPr>
        <p:spPr>
          <a:xfrm>
            <a:off x="566928" y="3346704"/>
            <a:ext cx="548640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PromoDiscount is versioned, never overwritten</a:t>
            </a:r>
          </a:p>
        </p:txBody>
      </p:sp>
      <p:sp>
        <p:nvSpPr>
          <p:cNvPr id="20" name="Rounded Rectangle 19"/>
          <p:cNvSpPr/>
          <p:nvPr/>
        </p:nvSpPr>
        <p:spPr>
          <a:xfrm>
            <a:off x="566928" y="3712463"/>
            <a:ext cx="5486400" cy="54864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712463"/>
            <a:ext cx="45720" cy="54864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785615"/>
            <a:ext cx="5120640" cy="219456"/>
          </a:xfrm>
          <a:prstGeom prst="rect">
            <a:avLst/>
          </a:prstGeom>
          <a:noFill/>
        </p:spPr>
        <p:txBody>
          <a:bodyPr wrap="square" anchor="t" lIns="0" rIns="0" tIns="0" bIns="0">
            <a:spAutoFit/>
          </a:bodyPr>
          <a:lstStyle/>
          <a:p>
            <a:pPr algn="l">
              <a:lnSpc>
                <a:spcPct val="100000"/>
              </a:lnSpc>
              <a:spcAft>
                <a:spcPts val="0"/>
              </a:spcAft>
            </a:pPr>
            <a:r>
              <a:rPr sz="950" b="1" i="0">
                <a:solidFill>
                  <a:srgbClr val="FF007F"/>
                </a:solidFill>
                <a:latin typeface="Century Gothic"/>
              </a:rPr>
              <a:t>Admin sets a new value</a:t>
            </a:r>
          </a:p>
        </p:txBody>
      </p:sp>
      <p:sp>
        <p:nvSpPr>
          <p:cNvPr id="23" name="TextBox 22"/>
          <p:cNvSpPr txBox="1"/>
          <p:nvPr/>
        </p:nvSpPr>
        <p:spPr>
          <a:xfrm>
            <a:off x="768096" y="4005072"/>
            <a:ext cx="5120640" cy="219456"/>
          </a:xfrm>
          <a:prstGeom prst="rect">
            <a:avLst/>
          </a:prstGeom>
          <a:noFill/>
        </p:spPr>
        <p:txBody>
          <a:bodyPr wrap="square" anchor="t" lIns="0" rIns="0" tIns="0" bIns="0">
            <a:spAutoFit/>
          </a:bodyPr>
          <a:lstStyle/>
          <a:p>
            <a:pPr algn="l">
              <a:lnSpc>
                <a:spcPct val="100000"/>
              </a:lnSpc>
              <a:spcAft>
                <a:spcPts val="0"/>
              </a:spcAft>
            </a:pPr>
            <a:r>
              <a:rPr sz="819" b="0" i="0">
                <a:solidFill>
                  <a:srgbClr val="3A3A3A"/>
                </a:solidFill>
                <a:latin typeface="Century Gothic"/>
              </a:rPr>
              <a:t>The active row closes — effective_to = now.</a:t>
            </a:r>
          </a:p>
        </p:txBody>
      </p:sp>
      <p:sp>
        <p:nvSpPr>
          <p:cNvPr id="24" name="Rounded Rectangle 23"/>
          <p:cNvSpPr/>
          <p:nvPr/>
        </p:nvSpPr>
        <p:spPr>
          <a:xfrm>
            <a:off x="566928" y="4334255"/>
            <a:ext cx="5486400" cy="54864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4334255"/>
            <a:ext cx="45720" cy="548640"/>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407407"/>
            <a:ext cx="5120640" cy="219456"/>
          </a:xfrm>
          <a:prstGeom prst="rect">
            <a:avLst/>
          </a:prstGeom>
          <a:noFill/>
        </p:spPr>
        <p:txBody>
          <a:bodyPr wrap="square" anchor="t" lIns="0" rIns="0" tIns="0" bIns="0">
            <a:spAutoFit/>
          </a:bodyPr>
          <a:lstStyle/>
          <a:p>
            <a:pPr algn="l">
              <a:lnSpc>
                <a:spcPct val="100000"/>
              </a:lnSpc>
              <a:spcAft>
                <a:spcPts val="0"/>
              </a:spcAft>
            </a:pPr>
            <a:r>
              <a:rPr sz="950" b="1" i="0">
                <a:solidFill>
                  <a:srgbClr val="7F00FF"/>
                </a:solidFill>
                <a:latin typeface="Century Gothic"/>
              </a:rPr>
              <a:t>A new row opens</a:t>
            </a:r>
          </a:p>
        </p:txBody>
      </p:sp>
      <p:sp>
        <p:nvSpPr>
          <p:cNvPr id="27" name="TextBox 26"/>
          <p:cNvSpPr txBox="1"/>
          <p:nvPr/>
        </p:nvSpPr>
        <p:spPr>
          <a:xfrm>
            <a:off x="768096" y="4626864"/>
            <a:ext cx="5120640" cy="219456"/>
          </a:xfrm>
          <a:prstGeom prst="rect">
            <a:avLst/>
          </a:prstGeom>
          <a:noFill/>
        </p:spPr>
        <p:txBody>
          <a:bodyPr wrap="square" anchor="t" lIns="0" rIns="0" tIns="0" bIns="0">
            <a:spAutoFit/>
          </a:bodyPr>
          <a:lstStyle/>
          <a:p>
            <a:pPr algn="l">
              <a:lnSpc>
                <a:spcPct val="100000"/>
              </a:lnSpc>
              <a:spcAft>
                <a:spcPts val="0"/>
              </a:spcAft>
            </a:pPr>
            <a:r>
              <a:rPr sz="819" b="0" i="0">
                <a:solidFill>
                  <a:srgbClr val="3A3A3A"/>
                </a:solidFill>
                <a:latin typeface="Century Gothic"/>
              </a:rPr>
              <a:t>effective_from = now, effective_to = null.</a:t>
            </a:r>
          </a:p>
        </p:txBody>
      </p:sp>
      <p:sp>
        <p:nvSpPr>
          <p:cNvPr id="28" name="Rounded Rectangle 27"/>
          <p:cNvSpPr/>
          <p:nvPr/>
        </p:nvSpPr>
        <p:spPr>
          <a:xfrm>
            <a:off x="566928" y="4956048"/>
            <a:ext cx="5486400" cy="54864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4956048"/>
            <a:ext cx="45720" cy="548640"/>
          </a:xfrm>
          <a:prstGeom prst="rect">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5029200"/>
            <a:ext cx="5120640" cy="219456"/>
          </a:xfrm>
          <a:prstGeom prst="rect">
            <a:avLst/>
          </a:prstGeom>
          <a:noFill/>
        </p:spPr>
        <p:txBody>
          <a:bodyPr wrap="square" anchor="t" lIns="0" rIns="0" tIns="0" bIns="0">
            <a:spAutoFit/>
          </a:bodyPr>
          <a:lstStyle/>
          <a:p>
            <a:pPr algn="l">
              <a:lnSpc>
                <a:spcPct val="100000"/>
              </a:lnSpc>
              <a:spcAft>
                <a:spcPts val="0"/>
              </a:spcAft>
            </a:pPr>
            <a:r>
              <a:rPr sz="950" b="1" i="0">
                <a:solidFill>
                  <a:srgbClr val="4B0082"/>
                </a:solidFill>
                <a:latin typeface="Century Gothic"/>
              </a:rPr>
              <a:t>Redemptions freeze theirs</a:t>
            </a:r>
          </a:p>
        </p:txBody>
      </p:sp>
      <p:sp>
        <p:nvSpPr>
          <p:cNvPr id="31" name="TextBox 30"/>
          <p:cNvSpPr txBox="1"/>
          <p:nvPr/>
        </p:nvSpPr>
        <p:spPr>
          <a:xfrm>
            <a:off x="768096" y="5248656"/>
            <a:ext cx="5120640" cy="219456"/>
          </a:xfrm>
          <a:prstGeom prst="rect">
            <a:avLst/>
          </a:prstGeom>
          <a:noFill/>
        </p:spPr>
        <p:txBody>
          <a:bodyPr wrap="square" anchor="t" lIns="0" rIns="0" tIns="0" bIns="0">
            <a:spAutoFit/>
          </a:bodyPr>
          <a:lstStyle/>
          <a:p>
            <a:pPr algn="l">
              <a:lnSpc>
                <a:spcPct val="100000"/>
              </a:lnSpc>
              <a:spcAft>
                <a:spcPts val="0"/>
              </a:spcAft>
            </a:pPr>
            <a:r>
              <a:rPr sz="819" b="0" i="0">
                <a:solidFill>
                  <a:srgbClr val="3A3A3A"/>
                </a:solidFill>
                <a:latin typeface="Century Gothic"/>
              </a:rPr>
              <a:t>discount_type and discount_value are copied onto the redemption row.</a:t>
            </a:r>
          </a:p>
        </p:txBody>
      </p:sp>
      <p:sp>
        <p:nvSpPr>
          <p:cNvPr id="32" name="TextBox 31"/>
          <p:cNvSpPr txBox="1"/>
          <p:nvPr/>
        </p:nvSpPr>
        <p:spPr>
          <a:xfrm>
            <a:off x="6492240" y="3346704"/>
            <a:ext cx="512064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The two dials the admin holds</a:t>
            </a:r>
          </a:p>
        </p:txBody>
      </p:sp>
      <p:sp>
        <p:nvSpPr>
          <p:cNvPr id="33" name="Rounded Rectangle 32"/>
          <p:cNvSpPr/>
          <p:nvPr/>
        </p:nvSpPr>
        <p:spPr>
          <a:xfrm>
            <a:off x="6492240" y="3712463"/>
            <a:ext cx="2103120" cy="457200"/>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PromoDiscount</a:t>
            </a:r>
          </a:p>
        </p:txBody>
      </p:sp>
      <p:sp>
        <p:nvSpPr>
          <p:cNvPr id="34" name="TextBox 33"/>
          <p:cNvSpPr txBox="1"/>
          <p:nvPr/>
        </p:nvSpPr>
        <p:spPr>
          <a:xfrm>
            <a:off x="8741664" y="3840479"/>
            <a:ext cx="2880360" cy="274320"/>
          </a:xfrm>
          <a:prstGeom prst="rect">
            <a:avLst/>
          </a:prstGeom>
          <a:noFill/>
        </p:spPr>
        <p:txBody>
          <a:bodyPr wrap="square" anchor="t" lIns="0" rIns="0" tIns="0" bIns="0">
            <a:spAutoFit/>
          </a:bodyPr>
          <a:lstStyle/>
          <a:p>
            <a:pPr algn="l">
              <a:lnSpc>
                <a:spcPct val="100000"/>
              </a:lnSpc>
              <a:spcAft>
                <a:spcPts val="0"/>
              </a:spcAft>
            </a:pPr>
            <a:r>
              <a:rPr sz="900" b="0" i="0">
                <a:solidFill>
                  <a:srgbClr val="3A3A3A"/>
                </a:solidFill>
                <a:latin typeface="Century Gothic"/>
              </a:rPr>
              <a:t>what the MEMBER saves</a:t>
            </a:r>
          </a:p>
        </p:txBody>
      </p:sp>
      <p:sp>
        <p:nvSpPr>
          <p:cNvPr id="35" name="Rounded Rectangle 34"/>
          <p:cNvSpPr/>
          <p:nvPr/>
        </p:nvSpPr>
        <p:spPr>
          <a:xfrm>
            <a:off x="6492240" y="4352544"/>
            <a:ext cx="2103120" cy="457200"/>
          </a:xfrm>
          <a:prstGeom prst="roundRect">
            <a:avLst>
              <a:gd name="adj" fmla="val 50000"/>
            </a:avLst>
          </a:prstGeom>
          <a:gradFill rotWithShape="1">
            <a:gsLst>
              <a:gs pos="0">
                <a:srgbClr val="7F00FF"/>
              </a:gs>
              <a:gs pos="100000">
                <a:srgbClr val="4B00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PayoutRate</a:t>
            </a:r>
          </a:p>
        </p:txBody>
      </p:sp>
      <p:sp>
        <p:nvSpPr>
          <p:cNvPr id="36" name="TextBox 35"/>
          <p:cNvSpPr txBox="1"/>
          <p:nvPr/>
        </p:nvSpPr>
        <p:spPr>
          <a:xfrm>
            <a:off x="8741664" y="4480559"/>
            <a:ext cx="2880360" cy="274320"/>
          </a:xfrm>
          <a:prstGeom prst="rect">
            <a:avLst/>
          </a:prstGeom>
          <a:noFill/>
        </p:spPr>
        <p:txBody>
          <a:bodyPr wrap="square" anchor="t" lIns="0" rIns="0" tIns="0" bIns="0">
            <a:spAutoFit/>
          </a:bodyPr>
          <a:lstStyle/>
          <a:p>
            <a:pPr algn="l">
              <a:lnSpc>
                <a:spcPct val="100000"/>
              </a:lnSpc>
              <a:spcAft>
                <a:spcPts val="0"/>
              </a:spcAft>
            </a:pPr>
            <a:r>
              <a:rPr sz="900" b="0" i="0">
                <a:solidFill>
                  <a:srgbClr val="3A3A3A"/>
                </a:solidFill>
                <a:latin typeface="Century Gothic"/>
              </a:rPr>
              <a:t>what the INFLUENCER earns</a:t>
            </a:r>
          </a:p>
        </p:txBody>
      </p:sp>
      <p:sp>
        <p:nvSpPr>
          <p:cNvPr id="37" name="Rounded Rectangle 36"/>
          <p:cNvSpPr/>
          <p:nvPr/>
        </p:nvSpPr>
        <p:spPr>
          <a:xfrm>
            <a:off x="6492240" y="5010912"/>
            <a:ext cx="5120640" cy="804672"/>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92240" y="5010912"/>
            <a:ext cx="45720" cy="80467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3407" y="5138928"/>
            <a:ext cx="4754879" cy="585216"/>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THEY INTERACT — the discount lowers what the member actually pays, and the payout percentage is taken on the amount actually paid. A deeper discount shrinks platform revenue AND the influencer's payout.</a:t>
            </a:r>
          </a:p>
        </p:txBody>
      </p:sp>
      <p:sp>
        <p:nvSpPr>
          <p:cNvPr id="40" name="Rounded Rectangle 39"/>
          <p:cNvSpPr/>
          <p:nvPr/>
        </p:nvSpPr>
        <p:spPr>
          <a:xfrm>
            <a:off x="566928" y="5650992"/>
            <a:ext cx="5486400" cy="457200"/>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5650992"/>
            <a:ext cx="45720" cy="4572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779007"/>
            <a:ext cx="5120640" cy="237744"/>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Decided: each influencer has their own value, set only by the Super Admin.</a:t>
            </a:r>
          </a:p>
        </p:txBody>
      </p:sp>
      <p:pic>
        <p:nvPicPr>
          <p:cNvPr id="43" name="Picture 42" descr="footer_bar.png"/>
          <p:cNvPicPr>
            <a:picLocks noChangeAspect="1"/>
          </p:cNvPicPr>
          <p:nvPr/>
        </p:nvPicPr>
        <p:blipFill>
          <a:blip r:embed="rId4"/>
          <a:stretch>
            <a:fillRect/>
          </a:stretch>
        </p:blipFill>
        <p:spPr>
          <a:xfrm>
            <a:off x="7260336" y="5861304"/>
            <a:ext cx="4928616" cy="491032"/>
          </a:xfrm>
          <a:prstGeom prst="rect">
            <a:avLst/>
          </a:prstGeom>
        </p:spPr>
      </p:pic>
      <p:sp>
        <p:nvSpPr>
          <p:cNvPr id="44" name="TextBox 43"/>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Influencer Compensation</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Influencers earn from two sources — the Super Admin approves every accrual; the Accountant issues it</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Rounded Rectangle 6"/>
          <p:cNvSpPr/>
          <p:nvPr/>
        </p:nvSpPr>
        <p:spPr>
          <a:xfrm>
            <a:off x="566928" y="1517904"/>
            <a:ext cx="2072640" cy="201168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517904"/>
            <a:ext cx="50292" cy="2011680"/>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700784"/>
            <a:ext cx="1661160" cy="274320"/>
          </a:xfrm>
          <a:prstGeom prst="rect">
            <a:avLst/>
          </a:prstGeom>
          <a:noFill/>
        </p:spPr>
        <p:txBody>
          <a:bodyPr wrap="square" anchor="t" lIns="0" rIns="0" tIns="0" bIns="0">
            <a:spAutoFit/>
          </a:bodyPr>
          <a:lstStyle/>
          <a:p>
            <a:pPr algn="l">
              <a:lnSpc>
                <a:spcPct val="100000"/>
              </a:lnSpc>
              <a:spcAft>
                <a:spcPts val="0"/>
              </a:spcAft>
            </a:pPr>
            <a:r>
              <a:rPr sz="1050" b="1" i="0">
                <a:solidFill>
                  <a:srgbClr val="FF007F"/>
                </a:solidFill>
                <a:latin typeface="Century Gothic"/>
              </a:rPr>
              <a:t>Subscription payments</a:t>
            </a:r>
          </a:p>
        </p:txBody>
      </p:sp>
      <p:sp>
        <p:nvSpPr>
          <p:cNvPr id="10" name="TextBox 9"/>
          <p:cNvSpPr txBox="1"/>
          <p:nvPr/>
        </p:nvSpPr>
        <p:spPr>
          <a:xfrm>
            <a:off x="804672" y="2066543"/>
            <a:ext cx="1661160" cy="1325880"/>
          </a:xfrm>
          <a:prstGeom prst="rect">
            <a:avLst/>
          </a:prstGeom>
          <a:noFill/>
        </p:spPr>
        <p:txBody>
          <a:bodyPr wrap="square" anchor="t" lIns="0" rIns="0" tIns="0" bIns="0">
            <a:spAutoFit/>
          </a:bodyPr>
          <a:lstStyle/>
          <a:p>
            <a:pPr algn="l">
              <a:lnSpc>
                <a:spcPct val="122000"/>
              </a:lnSpc>
              <a:spcAft>
                <a:spcPts val="0"/>
              </a:spcAft>
            </a:pPr>
            <a:r>
              <a:rPr sz="860" b="0" i="0">
                <a:solidFill>
                  <a:srgbClr val="3A3A3A"/>
                </a:solidFill>
                <a:latin typeface="Century Gothic"/>
              </a:rPr>
              <a:t>A percentage of every successful subscription payment. The primary accrual — created automatically.</a:t>
            </a:r>
          </a:p>
        </p:txBody>
      </p:sp>
      <p:sp>
        <p:nvSpPr>
          <p:cNvPr id="11" name="TextBox 10"/>
          <p:cNvSpPr txBox="1"/>
          <p:nvPr/>
        </p:nvSpPr>
        <p:spPr>
          <a:xfrm>
            <a:off x="804672" y="3200400"/>
            <a:ext cx="1661160" cy="237744"/>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source_type: subscription_payment</a:t>
            </a:r>
          </a:p>
        </p:txBody>
      </p:sp>
      <p:sp>
        <p:nvSpPr>
          <p:cNvPr id="12" name="Rounded Rectangle 11"/>
          <p:cNvSpPr/>
          <p:nvPr/>
        </p:nvSpPr>
        <p:spPr>
          <a:xfrm>
            <a:off x="2822448" y="1517904"/>
            <a:ext cx="2072640" cy="201168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22448" y="1517904"/>
            <a:ext cx="50292" cy="2011680"/>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0192" y="1700784"/>
            <a:ext cx="1661160" cy="274320"/>
          </a:xfrm>
          <a:prstGeom prst="rect">
            <a:avLst/>
          </a:prstGeom>
          <a:noFill/>
        </p:spPr>
        <p:txBody>
          <a:bodyPr wrap="square" anchor="t" lIns="0" rIns="0" tIns="0" bIns="0">
            <a:spAutoFit/>
          </a:bodyPr>
          <a:lstStyle/>
          <a:p>
            <a:pPr algn="l">
              <a:lnSpc>
                <a:spcPct val="100000"/>
              </a:lnSpc>
              <a:spcAft>
                <a:spcPts val="0"/>
              </a:spcAft>
            </a:pPr>
            <a:r>
              <a:rPr sz="1050" b="1" i="0">
                <a:solidFill>
                  <a:srgbClr val="7F00FF"/>
                </a:solidFill>
                <a:latin typeface="Century Gothic"/>
              </a:rPr>
              <a:t>Signups</a:t>
            </a:r>
          </a:p>
        </p:txBody>
      </p:sp>
      <p:sp>
        <p:nvSpPr>
          <p:cNvPr id="15" name="TextBox 14"/>
          <p:cNvSpPr txBox="1"/>
          <p:nvPr/>
        </p:nvSpPr>
        <p:spPr>
          <a:xfrm>
            <a:off x="3060192" y="2066543"/>
            <a:ext cx="1661160" cy="1325880"/>
          </a:xfrm>
          <a:prstGeom prst="rect">
            <a:avLst/>
          </a:prstGeom>
          <a:noFill/>
        </p:spPr>
        <p:txBody>
          <a:bodyPr wrap="square" anchor="t" lIns="0" rIns="0" tIns="0" bIns="0">
            <a:spAutoFit/>
          </a:bodyPr>
          <a:lstStyle/>
          <a:p>
            <a:pPr algn="l">
              <a:lnSpc>
                <a:spcPct val="122000"/>
              </a:lnSpc>
              <a:spcAft>
                <a:spcPts val="0"/>
              </a:spcAft>
            </a:pPr>
            <a:r>
              <a:rPr sz="860" b="0" i="0">
                <a:solidFill>
                  <a:srgbClr val="3A3A3A"/>
                </a:solidFill>
                <a:latin typeface="Century Gothic"/>
              </a:rPr>
              <a:t>Each PromoCodeRedemption. The code is reusable, so one code produces many signup accruals over its life.</a:t>
            </a:r>
          </a:p>
        </p:txBody>
      </p:sp>
      <p:sp>
        <p:nvSpPr>
          <p:cNvPr id="16" name="TextBox 15"/>
          <p:cNvSpPr txBox="1"/>
          <p:nvPr/>
        </p:nvSpPr>
        <p:spPr>
          <a:xfrm>
            <a:off x="3060192" y="3200400"/>
            <a:ext cx="1661160" cy="237744"/>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source_type: signup</a:t>
            </a:r>
          </a:p>
        </p:txBody>
      </p:sp>
      <p:sp>
        <p:nvSpPr>
          <p:cNvPr id="17" name="Rounded Rectangle 16"/>
          <p:cNvSpPr/>
          <p:nvPr/>
        </p:nvSpPr>
        <p:spPr>
          <a:xfrm>
            <a:off x="5077968" y="1517904"/>
            <a:ext cx="2072640" cy="201168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77968" y="1517904"/>
            <a:ext cx="50292" cy="2011680"/>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5712" y="1700784"/>
            <a:ext cx="1661160" cy="274320"/>
          </a:xfrm>
          <a:prstGeom prst="rect">
            <a:avLst/>
          </a:prstGeom>
          <a:noFill/>
        </p:spPr>
        <p:txBody>
          <a:bodyPr wrap="square" anchor="t" lIns="0" rIns="0" tIns="0" bIns="0">
            <a:spAutoFit/>
          </a:bodyPr>
          <a:lstStyle/>
          <a:p>
            <a:pPr algn="l">
              <a:lnSpc>
                <a:spcPct val="100000"/>
              </a:lnSpc>
              <a:spcAft>
                <a:spcPts val="0"/>
              </a:spcAft>
            </a:pPr>
            <a:r>
              <a:rPr sz="1050" b="1" i="0">
                <a:solidFill>
                  <a:srgbClr val="4B0082"/>
                </a:solidFill>
                <a:latin typeface="Century Gothic"/>
              </a:rPr>
              <a:t>Bonus</a:t>
            </a:r>
          </a:p>
        </p:txBody>
      </p:sp>
      <p:sp>
        <p:nvSpPr>
          <p:cNvPr id="20" name="TextBox 19"/>
          <p:cNvSpPr txBox="1"/>
          <p:nvPr/>
        </p:nvSpPr>
        <p:spPr>
          <a:xfrm>
            <a:off x="5315712" y="2066543"/>
            <a:ext cx="1661160" cy="1325880"/>
          </a:xfrm>
          <a:prstGeom prst="rect">
            <a:avLst/>
          </a:prstGeom>
          <a:noFill/>
        </p:spPr>
        <p:txBody>
          <a:bodyPr wrap="square" anchor="t" lIns="0" rIns="0" tIns="0" bIns="0">
            <a:spAutoFit/>
          </a:bodyPr>
          <a:lstStyle/>
          <a:p>
            <a:pPr algn="l">
              <a:lnSpc>
                <a:spcPct val="122000"/>
              </a:lnSpc>
              <a:spcAft>
                <a:spcPts val="0"/>
              </a:spcAft>
            </a:pPr>
            <a:r>
              <a:rPr sz="860" b="0" i="0">
                <a:solidFill>
                  <a:srgbClr val="3A3A3A"/>
                </a:solidFill>
                <a:latin typeface="Century Gothic"/>
              </a:rPr>
              <a:t>A discretionary award, raised by a Super Admin. Not automatic.</a:t>
            </a:r>
          </a:p>
        </p:txBody>
      </p:sp>
      <p:sp>
        <p:nvSpPr>
          <p:cNvPr id="21" name="TextBox 20"/>
          <p:cNvSpPr txBox="1"/>
          <p:nvPr/>
        </p:nvSpPr>
        <p:spPr>
          <a:xfrm>
            <a:off x="5315712" y="3200400"/>
            <a:ext cx="1661160" cy="237744"/>
          </a:xfrm>
          <a:prstGeom prst="rect">
            <a:avLst/>
          </a:prstGeom>
          <a:noFill/>
        </p:spPr>
        <p:txBody>
          <a:bodyPr wrap="square" anchor="t" lIns="0" rIns="0" tIns="0" bIns="0">
            <a:spAutoFit/>
          </a:bodyPr>
          <a:lstStyle/>
          <a:p>
            <a:pPr algn="l">
              <a:lnSpc>
                <a:spcPct val="100000"/>
              </a:lnSpc>
              <a:spcAft>
                <a:spcPts val="0"/>
              </a:spcAft>
            </a:pPr>
            <a:r>
              <a:rPr sz="800" b="0" i="0">
                <a:solidFill>
                  <a:srgbClr val="808080"/>
                </a:solidFill>
                <a:latin typeface="Century Gothic"/>
              </a:rPr>
              <a:t>source_type: bonus</a:t>
            </a:r>
          </a:p>
        </p:txBody>
      </p:sp>
      <p:sp>
        <p:nvSpPr>
          <p:cNvPr id="22" name="Right Arrow 21"/>
          <p:cNvSpPr/>
          <p:nvPr/>
        </p:nvSpPr>
        <p:spPr>
          <a:xfrm>
            <a:off x="7315200" y="2395728"/>
            <a:ext cx="310896" cy="182880"/>
          </a:xfrm>
          <a:prstGeom prst="right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863840" y="1554480"/>
            <a:ext cx="3758184" cy="438912"/>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InfluencerCompensation</a:t>
            </a:r>
          </a:p>
        </p:txBody>
      </p:sp>
      <p:sp>
        <p:nvSpPr>
          <p:cNvPr id="24" name="Rounded Rectangle 23"/>
          <p:cNvSpPr/>
          <p:nvPr/>
        </p:nvSpPr>
        <p:spPr>
          <a:xfrm>
            <a:off x="7863840" y="2103120"/>
            <a:ext cx="3758184" cy="438912"/>
          </a:xfrm>
          <a:prstGeom prst="roundRect">
            <a:avLst>
              <a:gd name="adj" fmla="val 50000"/>
            </a:avLst>
          </a:prstGeom>
          <a:solidFill>
            <a:srgbClr val="7F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Super Admin approves</a:t>
            </a:r>
          </a:p>
        </p:txBody>
      </p:sp>
      <p:sp>
        <p:nvSpPr>
          <p:cNvPr id="25" name="Rounded Rectangle 24"/>
          <p:cNvSpPr/>
          <p:nvPr/>
        </p:nvSpPr>
        <p:spPr>
          <a:xfrm>
            <a:off x="7863840" y="2651760"/>
            <a:ext cx="3758184" cy="438912"/>
          </a:xfrm>
          <a:prstGeom prst="roundRect">
            <a:avLst>
              <a:gd name="adj" fmla="val 50000"/>
            </a:avLst>
          </a:prstGeom>
          <a:solidFill>
            <a:srgbClr val="4B0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000" b="1">
                <a:solidFill>
                  <a:srgbClr val="FFFFFF"/>
                </a:solidFill>
                <a:latin typeface="Century Gothic"/>
              </a:rPr>
              <a:t>Bundled into a Payout</a:t>
            </a:r>
          </a:p>
        </p:txBody>
      </p:sp>
      <p:sp>
        <p:nvSpPr>
          <p:cNvPr id="26" name="TextBox 25"/>
          <p:cNvSpPr txBox="1"/>
          <p:nvPr/>
        </p:nvSpPr>
        <p:spPr>
          <a:xfrm>
            <a:off x="7863840" y="3163824"/>
            <a:ext cx="3758184" cy="457200"/>
          </a:xfrm>
          <a:prstGeom prst="rect">
            <a:avLst/>
          </a:prstGeom>
          <a:noFill/>
        </p:spPr>
        <p:txBody>
          <a:bodyPr wrap="square" anchor="t" lIns="0" rIns="0" tIns="0" bIns="0">
            <a:spAutoFit/>
          </a:bodyPr>
          <a:lstStyle/>
          <a:p>
            <a:pPr algn="l">
              <a:lnSpc>
                <a:spcPct val="118000"/>
              </a:lnSpc>
              <a:spcAft>
                <a:spcPts val="0"/>
              </a:spcAft>
            </a:pPr>
            <a:r>
              <a:rPr sz="880" b="0" i="0">
                <a:solidFill>
                  <a:srgbClr val="808080"/>
                </a:solidFill>
                <a:latin typeface="Century Gothic"/>
              </a:rPr>
              <a:t>Only the Super Admin approves an accrual; the Accountant Manager then issues the payout manually and records it on the ledger.</a:t>
            </a:r>
          </a:p>
        </p:txBody>
      </p:sp>
      <p:sp>
        <p:nvSpPr>
          <p:cNvPr id="27" name="Rounded Rectangle 26"/>
          <p:cNvSpPr/>
          <p:nvPr/>
        </p:nvSpPr>
        <p:spPr>
          <a:xfrm>
            <a:off x="566928" y="3749039"/>
            <a:ext cx="6583680" cy="1188720"/>
          </a:xfrm>
          <a:prstGeom prst="roundRect">
            <a:avLst>
              <a:gd name="adj" fmla="val 7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3749039"/>
            <a:ext cx="50292" cy="118872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3913632"/>
            <a:ext cx="61264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8B0000"/>
                </a:solidFill>
                <a:latin typeface="Century Gothic"/>
              </a:rPr>
              <a:t>REMOVED — post tracking &amp; verified-post pay</a:t>
            </a:r>
          </a:p>
        </p:txBody>
      </p:sp>
      <p:sp>
        <p:nvSpPr>
          <p:cNvPr id="30" name="TextBox 29"/>
          <p:cNvSpPr txBox="1"/>
          <p:nvPr/>
        </p:nvSpPr>
        <p:spPr>
          <a:xfrm>
            <a:off x="804672" y="4224528"/>
            <a:ext cx="6126480" cy="640080"/>
          </a:xfrm>
          <a:prstGeom prst="rect">
            <a:avLst/>
          </a:prstGeom>
          <a:noFill/>
        </p:spPr>
        <p:txBody>
          <a:bodyPr wrap="square" anchor="t" lIns="0" rIns="0" tIns="0" bIns="0">
            <a:spAutoFit/>
          </a:bodyPr>
          <a:lstStyle/>
          <a:p>
            <a:pPr algn="l">
              <a:lnSpc>
                <a:spcPct val="120000"/>
              </a:lnSpc>
              <a:spcAft>
                <a:spcPts val="0"/>
              </a:spcAft>
            </a:pPr>
            <a:r>
              <a:rPr sz="900" b="0" i="0">
                <a:solidFill>
                  <a:srgbClr val="3A3A3A"/>
                </a:solidFill>
                <a:latin typeface="Century Gothic"/>
              </a:rPr>
              <a:t>Influencers are no longer paid for promoting products on social media. The platform no longer records or verifies post URLs. InfluencerPostTracker is gone, and with it the offer_post and event_post accrual sources.</a:t>
            </a:r>
          </a:p>
        </p:txBody>
      </p:sp>
      <p:sp>
        <p:nvSpPr>
          <p:cNvPr id="31" name="Rounded Rectangle 30"/>
          <p:cNvSpPr/>
          <p:nvPr/>
        </p:nvSpPr>
        <p:spPr>
          <a:xfrm>
            <a:off x="566928" y="5102352"/>
            <a:ext cx="6583680" cy="603504"/>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102352"/>
            <a:ext cx="45720" cy="603504"/>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5230368"/>
            <a:ext cx="6217920" cy="384048"/>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An influencer now earns from WHO THEY BRING IN, not from WHAT THEY POST.</a:t>
            </a:r>
          </a:p>
        </p:txBody>
      </p:sp>
      <p:sp>
        <p:nvSpPr>
          <p:cNvPr id="34" name="TextBox 33"/>
          <p:cNvSpPr txBox="1"/>
          <p:nvPr/>
        </p:nvSpPr>
        <p:spPr>
          <a:xfrm>
            <a:off x="7863840" y="3913632"/>
            <a:ext cx="3758184"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Compensation states</a:t>
            </a:r>
          </a:p>
        </p:txBody>
      </p:sp>
      <p:sp>
        <p:nvSpPr>
          <p:cNvPr id="35" name="Rounded Rectangle 34"/>
          <p:cNvSpPr/>
          <p:nvPr/>
        </p:nvSpPr>
        <p:spPr>
          <a:xfrm>
            <a:off x="7863840" y="4297680"/>
            <a:ext cx="877824" cy="365760"/>
          </a:xfrm>
          <a:prstGeom prst="roundRect">
            <a:avLst>
              <a:gd name="adj" fmla="val 50000"/>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3A3A3A"/>
                </a:solidFill>
                <a:latin typeface="Century Gothic"/>
              </a:rPr>
              <a:t>pending</a:t>
            </a:r>
          </a:p>
        </p:txBody>
      </p:sp>
      <p:sp>
        <p:nvSpPr>
          <p:cNvPr id="36" name="Rounded Rectangle 35"/>
          <p:cNvSpPr/>
          <p:nvPr/>
        </p:nvSpPr>
        <p:spPr>
          <a:xfrm>
            <a:off x="8823960" y="4297680"/>
            <a:ext cx="877824" cy="365760"/>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FFFFFF"/>
                </a:solidFill>
                <a:latin typeface="Century Gothic"/>
              </a:rPr>
              <a:t>approved</a:t>
            </a:r>
          </a:p>
        </p:txBody>
      </p:sp>
      <p:sp>
        <p:nvSpPr>
          <p:cNvPr id="37" name="Rounded Rectangle 36"/>
          <p:cNvSpPr/>
          <p:nvPr/>
        </p:nvSpPr>
        <p:spPr>
          <a:xfrm>
            <a:off x="9784080" y="4297680"/>
            <a:ext cx="877824" cy="365760"/>
          </a:xfrm>
          <a:prstGeom prst="roundRect">
            <a:avLst>
              <a:gd name="adj" fmla="val 50000"/>
            </a:avLst>
          </a:prstGeom>
          <a:solidFill>
            <a:srgbClr val="4B0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FFFFFF"/>
                </a:solidFill>
                <a:latin typeface="Century Gothic"/>
              </a:rPr>
              <a:t>paid</a:t>
            </a:r>
          </a:p>
        </p:txBody>
      </p:sp>
      <p:sp>
        <p:nvSpPr>
          <p:cNvPr id="38" name="Rounded Rectangle 37"/>
          <p:cNvSpPr/>
          <p:nvPr/>
        </p:nvSpPr>
        <p:spPr>
          <a:xfrm>
            <a:off x="10744200" y="4297680"/>
            <a:ext cx="877824" cy="365760"/>
          </a:xfrm>
          <a:prstGeom prst="roundRect">
            <a:avLst>
              <a:gd name="adj" fmla="val 50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800" b="1">
                <a:solidFill>
                  <a:srgbClr val="FFFFFF"/>
                </a:solidFill>
                <a:latin typeface="Century Gothic"/>
              </a:rPr>
              <a:t>reversed</a:t>
            </a:r>
          </a:p>
        </p:txBody>
      </p:sp>
      <p:sp>
        <p:nvSpPr>
          <p:cNvPr id="39" name="Rounded Rectangle 38"/>
          <p:cNvSpPr/>
          <p:nvPr/>
        </p:nvSpPr>
        <p:spPr>
          <a:xfrm>
            <a:off x="7863840" y="4828032"/>
            <a:ext cx="3758184" cy="877824"/>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863840" y="4828032"/>
            <a:ext cx="45720" cy="877824"/>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65008" y="4956048"/>
            <a:ext cx="3392424" cy="658368"/>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Decided: the subscription percentage is the primary earning; signups remain for attribution.</a:t>
            </a:r>
          </a:p>
        </p:txBody>
      </p:sp>
      <p:pic>
        <p:nvPicPr>
          <p:cNvPr id="42" name="Picture 41" descr="footer_bar.png"/>
          <p:cNvPicPr>
            <a:picLocks noChangeAspect="1"/>
          </p:cNvPicPr>
          <p:nvPr/>
        </p:nvPicPr>
        <p:blipFill>
          <a:blip r:embed="rId4"/>
          <a:stretch>
            <a:fillRect/>
          </a:stretch>
        </p:blipFill>
        <p:spPr>
          <a:xfrm>
            <a:off x="7260336" y="5861304"/>
            <a:ext cx="4928616" cy="491032"/>
          </a:xfrm>
          <a:prstGeom prst="rect">
            <a:avLst/>
          </a:prstGeom>
        </p:spPr>
      </p:pic>
      <p:sp>
        <p:nvSpPr>
          <p:cNvPr id="43" name="TextBox 42"/>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a.png"/>
          <p:cNvPicPr>
            <a:picLocks noChangeAspect="1"/>
          </p:cNvPicPr>
          <p:nvPr/>
        </p:nvPicPr>
        <p:blipFill>
          <a:blip r:embed="rId3"/>
          <a:stretch>
            <a:fillRect/>
          </a:stretch>
        </p:blipFill>
        <p:spPr>
          <a:xfrm>
            <a:off x="10436047" y="457200"/>
            <a:ext cx="1188720" cy="471889"/>
          </a:xfrm>
          <a:prstGeom prst="rect">
            <a:avLst/>
          </a:prstGeom>
        </p:spPr>
      </p:pic>
      <p:sp>
        <p:nvSpPr>
          <p:cNvPr id="4" name="TextBox 3"/>
          <p:cNvSpPr txBox="1"/>
          <p:nvPr/>
        </p:nvSpPr>
        <p:spPr>
          <a:xfrm>
            <a:off x="886968" y="2212848"/>
            <a:ext cx="2743200" cy="1188720"/>
          </a:xfrm>
          <a:prstGeom prst="rect">
            <a:avLst/>
          </a:prstGeom>
          <a:noFill/>
        </p:spPr>
        <p:txBody>
          <a:bodyPr wrap="square" anchor="t" lIns="0" rIns="0" tIns="0" bIns="0">
            <a:spAutoFit/>
          </a:bodyPr>
          <a:lstStyle/>
          <a:p>
            <a:pPr algn="l">
              <a:lnSpc>
                <a:spcPct val="100000"/>
              </a:lnSpc>
              <a:spcAft>
                <a:spcPts val="0"/>
              </a:spcAft>
            </a:pPr>
            <a:r>
              <a:rPr sz="7600" b="1" i="0">
                <a:solidFill>
                  <a:srgbClr val="FFFFFF"/>
                </a:solidFill>
                <a:latin typeface="Century Gothic"/>
              </a:rPr>
              <a:t>04</a:t>
            </a:r>
          </a:p>
        </p:txBody>
      </p:sp>
      <p:sp>
        <p:nvSpPr>
          <p:cNvPr id="5" name="Rectangle 4"/>
          <p:cNvSpPr/>
          <p:nvPr/>
        </p:nvSpPr>
        <p:spPr>
          <a:xfrm>
            <a:off x="950976" y="3310128"/>
            <a:ext cx="960120" cy="411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3584448"/>
            <a:ext cx="7863840" cy="640080"/>
          </a:xfrm>
          <a:prstGeom prst="rect">
            <a:avLst/>
          </a:prstGeom>
          <a:noFill/>
        </p:spPr>
        <p:txBody>
          <a:bodyPr wrap="square" anchor="t" lIns="0" rIns="0" tIns="0" bIns="0">
            <a:spAutoFit/>
          </a:bodyPr>
          <a:lstStyle/>
          <a:p>
            <a:pPr algn="l">
              <a:lnSpc>
                <a:spcPct val="100000"/>
              </a:lnSpc>
              <a:spcAft>
                <a:spcPts val="0"/>
              </a:spcAft>
            </a:pPr>
            <a:r>
              <a:rPr sz="3300" b="0" i="0">
                <a:solidFill>
                  <a:srgbClr val="FFFFFF"/>
                </a:solidFill>
                <a:latin typeface="Century Gothic"/>
              </a:rPr>
              <a:t>Money &amp; Governance</a:t>
            </a:r>
          </a:p>
        </p:txBody>
      </p:sp>
      <p:sp>
        <p:nvSpPr>
          <p:cNvPr id="7" name="TextBox 6"/>
          <p:cNvSpPr txBox="1"/>
          <p:nvPr/>
        </p:nvSpPr>
        <p:spPr>
          <a:xfrm>
            <a:off x="914400" y="4315968"/>
            <a:ext cx="7498079" cy="411480"/>
          </a:xfrm>
          <a:prstGeom prst="rect">
            <a:avLst/>
          </a:prstGeom>
          <a:noFill/>
        </p:spPr>
        <p:txBody>
          <a:bodyPr wrap="square" anchor="t" lIns="0" rIns="0" tIns="0" bIns="0">
            <a:spAutoFit/>
          </a:bodyPr>
          <a:lstStyle/>
          <a:p>
            <a:pPr algn="l">
              <a:lnSpc>
                <a:spcPct val="100000"/>
              </a:lnSpc>
              <a:spcAft>
                <a:spcPts val="0"/>
              </a:spcAft>
            </a:pPr>
            <a:r>
              <a:rPr sz="1250" b="0" i="0">
                <a:solidFill>
                  <a:srgbClr val="F0DCEE"/>
                </a:solidFill>
                <a:latin typeface="Century Gothic"/>
              </a:rPr>
              <a:t>One balance, one append-only ledger, a Super Admin who sets the percentage and an Accountant Manager who issues every outflow manually</a:t>
            </a:r>
          </a:p>
        </p:txBody>
      </p:sp>
      <p:pic>
        <p:nvPicPr>
          <p:cNvPr id="8" name="Picture 7" descr="footer_bar.png"/>
          <p:cNvPicPr>
            <a:picLocks noChangeAspect="1"/>
          </p:cNvPicPr>
          <p:nvPr/>
        </p:nvPicPr>
        <p:blipFill>
          <a:blip r:embed="rId4"/>
          <a:stretch>
            <a:fillRect/>
          </a:stretch>
        </p:blipFill>
        <p:spPr>
          <a:xfrm>
            <a:off x="7260336" y="5861304"/>
            <a:ext cx="4928616" cy="491032"/>
          </a:xfrm>
          <a:prstGeom prst="rect">
            <a:avLst/>
          </a:prstGeom>
        </p:spPr>
      </p:pic>
      <p:sp>
        <p:nvSpPr>
          <p:cNvPr id="9" name="TextBox 8"/>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The Money Trail</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One payment, two consequences — a credit to the platform and an accrued payout</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TextBox 5"/>
          <p:cNvSpPr txBox="1"/>
          <p:nvPr/>
        </p:nvSpPr>
        <p:spPr>
          <a:xfrm>
            <a:off x="566928" y="1481328"/>
            <a:ext cx="3017520" cy="274320"/>
          </a:xfrm>
          <a:prstGeom prst="rect">
            <a:avLst/>
          </a:prstGeom>
          <a:noFill/>
        </p:spPr>
        <p:txBody>
          <a:bodyPr wrap="square" anchor="t" lIns="0" rIns="0" tIns="0" bIns="0">
            <a:spAutoFit/>
          </a:bodyPr>
          <a:lstStyle/>
          <a:p>
            <a:pPr algn="l">
              <a:lnSpc>
                <a:spcPct val="100000"/>
              </a:lnSpc>
              <a:spcAft>
                <a:spcPts val="0"/>
              </a:spcAft>
            </a:pPr>
            <a:r>
              <a:rPr sz="1000" b="1" i="0">
                <a:solidFill>
                  <a:srgbClr val="FF007F"/>
                </a:solidFill>
                <a:latin typeface="Century Gothic"/>
              </a:rPr>
              <a:t>INBOUND  ·  credits</a:t>
            </a:r>
          </a:p>
        </p:txBody>
      </p:sp>
      <p:sp>
        <p:nvSpPr>
          <p:cNvPr id="7" name="Rounded Rectangle 6"/>
          <p:cNvSpPr/>
          <p:nvPr/>
        </p:nvSpPr>
        <p:spPr>
          <a:xfrm>
            <a:off x="566928" y="1865376"/>
            <a:ext cx="3017520" cy="64008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65376"/>
            <a:ext cx="45720" cy="64008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65960"/>
            <a:ext cx="2743200" cy="237744"/>
          </a:xfrm>
          <a:prstGeom prst="rect">
            <a:avLst/>
          </a:prstGeom>
          <a:noFill/>
        </p:spPr>
        <p:txBody>
          <a:bodyPr wrap="square" anchor="t" lIns="0" rIns="0" tIns="0" bIns="0">
            <a:spAutoFit/>
          </a:bodyPr>
          <a:lstStyle/>
          <a:p>
            <a:pPr algn="l">
              <a:lnSpc>
                <a:spcPct val="100000"/>
              </a:lnSpc>
              <a:spcAft>
                <a:spcPts val="0"/>
              </a:spcAft>
            </a:pPr>
            <a:r>
              <a:rPr sz="1100" b="1" i="0">
                <a:solidFill>
                  <a:srgbClr val="FF007F"/>
                </a:solidFill>
                <a:latin typeface="Century Gothic"/>
              </a:rPr>
              <a:t>Member</a:t>
            </a:r>
          </a:p>
        </p:txBody>
      </p:sp>
      <p:sp>
        <p:nvSpPr>
          <p:cNvPr id="10" name="TextBox 9"/>
          <p:cNvSpPr txBox="1"/>
          <p:nvPr/>
        </p:nvSpPr>
        <p:spPr>
          <a:xfrm>
            <a:off x="768096" y="2231136"/>
            <a:ext cx="2743200" cy="219456"/>
          </a:xfrm>
          <a:prstGeom prst="rect">
            <a:avLst/>
          </a:prstGeom>
          <a:noFill/>
        </p:spPr>
        <p:txBody>
          <a:bodyPr wrap="square" anchor="t" lIns="0" rIns="0" tIns="0" bIns="0">
            <a:spAutoFit/>
          </a:bodyPr>
          <a:lstStyle/>
          <a:p>
            <a:pPr algn="l">
              <a:lnSpc>
                <a:spcPct val="100000"/>
              </a:lnSpc>
              <a:spcAft>
                <a:spcPts val="0"/>
              </a:spcAft>
            </a:pPr>
            <a:r>
              <a:rPr sz="880" b="0" i="0">
                <a:solidFill>
                  <a:srgbClr val="808080"/>
                </a:solidFill>
                <a:latin typeface="Century Gothic"/>
              </a:rPr>
              <a:t>subscribes</a:t>
            </a:r>
          </a:p>
        </p:txBody>
      </p:sp>
      <p:sp>
        <p:nvSpPr>
          <p:cNvPr id="11" name="Down Arrow 10"/>
          <p:cNvSpPr/>
          <p:nvPr/>
        </p:nvSpPr>
        <p:spPr>
          <a:xfrm>
            <a:off x="1956816" y="2523744"/>
            <a:ext cx="182880" cy="118872"/>
          </a:xfrm>
          <a:prstGeom prst="down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651760"/>
            <a:ext cx="3017520" cy="64008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651760"/>
            <a:ext cx="45720" cy="64008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752344"/>
            <a:ext cx="2743200" cy="237744"/>
          </a:xfrm>
          <a:prstGeom prst="rect">
            <a:avLst/>
          </a:prstGeom>
          <a:noFill/>
        </p:spPr>
        <p:txBody>
          <a:bodyPr wrap="square" anchor="t" lIns="0" rIns="0" tIns="0" bIns="0">
            <a:spAutoFit/>
          </a:bodyPr>
          <a:lstStyle/>
          <a:p>
            <a:pPr algn="l">
              <a:lnSpc>
                <a:spcPct val="100000"/>
              </a:lnSpc>
              <a:spcAft>
                <a:spcPts val="0"/>
              </a:spcAft>
            </a:pPr>
            <a:r>
              <a:rPr sz="1100" b="1" i="0">
                <a:solidFill>
                  <a:srgbClr val="FF007F"/>
                </a:solidFill>
                <a:latin typeface="Century Gothic"/>
              </a:rPr>
              <a:t>Payment</a:t>
            </a:r>
          </a:p>
        </p:txBody>
      </p:sp>
      <p:sp>
        <p:nvSpPr>
          <p:cNvPr id="15" name="TextBox 14"/>
          <p:cNvSpPr txBox="1"/>
          <p:nvPr/>
        </p:nvSpPr>
        <p:spPr>
          <a:xfrm>
            <a:off x="768096" y="3017520"/>
            <a:ext cx="2743200" cy="219456"/>
          </a:xfrm>
          <a:prstGeom prst="rect">
            <a:avLst/>
          </a:prstGeom>
          <a:noFill/>
        </p:spPr>
        <p:txBody>
          <a:bodyPr wrap="square" anchor="t" lIns="0" rIns="0" tIns="0" bIns="0">
            <a:spAutoFit/>
          </a:bodyPr>
          <a:lstStyle/>
          <a:p>
            <a:pPr algn="l">
              <a:lnSpc>
                <a:spcPct val="100000"/>
              </a:lnSpc>
              <a:spcAft>
                <a:spcPts val="0"/>
              </a:spcAft>
            </a:pPr>
            <a:r>
              <a:rPr sz="880" b="0" i="0">
                <a:solidFill>
                  <a:srgbClr val="808080"/>
                </a:solidFill>
                <a:latin typeface="Century Gothic"/>
              </a:rPr>
              <a:t>inbound · completed</a:t>
            </a:r>
          </a:p>
        </p:txBody>
      </p:sp>
      <p:sp>
        <p:nvSpPr>
          <p:cNvPr id="16" name="Down Arrow 15"/>
          <p:cNvSpPr/>
          <p:nvPr/>
        </p:nvSpPr>
        <p:spPr>
          <a:xfrm>
            <a:off x="1956816" y="3310128"/>
            <a:ext cx="182880" cy="118872"/>
          </a:xfrm>
          <a:prstGeom prst="down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438144"/>
            <a:ext cx="3017520" cy="64008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438144"/>
            <a:ext cx="45720" cy="64008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538727"/>
            <a:ext cx="2743200" cy="237744"/>
          </a:xfrm>
          <a:prstGeom prst="rect">
            <a:avLst/>
          </a:prstGeom>
          <a:noFill/>
        </p:spPr>
        <p:txBody>
          <a:bodyPr wrap="square" anchor="t" lIns="0" rIns="0" tIns="0" bIns="0">
            <a:spAutoFit/>
          </a:bodyPr>
          <a:lstStyle/>
          <a:p>
            <a:pPr algn="l">
              <a:lnSpc>
                <a:spcPct val="100000"/>
              </a:lnSpc>
              <a:spcAft>
                <a:spcPts val="0"/>
              </a:spcAft>
            </a:pPr>
            <a:r>
              <a:rPr sz="1100" b="1" i="0">
                <a:solidFill>
                  <a:srgbClr val="FF007F"/>
                </a:solidFill>
                <a:latin typeface="Century Gothic"/>
              </a:rPr>
              <a:t>LedgerEntry</a:t>
            </a:r>
          </a:p>
        </p:txBody>
      </p:sp>
      <p:sp>
        <p:nvSpPr>
          <p:cNvPr id="20" name="TextBox 19"/>
          <p:cNvSpPr txBox="1"/>
          <p:nvPr/>
        </p:nvSpPr>
        <p:spPr>
          <a:xfrm>
            <a:off x="768096" y="3803904"/>
            <a:ext cx="2743200" cy="219456"/>
          </a:xfrm>
          <a:prstGeom prst="rect">
            <a:avLst/>
          </a:prstGeom>
          <a:noFill/>
        </p:spPr>
        <p:txBody>
          <a:bodyPr wrap="square" anchor="t" lIns="0" rIns="0" tIns="0" bIns="0">
            <a:spAutoFit/>
          </a:bodyPr>
          <a:lstStyle/>
          <a:p>
            <a:pPr algn="l">
              <a:lnSpc>
                <a:spcPct val="100000"/>
              </a:lnSpc>
              <a:spcAft>
                <a:spcPts val="0"/>
              </a:spcAft>
            </a:pPr>
            <a:r>
              <a:rPr sz="880" b="0" i="0">
                <a:solidFill>
                  <a:srgbClr val="808080"/>
                </a:solidFill>
                <a:latin typeface="Century Gothic"/>
              </a:rPr>
              <a:t>credit</a:t>
            </a:r>
          </a:p>
        </p:txBody>
      </p:sp>
      <p:sp>
        <p:nvSpPr>
          <p:cNvPr id="21" name="Right Arrow 20"/>
          <p:cNvSpPr/>
          <p:nvPr/>
        </p:nvSpPr>
        <p:spPr>
          <a:xfrm>
            <a:off x="3749039" y="2852928"/>
            <a:ext cx="384048" cy="219456"/>
          </a:xfrm>
          <a:prstGeom prst="rightArrow">
            <a:avLst/>
          </a:prstGeom>
          <a:solidFill>
            <a:srgbClr val="FF0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15968" y="1865376"/>
            <a:ext cx="3547872" cy="2176272"/>
          </a:xfrm>
          <a:prstGeom prst="roundRect">
            <a:avLst>
              <a:gd name="adj" fmla="val 7000"/>
            </a:avLst>
          </a:prstGeom>
          <a:gradFill rotWithShape="1">
            <a:gsLst>
              <a:gs pos="0">
                <a:srgbClr val="FF007F"/>
              </a:gs>
              <a:gs pos="100000">
                <a:srgbClr val="7F00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2084831"/>
            <a:ext cx="3200400" cy="274320"/>
          </a:xfrm>
          <a:prstGeom prst="rect">
            <a:avLst/>
          </a:prstGeom>
          <a:noFill/>
        </p:spPr>
        <p:txBody>
          <a:bodyPr wrap="square" anchor="t" lIns="0" rIns="0" tIns="0" bIns="0">
            <a:spAutoFit/>
          </a:bodyPr>
          <a:lstStyle/>
          <a:p>
            <a:pPr algn="ctr">
              <a:lnSpc>
                <a:spcPct val="100000"/>
              </a:lnSpc>
              <a:spcAft>
                <a:spcPts val="0"/>
              </a:spcAft>
            </a:pPr>
            <a:r>
              <a:rPr sz="1000" b="1" i="0">
                <a:solidFill>
                  <a:srgbClr val="FFFFFF"/>
                </a:solidFill>
                <a:latin typeface="Century Gothic"/>
              </a:rPr>
              <a:t>PLATFORM ACCOUNT</a:t>
            </a:r>
          </a:p>
        </p:txBody>
      </p:sp>
      <p:sp>
        <p:nvSpPr>
          <p:cNvPr id="24" name="TextBox 23"/>
          <p:cNvSpPr txBox="1"/>
          <p:nvPr/>
        </p:nvSpPr>
        <p:spPr>
          <a:xfrm>
            <a:off x="4498848" y="2450592"/>
            <a:ext cx="3200400" cy="457200"/>
          </a:xfrm>
          <a:prstGeom prst="rect">
            <a:avLst/>
          </a:prstGeom>
          <a:noFill/>
        </p:spPr>
        <p:txBody>
          <a:bodyPr wrap="square" anchor="t" lIns="0" rIns="0" tIns="0" bIns="0">
            <a:spAutoFit/>
          </a:bodyPr>
          <a:lstStyle/>
          <a:p>
            <a:pPr algn="ctr">
              <a:lnSpc>
                <a:spcPct val="100000"/>
              </a:lnSpc>
              <a:spcAft>
                <a:spcPts val="0"/>
              </a:spcAft>
            </a:pPr>
            <a:r>
              <a:rPr sz="1900" b="1" i="0">
                <a:solidFill>
                  <a:srgbClr val="FFFFFF"/>
                </a:solidFill>
                <a:latin typeface="Century Gothic"/>
              </a:rPr>
              <a:t>current_balance</a:t>
            </a:r>
          </a:p>
        </p:txBody>
      </p:sp>
      <p:sp>
        <p:nvSpPr>
          <p:cNvPr id="25" name="TextBox 24"/>
          <p:cNvSpPr txBox="1"/>
          <p:nvPr/>
        </p:nvSpPr>
        <p:spPr>
          <a:xfrm>
            <a:off x="4498848" y="2962656"/>
            <a:ext cx="3200400" cy="274320"/>
          </a:xfrm>
          <a:prstGeom prst="rect">
            <a:avLst/>
          </a:prstGeom>
          <a:noFill/>
        </p:spPr>
        <p:txBody>
          <a:bodyPr wrap="square" anchor="t" lIns="0" rIns="0" tIns="0" bIns="0">
            <a:spAutoFit/>
          </a:bodyPr>
          <a:lstStyle/>
          <a:p>
            <a:pPr algn="ctr">
              <a:lnSpc>
                <a:spcPct val="100000"/>
              </a:lnSpc>
              <a:spcAft>
                <a:spcPts val="0"/>
              </a:spcAft>
            </a:pPr>
            <a:r>
              <a:rPr sz="900" b="0" i="0">
                <a:solidFill>
                  <a:srgbClr val="F3DDF2"/>
                </a:solidFill>
                <a:latin typeface="Century Gothic"/>
              </a:rPr>
              <a:t>One row per currency</a:t>
            </a:r>
          </a:p>
        </p:txBody>
      </p:sp>
      <p:sp>
        <p:nvSpPr>
          <p:cNvPr id="26" name="Rounded Rectangle 25"/>
          <p:cNvSpPr/>
          <p:nvPr/>
        </p:nvSpPr>
        <p:spPr>
          <a:xfrm>
            <a:off x="4553712" y="3310128"/>
            <a:ext cx="3072384" cy="566928"/>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6864" y="3383280"/>
            <a:ext cx="2926080" cy="457200"/>
          </a:xfrm>
          <a:prstGeom prst="rect">
            <a:avLst/>
          </a:prstGeom>
          <a:noFill/>
        </p:spPr>
        <p:txBody>
          <a:bodyPr wrap="square" anchor="t" lIns="0" rIns="0" tIns="0" bIns="0">
            <a:spAutoFit/>
          </a:bodyPr>
          <a:lstStyle/>
          <a:p>
            <a:pPr algn="ctr">
              <a:lnSpc>
                <a:spcPct val="125000"/>
              </a:lnSpc>
              <a:spcAft>
                <a:spcPts val="0"/>
              </a:spcAft>
            </a:pPr>
            <a:r>
              <a:rPr sz="950" b="1" i="0">
                <a:solidFill>
                  <a:srgbClr val="7F00FF"/>
                </a:solidFill>
                <a:latin typeface="Century Gothic"/>
              </a:rPr>
              <a:t>balance += credits
balance -= debits</a:t>
            </a:r>
          </a:p>
        </p:txBody>
      </p:sp>
      <p:sp>
        <p:nvSpPr>
          <p:cNvPr id="28" name="Right Arrow 27"/>
          <p:cNvSpPr/>
          <p:nvPr/>
        </p:nvSpPr>
        <p:spPr>
          <a:xfrm>
            <a:off x="8028431" y="2852928"/>
            <a:ext cx="384048" cy="219456"/>
          </a:xfrm>
          <a:prstGeom prst="rightArrow">
            <a:avLst/>
          </a:prstGeom>
          <a:solidFill>
            <a:srgbClr val="7F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04504" y="1481328"/>
            <a:ext cx="3017520" cy="274320"/>
          </a:xfrm>
          <a:prstGeom prst="rect">
            <a:avLst/>
          </a:prstGeom>
          <a:noFill/>
        </p:spPr>
        <p:txBody>
          <a:bodyPr wrap="square" anchor="t" lIns="0" rIns="0" tIns="0" bIns="0">
            <a:spAutoFit/>
          </a:bodyPr>
          <a:lstStyle/>
          <a:p>
            <a:pPr algn="l">
              <a:lnSpc>
                <a:spcPct val="100000"/>
              </a:lnSpc>
              <a:spcAft>
                <a:spcPts val="0"/>
              </a:spcAft>
            </a:pPr>
            <a:r>
              <a:rPr sz="1000" b="1" i="0">
                <a:solidFill>
                  <a:srgbClr val="7F00FF"/>
                </a:solidFill>
                <a:latin typeface="Century Gothic"/>
              </a:rPr>
              <a:t>OUTBOUND  ·  debits</a:t>
            </a:r>
          </a:p>
        </p:txBody>
      </p:sp>
      <p:sp>
        <p:nvSpPr>
          <p:cNvPr id="30" name="Rounded Rectangle 29"/>
          <p:cNvSpPr/>
          <p:nvPr/>
        </p:nvSpPr>
        <p:spPr>
          <a:xfrm>
            <a:off x="8604504" y="1865376"/>
            <a:ext cx="3017520" cy="64008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04504" y="1865376"/>
            <a:ext cx="45720" cy="640080"/>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05672" y="1965960"/>
            <a:ext cx="2743200" cy="237744"/>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Accrued payout</a:t>
            </a:r>
          </a:p>
        </p:txBody>
      </p:sp>
      <p:sp>
        <p:nvSpPr>
          <p:cNvPr id="33" name="TextBox 32"/>
          <p:cNvSpPr txBox="1"/>
          <p:nvPr/>
        </p:nvSpPr>
        <p:spPr>
          <a:xfrm>
            <a:off x="8805672" y="2231136"/>
            <a:ext cx="2743200" cy="219456"/>
          </a:xfrm>
          <a:prstGeom prst="rect">
            <a:avLst/>
          </a:prstGeom>
          <a:noFill/>
        </p:spPr>
        <p:txBody>
          <a:bodyPr wrap="square" anchor="t" lIns="0" rIns="0" tIns="0" bIns="0">
            <a:spAutoFit/>
          </a:bodyPr>
          <a:lstStyle/>
          <a:p>
            <a:pPr algn="l">
              <a:lnSpc>
                <a:spcPct val="100000"/>
              </a:lnSpc>
              <a:spcAft>
                <a:spcPts val="0"/>
              </a:spcAft>
            </a:pPr>
            <a:r>
              <a:rPr sz="880" b="0" i="0">
                <a:solidFill>
                  <a:srgbClr val="808080"/>
                </a:solidFill>
                <a:latin typeface="Century Gothic"/>
              </a:rPr>
              <a:t>% of the payment</a:t>
            </a:r>
          </a:p>
        </p:txBody>
      </p:sp>
      <p:sp>
        <p:nvSpPr>
          <p:cNvPr id="34" name="Down Arrow 33"/>
          <p:cNvSpPr/>
          <p:nvPr/>
        </p:nvSpPr>
        <p:spPr>
          <a:xfrm>
            <a:off x="9994392" y="2523744"/>
            <a:ext cx="182880" cy="118872"/>
          </a:xfrm>
          <a:prstGeom prst="down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604504" y="2651760"/>
            <a:ext cx="3017520" cy="64008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04504" y="2651760"/>
            <a:ext cx="45720" cy="640080"/>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05672" y="2752344"/>
            <a:ext cx="2743200" cy="237744"/>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Payout → Payment</a:t>
            </a:r>
          </a:p>
        </p:txBody>
      </p:sp>
      <p:sp>
        <p:nvSpPr>
          <p:cNvPr id="38" name="TextBox 37"/>
          <p:cNvSpPr txBox="1"/>
          <p:nvPr/>
        </p:nvSpPr>
        <p:spPr>
          <a:xfrm>
            <a:off x="8805672" y="3017520"/>
            <a:ext cx="2743200" cy="219456"/>
          </a:xfrm>
          <a:prstGeom prst="rect">
            <a:avLst/>
          </a:prstGeom>
          <a:noFill/>
        </p:spPr>
        <p:txBody>
          <a:bodyPr wrap="square" anchor="t" lIns="0" rIns="0" tIns="0" bIns="0">
            <a:spAutoFit/>
          </a:bodyPr>
          <a:lstStyle/>
          <a:p>
            <a:pPr algn="l">
              <a:lnSpc>
                <a:spcPct val="100000"/>
              </a:lnSpc>
              <a:spcAft>
                <a:spcPts val="0"/>
              </a:spcAft>
            </a:pPr>
            <a:r>
              <a:rPr sz="880" b="0" i="0">
                <a:solidFill>
                  <a:srgbClr val="808080"/>
                </a:solidFill>
                <a:latin typeface="Century Gothic"/>
              </a:rPr>
              <a:t>manual · bank / service provider</a:t>
            </a:r>
          </a:p>
        </p:txBody>
      </p:sp>
      <p:sp>
        <p:nvSpPr>
          <p:cNvPr id="39" name="Down Arrow 38"/>
          <p:cNvSpPr/>
          <p:nvPr/>
        </p:nvSpPr>
        <p:spPr>
          <a:xfrm>
            <a:off x="9994392" y="3310128"/>
            <a:ext cx="182880" cy="118872"/>
          </a:xfrm>
          <a:prstGeom prst="downArrow">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604504" y="3438144"/>
            <a:ext cx="3017520" cy="640080"/>
          </a:xfrm>
          <a:prstGeom prst="roundRect">
            <a:avLst>
              <a:gd name="adj" fmla="val 12000"/>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04504" y="3438144"/>
            <a:ext cx="45720" cy="640080"/>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05672" y="3538727"/>
            <a:ext cx="2743200" cy="237744"/>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LedgerEntry</a:t>
            </a:r>
          </a:p>
        </p:txBody>
      </p:sp>
      <p:sp>
        <p:nvSpPr>
          <p:cNvPr id="43" name="TextBox 42"/>
          <p:cNvSpPr txBox="1"/>
          <p:nvPr/>
        </p:nvSpPr>
        <p:spPr>
          <a:xfrm>
            <a:off x="8805672" y="3803904"/>
            <a:ext cx="2743200" cy="219456"/>
          </a:xfrm>
          <a:prstGeom prst="rect">
            <a:avLst/>
          </a:prstGeom>
          <a:noFill/>
        </p:spPr>
        <p:txBody>
          <a:bodyPr wrap="square" anchor="t" lIns="0" rIns="0" tIns="0" bIns="0">
            <a:spAutoFit/>
          </a:bodyPr>
          <a:lstStyle/>
          <a:p>
            <a:pPr algn="l">
              <a:lnSpc>
                <a:spcPct val="100000"/>
              </a:lnSpc>
              <a:spcAft>
                <a:spcPts val="0"/>
              </a:spcAft>
            </a:pPr>
            <a:r>
              <a:rPr sz="880" b="0" i="0">
                <a:solidFill>
                  <a:srgbClr val="808080"/>
                </a:solidFill>
                <a:latin typeface="Century Gothic"/>
              </a:rPr>
              <a:t>debit</a:t>
            </a:r>
          </a:p>
        </p:txBody>
      </p:sp>
      <p:sp>
        <p:nvSpPr>
          <p:cNvPr id="44" name="Rounded Rectangle 43"/>
          <p:cNvSpPr/>
          <p:nvPr/>
        </p:nvSpPr>
        <p:spPr>
          <a:xfrm>
            <a:off x="566928" y="4315968"/>
            <a:ext cx="11055096" cy="566928"/>
          </a:xfrm>
          <a:prstGeom prst="roundRect">
            <a:avLst>
              <a:gd name="adj" fmla="val 16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66928" y="4315968"/>
            <a:ext cx="45720" cy="566928"/>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6384" y="4443984"/>
            <a:ext cx="10607040" cy="329184"/>
          </a:xfrm>
          <a:prstGeom prst="rect">
            <a:avLst/>
          </a:prstGeom>
          <a:noFill/>
        </p:spPr>
        <p:txBody>
          <a:bodyPr wrap="square" anchor="t" lIns="0" rIns="0" tIns="0" bIns="0">
            <a:spAutoFit/>
          </a:bodyPr>
          <a:lstStyle/>
          <a:p>
            <a:pPr algn="l">
              <a:lnSpc>
                <a:spcPct val="100000"/>
              </a:lnSpc>
              <a:spcAft>
                <a:spcPts val="0"/>
              </a:spcAft>
            </a:pPr>
            <a:r>
              <a:rPr sz="950" b="1" i="0">
                <a:solidFill>
                  <a:srgbClr val="3A3A3A"/>
                </a:solidFill>
                <a:latin typeface="Century Gothic"/>
              </a:rPr>
              <a:t>THE SAME COMPLETED PAYMENT DOES BOTH — it credits the balance and it accrues the payout at the active percentage.</a:t>
            </a:r>
          </a:p>
        </p:txBody>
      </p:sp>
      <p:sp>
        <p:nvSpPr>
          <p:cNvPr id="47" name="Rounded Rectangle 46"/>
          <p:cNvSpPr/>
          <p:nvPr/>
        </p:nvSpPr>
        <p:spPr>
          <a:xfrm>
            <a:off x="566928" y="5029200"/>
            <a:ext cx="11057839" cy="658368"/>
          </a:xfrm>
          <a:prstGeom prst="roundRect">
            <a:avLst>
              <a:gd name="adj" fmla="val 14000"/>
            </a:avLst>
          </a:prstGeom>
          <a:solidFill>
            <a:srgbClr val="4B0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157216"/>
            <a:ext cx="2743200" cy="274320"/>
          </a:xfrm>
          <a:prstGeom prst="rect">
            <a:avLst/>
          </a:prstGeom>
          <a:noFill/>
        </p:spPr>
        <p:txBody>
          <a:bodyPr wrap="square" anchor="t" lIns="0" rIns="0" tIns="0" bIns="0">
            <a:spAutoFit/>
          </a:bodyPr>
          <a:lstStyle/>
          <a:p>
            <a:pPr algn="l">
              <a:lnSpc>
                <a:spcPct val="100000"/>
              </a:lnSpc>
              <a:spcAft>
                <a:spcPts val="0"/>
              </a:spcAft>
            </a:pPr>
            <a:r>
              <a:rPr sz="1150" b="1" i="0">
                <a:solidFill>
                  <a:srgbClr val="FFFFFF"/>
                </a:solidFill>
                <a:latin typeface="Century Gothic"/>
              </a:rPr>
              <a:t>LedgerEntry</a:t>
            </a:r>
          </a:p>
        </p:txBody>
      </p:sp>
      <p:sp>
        <p:nvSpPr>
          <p:cNvPr id="49" name="TextBox 48"/>
          <p:cNvSpPr txBox="1"/>
          <p:nvPr/>
        </p:nvSpPr>
        <p:spPr>
          <a:xfrm>
            <a:off x="2487168" y="5175504"/>
            <a:ext cx="8869680" cy="457200"/>
          </a:xfrm>
          <a:prstGeom prst="rect">
            <a:avLst/>
          </a:prstGeom>
          <a:noFill/>
        </p:spPr>
        <p:txBody>
          <a:bodyPr wrap="square" anchor="t" lIns="0" rIns="0" tIns="0" bIns="0">
            <a:spAutoFit/>
          </a:bodyPr>
          <a:lstStyle/>
          <a:p>
            <a:pPr algn="l">
              <a:lnSpc>
                <a:spcPct val="100000"/>
              </a:lnSpc>
              <a:spcAft>
                <a:spcPts val="0"/>
              </a:spcAft>
            </a:pPr>
            <a:r>
              <a:rPr sz="950" b="0" i="0">
                <a:solidFill>
                  <a:srgbClr val="E6D8F0"/>
                </a:solidFill>
                <a:latin typeface="Century Gothic"/>
              </a:rPr>
              <a:t>Append-only. Every row stores entry_type, amount, source and balance_after — a complete running audit trail.</a:t>
            </a:r>
          </a:p>
        </p:txBody>
      </p:sp>
      <p:sp>
        <p:nvSpPr>
          <p:cNvPr id="50" name="TextBox 49"/>
          <p:cNvSpPr txBox="1"/>
          <p:nvPr/>
        </p:nvSpPr>
        <p:spPr>
          <a:xfrm>
            <a:off x="566928" y="5815584"/>
            <a:ext cx="6583680" cy="457200"/>
          </a:xfrm>
          <a:prstGeom prst="rect">
            <a:avLst/>
          </a:prstGeom>
          <a:noFill/>
        </p:spPr>
        <p:txBody>
          <a:bodyPr wrap="square" anchor="t" lIns="0" rIns="0" tIns="0" bIns="0">
            <a:spAutoFit/>
          </a:bodyPr>
          <a:lstStyle/>
          <a:p>
            <a:pPr algn="l">
              <a:lnSpc>
                <a:spcPct val="118000"/>
              </a:lnSpc>
              <a:spcAft>
                <a:spcPts val="0"/>
              </a:spcAft>
            </a:pPr>
            <a:r>
              <a:rPr sz="880" b="0" i="0">
                <a:solidFill>
                  <a:srgbClr val="808080"/>
                </a:solidFill>
                <a:latin typeface="Century Gothic"/>
              </a:rPr>
              <a:t>Outbound payouts are issued manually (bank / service provider) and only recorded on the ledger. Merchants never appear — in Phase 1 they neither pay nor are paid.</a:t>
            </a:r>
          </a:p>
        </p:txBody>
      </p:sp>
      <p:pic>
        <p:nvPicPr>
          <p:cNvPr id="51" name="Picture 50" descr="footer_bar.png"/>
          <p:cNvPicPr>
            <a:picLocks noChangeAspect="1"/>
          </p:cNvPicPr>
          <p:nvPr/>
        </p:nvPicPr>
        <p:blipFill>
          <a:blip r:embed="rId4"/>
          <a:stretch>
            <a:fillRect/>
          </a:stretch>
        </p:blipFill>
        <p:spPr>
          <a:xfrm>
            <a:off x="7260336" y="5861304"/>
            <a:ext cx="4928616" cy="491032"/>
          </a:xfrm>
          <a:prstGeom prst="rect">
            <a:avLst/>
          </a:prstGeom>
        </p:spPr>
      </p:pic>
      <p:sp>
        <p:nvSpPr>
          <p:cNvPr id="52" name="TextBox 51"/>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The Payout Percentage</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A successful subscription payment counts as a payout — the Super Admin sets the rate, the Accountant issues it</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10442448" y="896112"/>
            <a:ext cx="1060704" cy="237744"/>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750" b="1">
                <a:solidFill>
                  <a:srgbClr val="FFFFFF"/>
                </a:solidFill>
                <a:latin typeface="Century Gothic"/>
              </a:rPr>
              <a:t>NEW IN V3</a:t>
            </a:r>
          </a:p>
        </p:txBody>
      </p:sp>
      <p:sp>
        <p:nvSpPr>
          <p:cNvPr id="7" name="Rounded Rectangle 6"/>
          <p:cNvSpPr/>
          <p:nvPr/>
        </p:nvSpPr>
        <p:spPr>
          <a:xfrm>
            <a:off x="566928" y="1463040"/>
            <a:ext cx="11057839" cy="1042415"/>
          </a:xfrm>
          <a:prstGeom prst="roundRect">
            <a:avLst>
              <a:gd name="adj" fmla="val 12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45920"/>
            <a:ext cx="11057839" cy="365760"/>
          </a:xfrm>
          <a:prstGeom prst="rect">
            <a:avLst/>
          </a:prstGeom>
          <a:noFill/>
        </p:spPr>
        <p:txBody>
          <a:bodyPr wrap="square" anchor="t" lIns="0" rIns="0" tIns="0" bIns="0">
            <a:spAutoFit/>
          </a:bodyPr>
          <a:lstStyle/>
          <a:p>
            <a:pPr algn="ctr">
              <a:lnSpc>
                <a:spcPct val="100000"/>
              </a:lnSpc>
              <a:spcAft>
                <a:spcPts val="0"/>
              </a:spcAft>
            </a:pPr>
            <a:r>
              <a:rPr sz="1500" b="1" i="0">
                <a:solidFill>
                  <a:srgbClr val="FFFFFF"/>
                </a:solidFill>
                <a:latin typeface="Century Gothic"/>
              </a:rPr>
              <a:t>payout_amount  =  subscription_payment.amount  ×  ( PayoutRate.percentage / 100 )</a:t>
            </a:r>
          </a:p>
        </p:txBody>
      </p:sp>
      <p:sp>
        <p:nvSpPr>
          <p:cNvPr id="9" name="TextBox 8"/>
          <p:cNvSpPr txBox="1"/>
          <p:nvPr/>
        </p:nvSpPr>
        <p:spPr>
          <a:xfrm>
            <a:off x="566928" y="2084831"/>
            <a:ext cx="11057839" cy="292608"/>
          </a:xfrm>
          <a:prstGeom prst="rect">
            <a:avLst/>
          </a:prstGeom>
          <a:noFill/>
        </p:spPr>
        <p:txBody>
          <a:bodyPr wrap="square" anchor="t" lIns="0" rIns="0" tIns="0" bIns="0">
            <a:spAutoFit/>
          </a:bodyPr>
          <a:lstStyle/>
          <a:p>
            <a:pPr algn="ctr">
              <a:lnSpc>
                <a:spcPct val="100000"/>
              </a:lnSpc>
              <a:spcAft>
                <a:spcPts val="0"/>
              </a:spcAft>
            </a:pPr>
            <a:r>
              <a:rPr sz="950" b="0" i="0">
                <a:solidFill>
                  <a:srgbClr val="F6E4F4"/>
                </a:solidFill>
                <a:latin typeface="Century Gothic"/>
              </a:rPr>
              <a:t>The accrual stores gross_amount and percentage_applied — so every payout is auditable back to the exact rate in force at the time.</a:t>
            </a:r>
          </a:p>
        </p:txBody>
      </p:sp>
      <p:sp>
        <p:nvSpPr>
          <p:cNvPr id="10" name="TextBox 9"/>
          <p:cNvSpPr txBox="1"/>
          <p:nvPr/>
        </p:nvSpPr>
        <p:spPr>
          <a:xfrm>
            <a:off x="566928" y="2761488"/>
            <a:ext cx="548640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The rate is versioned, never overwritten</a:t>
            </a:r>
          </a:p>
        </p:txBody>
      </p:sp>
      <p:sp>
        <p:nvSpPr>
          <p:cNvPr id="11" name="Rounded Rectangle 10"/>
          <p:cNvSpPr/>
          <p:nvPr/>
        </p:nvSpPr>
        <p:spPr>
          <a:xfrm>
            <a:off x="566928" y="3145536"/>
            <a:ext cx="5486400" cy="7315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145536"/>
            <a:ext cx="50292" cy="731520"/>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328416"/>
            <a:ext cx="5074920" cy="274320"/>
          </a:xfrm>
          <a:prstGeom prst="rect">
            <a:avLst/>
          </a:prstGeom>
          <a:noFill/>
        </p:spPr>
        <p:txBody>
          <a:bodyPr wrap="square" anchor="t" lIns="0" rIns="0" tIns="0" bIns="0">
            <a:spAutoFit/>
          </a:bodyPr>
          <a:lstStyle/>
          <a:p>
            <a:pPr algn="l">
              <a:lnSpc>
                <a:spcPct val="100000"/>
              </a:lnSpc>
              <a:spcAft>
                <a:spcPts val="0"/>
              </a:spcAft>
            </a:pPr>
            <a:r>
              <a:rPr sz="1050" b="1" i="0">
                <a:solidFill>
                  <a:srgbClr val="FF007F"/>
                </a:solidFill>
                <a:latin typeface="Century Gothic"/>
              </a:rPr>
              <a:t>Super Admin sets a new %</a:t>
            </a:r>
          </a:p>
        </p:txBody>
      </p:sp>
      <p:sp>
        <p:nvSpPr>
          <p:cNvPr id="14" name="TextBox 13"/>
          <p:cNvSpPr txBox="1"/>
          <p:nvPr/>
        </p:nvSpPr>
        <p:spPr>
          <a:xfrm>
            <a:off x="804672" y="3694176"/>
            <a:ext cx="5074920" cy="45720"/>
          </a:xfrm>
          <a:prstGeom prst="rect">
            <a:avLst/>
          </a:prstGeom>
          <a:noFill/>
        </p:spPr>
        <p:txBody>
          <a:bodyPr wrap="square" anchor="t" lIns="0" rIns="0" tIns="0" bIns="0">
            <a:spAutoFit/>
          </a:bodyPr>
          <a:lstStyle/>
          <a:p>
            <a:pPr algn="l">
              <a:lnSpc>
                <a:spcPct val="122000"/>
              </a:lnSpc>
              <a:spcAft>
                <a:spcPts val="0"/>
              </a:spcAft>
            </a:pPr>
            <a:r>
              <a:rPr sz="860" b="0" i="0">
                <a:solidFill>
                  <a:srgbClr val="3A3A3A"/>
                </a:solidFill>
                <a:latin typeface="Century Gothic"/>
              </a:rPr>
              <a:t>The current PayoutRate row is closed — effective_to = now.</a:t>
            </a:r>
          </a:p>
        </p:txBody>
      </p:sp>
      <p:sp>
        <p:nvSpPr>
          <p:cNvPr id="15" name="Rounded Rectangle 14"/>
          <p:cNvSpPr/>
          <p:nvPr/>
        </p:nvSpPr>
        <p:spPr>
          <a:xfrm>
            <a:off x="566928" y="3986784"/>
            <a:ext cx="5486400" cy="7315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4"/>
            <a:ext cx="50292" cy="731520"/>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169664"/>
            <a:ext cx="5074920" cy="274320"/>
          </a:xfrm>
          <a:prstGeom prst="rect">
            <a:avLst/>
          </a:prstGeom>
          <a:noFill/>
        </p:spPr>
        <p:txBody>
          <a:bodyPr wrap="square" anchor="t" lIns="0" rIns="0" tIns="0" bIns="0">
            <a:spAutoFit/>
          </a:bodyPr>
          <a:lstStyle/>
          <a:p>
            <a:pPr algn="l">
              <a:lnSpc>
                <a:spcPct val="100000"/>
              </a:lnSpc>
              <a:spcAft>
                <a:spcPts val="0"/>
              </a:spcAft>
            </a:pPr>
            <a:r>
              <a:rPr sz="1050" b="1" i="0">
                <a:solidFill>
                  <a:srgbClr val="7F00FF"/>
                </a:solidFill>
                <a:latin typeface="Century Gothic"/>
              </a:rPr>
              <a:t>A new row opens</a:t>
            </a:r>
          </a:p>
        </p:txBody>
      </p:sp>
      <p:sp>
        <p:nvSpPr>
          <p:cNvPr id="18" name="TextBox 17"/>
          <p:cNvSpPr txBox="1"/>
          <p:nvPr/>
        </p:nvSpPr>
        <p:spPr>
          <a:xfrm>
            <a:off x="804672" y="4535424"/>
            <a:ext cx="5074920" cy="45720"/>
          </a:xfrm>
          <a:prstGeom prst="rect">
            <a:avLst/>
          </a:prstGeom>
          <a:noFill/>
        </p:spPr>
        <p:txBody>
          <a:bodyPr wrap="square" anchor="t" lIns="0" rIns="0" tIns="0" bIns="0">
            <a:spAutoFit/>
          </a:bodyPr>
          <a:lstStyle/>
          <a:p>
            <a:pPr algn="l">
              <a:lnSpc>
                <a:spcPct val="122000"/>
              </a:lnSpc>
              <a:spcAft>
                <a:spcPts val="0"/>
              </a:spcAft>
            </a:pPr>
            <a:r>
              <a:rPr sz="860" b="0" i="0">
                <a:solidFill>
                  <a:srgbClr val="3A3A3A"/>
                </a:solidFill>
                <a:latin typeface="Century Gothic"/>
              </a:rPr>
              <a:t>effective_from = now, effective_to = null (currently active).</a:t>
            </a:r>
          </a:p>
        </p:txBody>
      </p:sp>
      <p:sp>
        <p:nvSpPr>
          <p:cNvPr id="19" name="Rounded Rectangle 18"/>
          <p:cNvSpPr/>
          <p:nvPr/>
        </p:nvSpPr>
        <p:spPr>
          <a:xfrm>
            <a:off x="566928" y="4828032"/>
            <a:ext cx="5486400" cy="7315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8032"/>
            <a:ext cx="50292" cy="731520"/>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010912"/>
            <a:ext cx="5074920" cy="274320"/>
          </a:xfrm>
          <a:prstGeom prst="rect">
            <a:avLst/>
          </a:prstGeom>
          <a:noFill/>
        </p:spPr>
        <p:txBody>
          <a:bodyPr wrap="square" anchor="t" lIns="0" rIns="0" tIns="0" bIns="0">
            <a:spAutoFit/>
          </a:bodyPr>
          <a:lstStyle/>
          <a:p>
            <a:pPr algn="l">
              <a:lnSpc>
                <a:spcPct val="100000"/>
              </a:lnSpc>
              <a:spcAft>
                <a:spcPts val="0"/>
              </a:spcAft>
            </a:pPr>
            <a:r>
              <a:rPr sz="1050" b="1" i="0">
                <a:solidFill>
                  <a:srgbClr val="4B0082"/>
                </a:solidFill>
                <a:latin typeface="Century Gothic"/>
              </a:rPr>
              <a:t>History is safe</a:t>
            </a:r>
          </a:p>
        </p:txBody>
      </p:sp>
      <p:sp>
        <p:nvSpPr>
          <p:cNvPr id="22" name="TextBox 21"/>
          <p:cNvSpPr txBox="1"/>
          <p:nvPr/>
        </p:nvSpPr>
        <p:spPr>
          <a:xfrm>
            <a:off x="804672" y="5376672"/>
            <a:ext cx="5074920" cy="45720"/>
          </a:xfrm>
          <a:prstGeom prst="rect">
            <a:avLst/>
          </a:prstGeom>
          <a:noFill/>
        </p:spPr>
        <p:txBody>
          <a:bodyPr wrap="square" anchor="t" lIns="0" rIns="0" tIns="0" bIns="0">
            <a:spAutoFit/>
          </a:bodyPr>
          <a:lstStyle/>
          <a:p>
            <a:pPr algn="l">
              <a:lnSpc>
                <a:spcPct val="122000"/>
              </a:lnSpc>
              <a:spcAft>
                <a:spcPts val="0"/>
              </a:spcAft>
            </a:pPr>
            <a:r>
              <a:rPr sz="860" b="0" i="0">
                <a:solidFill>
                  <a:srgbClr val="3A3A3A"/>
                </a:solidFill>
                <a:latin typeface="Century Gothic"/>
              </a:rPr>
              <a:t>Past accruals keep the percentage_applied they were calculated with.</a:t>
            </a:r>
          </a:p>
        </p:txBody>
      </p:sp>
      <p:sp>
        <p:nvSpPr>
          <p:cNvPr id="23" name="TextBox 22"/>
          <p:cNvSpPr txBox="1"/>
          <p:nvPr/>
        </p:nvSpPr>
        <p:spPr>
          <a:xfrm>
            <a:off x="6492240" y="2761488"/>
            <a:ext cx="512064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Scope — which rate applies</a:t>
            </a:r>
          </a:p>
        </p:txBody>
      </p:sp>
      <p:sp>
        <p:nvSpPr>
          <p:cNvPr id="24" name="Rounded Rectangle 23"/>
          <p:cNvSpPr/>
          <p:nvPr/>
        </p:nvSpPr>
        <p:spPr>
          <a:xfrm>
            <a:off x="6492240" y="3145536"/>
            <a:ext cx="1463040" cy="402336"/>
          </a:xfrm>
          <a:prstGeom prst="roundRect">
            <a:avLst>
              <a:gd name="adj" fmla="val 50000"/>
            </a:avLst>
          </a:prstGeom>
          <a:gradFill rotWithShape="1">
            <a:gsLst>
              <a:gs pos="0">
                <a:srgbClr val="7F00FF"/>
              </a:gs>
              <a:gs pos="100000">
                <a:srgbClr val="4B00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50" b="1">
                <a:solidFill>
                  <a:srgbClr val="FFFFFF"/>
                </a:solidFill>
                <a:latin typeface="Century Gothic"/>
              </a:rPr>
              <a:t>influencer</a:t>
            </a:r>
          </a:p>
        </p:txBody>
      </p:sp>
      <p:sp>
        <p:nvSpPr>
          <p:cNvPr id="25" name="TextBox 24"/>
          <p:cNvSpPr txBox="1"/>
          <p:nvPr/>
        </p:nvSpPr>
        <p:spPr>
          <a:xfrm>
            <a:off x="8101583" y="3218688"/>
            <a:ext cx="3520440" cy="457200"/>
          </a:xfrm>
          <a:prstGeom prst="rect">
            <a:avLst/>
          </a:prstGeom>
          <a:noFill/>
        </p:spPr>
        <p:txBody>
          <a:bodyPr wrap="square" anchor="t" lIns="0" rIns="0" tIns="0" bIns="0">
            <a:spAutoFit/>
          </a:bodyPr>
          <a:lstStyle/>
          <a:p>
            <a:pPr algn="l">
              <a:lnSpc>
                <a:spcPct val="115000"/>
              </a:lnSpc>
              <a:spcAft>
                <a:spcPts val="0"/>
              </a:spcAft>
            </a:pPr>
            <a:r>
              <a:rPr sz="900" b="0" i="0">
                <a:solidFill>
                  <a:srgbClr val="3A3A3A"/>
                </a:solidFill>
                <a:latin typeface="Century Gothic"/>
              </a:rPr>
              <a:t>An override for one influencer. Wins if present.</a:t>
            </a:r>
          </a:p>
        </p:txBody>
      </p:sp>
      <p:sp>
        <p:nvSpPr>
          <p:cNvPr id="26" name="Rounded Rectangle 25"/>
          <p:cNvSpPr/>
          <p:nvPr/>
        </p:nvSpPr>
        <p:spPr>
          <a:xfrm>
            <a:off x="6492240" y="3803904"/>
            <a:ext cx="1463040" cy="402336"/>
          </a:xfrm>
          <a:prstGeom prst="roundRect">
            <a:avLst>
              <a:gd name="adj" fmla="val 50000"/>
            </a:avLst>
          </a:prstGeom>
          <a:gradFill rotWithShape="1">
            <a:gsLst>
              <a:gs pos="0">
                <a:srgbClr val="FF007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50" b="1">
                <a:solidFill>
                  <a:srgbClr val="FFFFFF"/>
                </a:solidFill>
                <a:latin typeface="Century Gothic"/>
              </a:rPr>
              <a:t>global</a:t>
            </a:r>
          </a:p>
        </p:txBody>
      </p:sp>
      <p:sp>
        <p:nvSpPr>
          <p:cNvPr id="27" name="TextBox 26"/>
          <p:cNvSpPr txBox="1"/>
          <p:nvPr/>
        </p:nvSpPr>
        <p:spPr>
          <a:xfrm>
            <a:off x="8101583" y="3877056"/>
            <a:ext cx="3520440" cy="457200"/>
          </a:xfrm>
          <a:prstGeom prst="rect">
            <a:avLst/>
          </a:prstGeom>
          <a:noFill/>
        </p:spPr>
        <p:txBody>
          <a:bodyPr wrap="square" anchor="t" lIns="0" rIns="0" tIns="0" bIns="0">
            <a:spAutoFit/>
          </a:bodyPr>
          <a:lstStyle/>
          <a:p>
            <a:pPr algn="l">
              <a:lnSpc>
                <a:spcPct val="115000"/>
              </a:lnSpc>
              <a:spcAft>
                <a:spcPts val="0"/>
              </a:spcAft>
            </a:pPr>
            <a:r>
              <a:rPr sz="900" b="0" i="0">
                <a:solidFill>
                  <a:srgbClr val="3A3A3A"/>
                </a:solidFill>
                <a:latin typeface="Century Gothic"/>
              </a:rPr>
              <a:t>The platform default. Applies to everyone else.</a:t>
            </a:r>
          </a:p>
        </p:txBody>
      </p:sp>
      <p:sp>
        <p:nvSpPr>
          <p:cNvPr id="28" name="TextBox 27"/>
          <p:cNvSpPr txBox="1"/>
          <p:nvPr/>
        </p:nvSpPr>
        <p:spPr>
          <a:xfrm>
            <a:off x="6492240" y="4590288"/>
            <a:ext cx="512064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What the Accountant sees</a:t>
            </a:r>
          </a:p>
        </p:txBody>
      </p:sp>
      <p:sp>
        <p:nvSpPr>
          <p:cNvPr id="29" name="TextBox 28"/>
          <p:cNvSpPr txBox="1"/>
          <p:nvPr/>
        </p:nvSpPr>
        <p:spPr>
          <a:xfrm>
            <a:off x="6492240" y="4974336"/>
            <a:ext cx="5120640" cy="1097280"/>
          </a:xfrm>
          <a:prstGeom prst="rect">
            <a:avLst/>
          </a:prstGeom>
          <a:noFill/>
        </p:spPr>
        <p:txBody>
          <a:bodyPr wrap="square" lIns="0" rIns="0" tIns="0" bIns="0">
            <a:spAutoFit/>
          </a:bodyPr>
          <a:lstStyle/>
          <a:p>
            <a:pPr marL="155448" indent="-155448">
              <a:lnSpc>
                <a:spcPct val="115000"/>
              </a:lnSpc>
              <a:spcAft>
                <a:spcPts val="700"/>
              </a:spcAft>
              <a:buClr>
                <a:srgbClr val="7F00FF"/>
              </a:buClr>
              <a:buChar char="–"/>
            </a:pPr>
            <a:r>
              <a:rPr sz="919">
                <a:solidFill>
                  <a:srgbClr val="3A3A3A"/>
                </a:solidFill>
                <a:latin typeface="Century Gothic"/>
              </a:rPr>
              <a:t>The active payout percentage — and a control to change it</a:t>
            </a:r>
          </a:p>
          <a:p>
            <a:pPr marL="155448" indent="-155448">
              <a:lnSpc>
                <a:spcPct val="115000"/>
              </a:lnSpc>
              <a:spcAft>
                <a:spcPts val="700"/>
              </a:spcAft>
              <a:buClr>
                <a:srgbClr val="7F00FF"/>
              </a:buClr>
              <a:buChar char="–"/>
            </a:pPr>
            <a:r>
              <a:rPr sz="919">
                <a:solidFill>
                  <a:srgbClr val="3A3A3A"/>
                </a:solidFill>
                <a:latin typeface="Century Gothic"/>
              </a:rPr>
              <a:t>Accrued-but-unpaid payouts, and pending payouts</a:t>
            </a:r>
          </a:p>
          <a:p>
            <a:pPr marL="155448" indent="-155448">
              <a:lnSpc>
                <a:spcPct val="115000"/>
              </a:lnSpc>
              <a:spcAft>
                <a:spcPts val="700"/>
              </a:spcAft>
              <a:buClr>
                <a:srgbClr val="7F00FF"/>
              </a:buClr>
              <a:buChar char="–"/>
            </a:pPr>
            <a:r>
              <a:rPr sz="919">
                <a:solidFill>
                  <a:srgbClr val="3A3A3A"/>
                </a:solidFill>
                <a:latin typeface="Century Gothic"/>
              </a:rPr>
              <a:t>The platform balance and the full ledger history</a:t>
            </a:r>
          </a:p>
        </p:txBody>
      </p:sp>
      <p:sp>
        <p:nvSpPr>
          <p:cNvPr id="30" name="Rounded Rectangle 29"/>
          <p:cNvSpPr/>
          <p:nvPr/>
        </p:nvSpPr>
        <p:spPr>
          <a:xfrm>
            <a:off x="566928" y="5669280"/>
            <a:ext cx="5486400" cy="566928"/>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669280"/>
            <a:ext cx="45720" cy="566928"/>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797296"/>
            <a:ext cx="5120640" cy="347472"/>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Decided: the payout % is charged on the gross subscription amount (AED); the launch value is configured by the Super Admin.</a:t>
            </a:r>
          </a:p>
        </p:txBody>
      </p:sp>
      <p:pic>
        <p:nvPicPr>
          <p:cNvPr id="33" name="Picture 32"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4" name="TextBox 33"/>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Payout Lifecycle</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Only the Super Admin approves (Accountant records the manual paid step) — and only for a KYC-verified payee</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Chevron 5"/>
          <p:cNvSpPr/>
          <p:nvPr/>
        </p:nvSpPr>
        <p:spPr>
          <a:xfrm>
            <a:off x="566928" y="1609344"/>
            <a:ext cx="1722729" cy="914400"/>
          </a:xfrm>
          <a:prstGeom prst="chevron">
            <a:avLst>
              <a:gd name="adj" fmla="val 22000"/>
            </a:avLst>
          </a:prstGeom>
          <a:gradFill rotWithShape="1">
            <a:gsLst>
              <a:gs pos="0">
                <a:srgbClr val="FF007F"/>
              </a:gs>
              <a:gs pos="100000">
                <a:srgbClr val="E8009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200" b="1">
                <a:solidFill>
                  <a:srgbClr val="FFFFFF"/>
                </a:solidFill>
                <a:latin typeface="Century Gothic"/>
              </a:rPr>
              <a:t>accrued</a:t>
            </a:r>
          </a:p>
        </p:txBody>
      </p:sp>
      <p:sp>
        <p:nvSpPr>
          <p:cNvPr id="7" name="Chevron 6"/>
          <p:cNvSpPr/>
          <p:nvPr/>
        </p:nvSpPr>
        <p:spPr>
          <a:xfrm>
            <a:off x="2330805" y="1609344"/>
            <a:ext cx="1722729" cy="914400"/>
          </a:xfrm>
          <a:prstGeom prst="chevron">
            <a:avLst>
              <a:gd name="adj" fmla="val 22000"/>
            </a:avLst>
          </a:prstGeom>
          <a:gradFill rotWithShape="1">
            <a:gsLst>
              <a:gs pos="0">
                <a:srgbClr val="DF009F"/>
              </a:gs>
              <a:gs pos="100000">
                <a:srgbClr val="C800B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200" b="1">
                <a:solidFill>
                  <a:srgbClr val="FFFFFF"/>
                </a:solidFill>
                <a:latin typeface="Century Gothic"/>
              </a:rPr>
              <a:t>requested</a:t>
            </a:r>
          </a:p>
        </p:txBody>
      </p:sp>
      <p:sp>
        <p:nvSpPr>
          <p:cNvPr id="8" name="Chevron 7"/>
          <p:cNvSpPr/>
          <p:nvPr/>
        </p:nvSpPr>
        <p:spPr>
          <a:xfrm>
            <a:off x="4094683" y="1609344"/>
            <a:ext cx="1722729" cy="914400"/>
          </a:xfrm>
          <a:prstGeom prst="chevron">
            <a:avLst>
              <a:gd name="adj" fmla="val 22000"/>
            </a:avLst>
          </a:prstGeom>
          <a:gradFill rotWithShape="1">
            <a:gsLst>
              <a:gs pos="0">
                <a:srgbClr val="BF00BF"/>
              </a:gs>
              <a:gs pos="100000">
                <a:srgbClr val="A800D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200" b="1">
                <a:solidFill>
                  <a:srgbClr val="FFFFFF"/>
                </a:solidFill>
                <a:latin typeface="Century Gothic"/>
              </a:rPr>
              <a:t>approved</a:t>
            </a:r>
          </a:p>
        </p:txBody>
      </p:sp>
      <p:sp>
        <p:nvSpPr>
          <p:cNvPr id="9" name="Chevron 8"/>
          <p:cNvSpPr/>
          <p:nvPr/>
        </p:nvSpPr>
        <p:spPr>
          <a:xfrm>
            <a:off x="5858560" y="1609344"/>
            <a:ext cx="1722729" cy="914400"/>
          </a:xfrm>
          <a:prstGeom prst="chevron">
            <a:avLst>
              <a:gd name="adj" fmla="val 22000"/>
            </a:avLst>
          </a:prstGeom>
          <a:gradFill rotWithShape="1">
            <a:gsLst>
              <a:gs pos="0">
                <a:srgbClr val="9F00DF"/>
              </a:gs>
              <a:gs pos="100000">
                <a:srgbClr val="8800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200" b="1">
                <a:solidFill>
                  <a:srgbClr val="FFFFFF"/>
                </a:solidFill>
                <a:latin typeface="Century Gothic"/>
              </a:rPr>
              <a:t>processing</a:t>
            </a:r>
          </a:p>
        </p:txBody>
      </p:sp>
      <p:sp>
        <p:nvSpPr>
          <p:cNvPr id="10" name="Chevron 9"/>
          <p:cNvSpPr/>
          <p:nvPr/>
        </p:nvSpPr>
        <p:spPr>
          <a:xfrm>
            <a:off x="7622438" y="1609344"/>
            <a:ext cx="1722729" cy="914400"/>
          </a:xfrm>
          <a:prstGeom prst="chevron">
            <a:avLst>
              <a:gd name="adj" fmla="val 22000"/>
            </a:avLst>
          </a:prstGeom>
          <a:gradFill rotWithShape="1">
            <a:gsLst>
              <a:gs pos="0">
                <a:srgbClr val="7F00FF"/>
              </a:gs>
              <a:gs pos="100000">
                <a:srgbClr val="7F00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a:lstStyle/>
          <a:p>
            <a:pPr algn="ctr">
              <a:lnSpc>
                <a:spcPct val="106000"/>
              </a:lnSpc>
            </a:pPr>
            <a:r>
              <a:rPr sz="1200" b="1">
                <a:solidFill>
                  <a:srgbClr val="FFFFFF"/>
                </a:solidFill>
                <a:latin typeface="Century Gothic"/>
              </a:rPr>
              <a:t>paid</a:t>
            </a:r>
          </a:p>
        </p:txBody>
      </p:sp>
      <p:sp>
        <p:nvSpPr>
          <p:cNvPr id="11" name="Rounded Rectangle 10"/>
          <p:cNvSpPr/>
          <p:nvPr/>
        </p:nvSpPr>
        <p:spPr>
          <a:xfrm>
            <a:off x="9646920" y="1609344"/>
            <a:ext cx="1975104" cy="914400"/>
          </a:xfrm>
          <a:prstGeom prst="roundRect">
            <a:avLst>
              <a:gd name="adj" fmla="val 10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entury Gothic"/>
              </a:rPr>
              <a:t>failed</a:t>
            </a:r>
          </a:p>
        </p:txBody>
      </p:sp>
      <p:sp>
        <p:nvSpPr>
          <p:cNvPr id="12" name="TextBox 11"/>
          <p:cNvSpPr txBox="1"/>
          <p:nvPr/>
        </p:nvSpPr>
        <p:spPr>
          <a:xfrm>
            <a:off x="9646920" y="2615184"/>
            <a:ext cx="1975104" cy="457200"/>
          </a:xfrm>
          <a:prstGeom prst="rect">
            <a:avLst/>
          </a:prstGeom>
          <a:noFill/>
        </p:spPr>
        <p:txBody>
          <a:bodyPr wrap="square" anchor="t" lIns="0" rIns="0" tIns="0" bIns="0">
            <a:spAutoFit/>
          </a:bodyPr>
          <a:lstStyle/>
          <a:p>
            <a:pPr algn="ctr">
              <a:lnSpc>
                <a:spcPct val="118000"/>
              </a:lnSpc>
              <a:spcAft>
                <a:spcPts val="0"/>
              </a:spcAft>
            </a:pPr>
            <a:r>
              <a:rPr sz="850" b="0" i="0">
                <a:solidFill>
                  <a:srgbClr val="808080"/>
                </a:solidFill>
                <a:latin typeface="Century Gothic"/>
              </a:rPr>
              <a:t>Any state may fail</a:t>
            </a:r>
          </a:p>
        </p:txBody>
      </p:sp>
      <p:sp>
        <p:nvSpPr>
          <p:cNvPr id="13" name="Rounded Rectangle 12"/>
          <p:cNvSpPr/>
          <p:nvPr/>
        </p:nvSpPr>
        <p:spPr>
          <a:xfrm>
            <a:off x="566928" y="3090672"/>
            <a:ext cx="2599867" cy="148132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090672"/>
            <a:ext cx="50292" cy="1481328"/>
          </a:xfrm>
          <a:prstGeom prst="rect">
            <a:avLst/>
          </a:prstGeom>
          <a:gradFill rotWithShape="1">
            <a:gsLst>
              <a:gs pos="0">
                <a:srgbClr val="808080"/>
              </a:gs>
              <a:gs pos="100000">
                <a:srgbClr val="808080"/>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73552"/>
            <a:ext cx="2188387" cy="274320"/>
          </a:xfrm>
          <a:prstGeom prst="rect">
            <a:avLst/>
          </a:prstGeom>
          <a:noFill/>
        </p:spPr>
        <p:txBody>
          <a:bodyPr wrap="square" anchor="t" lIns="0" rIns="0" tIns="0" bIns="0">
            <a:spAutoFit/>
          </a:bodyPr>
          <a:lstStyle/>
          <a:p>
            <a:pPr algn="l">
              <a:lnSpc>
                <a:spcPct val="100000"/>
              </a:lnSpc>
              <a:spcAft>
                <a:spcPts val="0"/>
              </a:spcAft>
            </a:pPr>
            <a:r>
              <a:rPr sz="1150" b="1" i="0">
                <a:solidFill>
                  <a:srgbClr val="808080"/>
                </a:solidFill>
                <a:latin typeface="Century Gothic"/>
              </a:rPr>
              <a:t>accrued</a:t>
            </a:r>
          </a:p>
        </p:txBody>
      </p:sp>
      <p:sp>
        <p:nvSpPr>
          <p:cNvPr id="16" name="TextBox 15"/>
          <p:cNvSpPr txBox="1"/>
          <p:nvPr/>
        </p:nvSpPr>
        <p:spPr>
          <a:xfrm>
            <a:off x="804672" y="3639312"/>
            <a:ext cx="2188387" cy="79552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Created automatically the moment a subscription payment completes. Nothing has moved yet.</a:t>
            </a:r>
          </a:p>
        </p:txBody>
      </p:sp>
      <p:sp>
        <p:nvSpPr>
          <p:cNvPr id="17" name="Rounded Rectangle 16"/>
          <p:cNvSpPr/>
          <p:nvPr/>
        </p:nvSpPr>
        <p:spPr>
          <a:xfrm>
            <a:off x="3386251" y="3090672"/>
            <a:ext cx="2599867" cy="148132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86251" y="3090672"/>
            <a:ext cx="50292" cy="1481328"/>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23995" y="3273552"/>
            <a:ext cx="2188387" cy="274320"/>
          </a:xfrm>
          <a:prstGeom prst="rect">
            <a:avLst/>
          </a:prstGeom>
          <a:noFill/>
        </p:spPr>
        <p:txBody>
          <a:bodyPr wrap="square" anchor="t" lIns="0" rIns="0" tIns="0" bIns="0">
            <a:spAutoFit/>
          </a:bodyPr>
          <a:lstStyle/>
          <a:p>
            <a:pPr algn="l">
              <a:lnSpc>
                <a:spcPct val="100000"/>
              </a:lnSpc>
              <a:spcAft>
                <a:spcPts val="0"/>
              </a:spcAft>
            </a:pPr>
            <a:r>
              <a:rPr sz="1150" b="1" i="0">
                <a:solidFill>
                  <a:srgbClr val="FF007F"/>
                </a:solidFill>
                <a:latin typeface="Century Gothic"/>
              </a:rPr>
              <a:t>approved</a:t>
            </a:r>
          </a:p>
        </p:txBody>
      </p:sp>
      <p:sp>
        <p:nvSpPr>
          <p:cNvPr id="20" name="TextBox 19"/>
          <p:cNvSpPr txBox="1"/>
          <p:nvPr/>
        </p:nvSpPr>
        <p:spPr>
          <a:xfrm>
            <a:off x="3623995" y="3639312"/>
            <a:ext cx="2188387" cy="79552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The Super Admin gate. Blocked unless the payee's kyc_verified is true.</a:t>
            </a:r>
          </a:p>
        </p:txBody>
      </p:sp>
      <p:sp>
        <p:nvSpPr>
          <p:cNvPr id="21" name="Rounded Rectangle 20"/>
          <p:cNvSpPr/>
          <p:nvPr/>
        </p:nvSpPr>
        <p:spPr>
          <a:xfrm>
            <a:off x="6205575" y="3090672"/>
            <a:ext cx="2599867" cy="148132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5575" y="3090672"/>
            <a:ext cx="50292" cy="1481328"/>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3319" y="3273552"/>
            <a:ext cx="2188387" cy="274320"/>
          </a:xfrm>
          <a:prstGeom prst="rect">
            <a:avLst/>
          </a:prstGeom>
          <a:noFill/>
        </p:spPr>
        <p:txBody>
          <a:bodyPr wrap="square" anchor="t" lIns="0" rIns="0" tIns="0" bIns="0">
            <a:spAutoFit/>
          </a:bodyPr>
          <a:lstStyle/>
          <a:p>
            <a:pPr algn="l">
              <a:lnSpc>
                <a:spcPct val="100000"/>
              </a:lnSpc>
              <a:spcAft>
                <a:spcPts val="0"/>
              </a:spcAft>
            </a:pPr>
            <a:r>
              <a:rPr sz="1150" b="1" i="0">
                <a:solidFill>
                  <a:srgbClr val="7F00FF"/>
                </a:solidFill>
                <a:latin typeface="Century Gothic"/>
              </a:rPr>
              <a:t>processing</a:t>
            </a:r>
          </a:p>
        </p:txBody>
      </p:sp>
      <p:sp>
        <p:nvSpPr>
          <p:cNvPr id="24" name="TextBox 23"/>
          <p:cNvSpPr txBox="1"/>
          <p:nvPr/>
        </p:nvSpPr>
        <p:spPr>
          <a:xfrm>
            <a:off x="6443319" y="3639312"/>
            <a:ext cx="2188387" cy="79552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The Accountant issues the outbound payment manually (bank / service provider).</a:t>
            </a:r>
          </a:p>
        </p:txBody>
      </p:sp>
      <p:sp>
        <p:nvSpPr>
          <p:cNvPr id="25" name="Rounded Rectangle 24"/>
          <p:cNvSpPr/>
          <p:nvPr/>
        </p:nvSpPr>
        <p:spPr>
          <a:xfrm>
            <a:off x="9024899" y="3090672"/>
            <a:ext cx="2599867" cy="1481328"/>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24899" y="3090672"/>
            <a:ext cx="50292" cy="1481328"/>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62643" y="3273552"/>
            <a:ext cx="2188387" cy="274320"/>
          </a:xfrm>
          <a:prstGeom prst="rect">
            <a:avLst/>
          </a:prstGeom>
          <a:noFill/>
        </p:spPr>
        <p:txBody>
          <a:bodyPr wrap="square" anchor="t" lIns="0" rIns="0" tIns="0" bIns="0">
            <a:spAutoFit/>
          </a:bodyPr>
          <a:lstStyle/>
          <a:p>
            <a:pPr algn="l">
              <a:lnSpc>
                <a:spcPct val="100000"/>
              </a:lnSpc>
              <a:spcAft>
                <a:spcPts val="0"/>
              </a:spcAft>
            </a:pPr>
            <a:r>
              <a:rPr sz="1150" b="1" i="0">
                <a:solidFill>
                  <a:srgbClr val="4B0082"/>
                </a:solidFill>
                <a:latin typeface="Century Gothic"/>
              </a:rPr>
              <a:t>paid</a:t>
            </a:r>
          </a:p>
        </p:txBody>
      </p:sp>
      <p:sp>
        <p:nvSpPr>
          <p:cNvPr id="28" name="TextBox 27"/>
          <p:cNvSpPr txBox="1"/>
          <p:nvPr/>
        </p:nvSpPr>
        <p:spPr>
          <a:xfrm>
            <a:off x="9262643" y="3639312"/>
            <a:ext cx="2188387" cy="795528"/>
          </a:xfrm>
          <a:prstGeom prst="rect">
            <a:avLst/>
          </a:prstGeom>
          <a:noFill/>
        </p:spPr>
        <p:txBody>
          <a:bodyPr wrap="square" anchor="t" lIns="0" rIns="0" tIns="0" bIns="0">
            <a:spAutoFit/>
          </a:bodyPr>
          <a:lstStyle/>
          <a:p>
            <a:pPr algn="l">
              <a:lnSpc>
                <a:spcPct val="122000"/>
              </a:lnSpc>
              <a:spcAft>
                <a:spcPts val="0"/>
              </a:spcAft>
            </a:pPr>
            <a:r>
              <a:rPr sz="919" b="0" i="0">
                <a:solidFill>
                  <a:srgbClr val="3A3A3A"/>
                </a:solidFill>
                <a:latin typeface="Century Gothic"/>
              </a:rPr>
              <a:t>The debit LedgerEntry is posted and the platform balance decreases.</a:t>
            </a:r>
          </a:p>
        </p:txBody>
      </p:sp>
      <p:sp>
        <p:nvSpPr>
          <p:cNvPr id="29" name="Rounded Rectangle 28"/>
          <p:cNvSpPr/>
          <p:nvPr/>
        </p:nvSpPr>
        <p:spPr>
          <a:xfrm>
            <a:off x="566928" y="4773168"/>
            <a:ext cx="11055096" cy="676656"/>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73168"/>
            <a:ext cx="45720" cy="676656"/>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4901183"/>
            <a:ext cx="10689336" cy="457200"/>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THE KYC GATE — a payout may not move to approved while the payee's kyc_verified is false. This is a compliance control, enforced in the service layer and at the API, not just hidden in the UI.</a:t>
            </a:r>
          </a:p>
        </p:txBody>
      </p:sp>
      <p:sp>
        <p:nvSpPr>
          <p:cNvPr id="32" name="Rounded Rectangle 31"/>
          <p:cNvSpPr/>
          <p:nvPr/>
        </p:nvSpPr>
        <p:spPr>
          <a:xfrm>
            <a:off x="566928" y="5541264"/>
            <a:ext cx="6583680" cy="493776"/>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541264"/>
            <a:ext cx="45720" cy="493776"/>
          </a:xfrm>
          <a:prstGeom prst="rect">
            <a:avLst/>
          </a:prstGeom>
          <a:solidFill>
            <a:srgbClr val="7F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5669279"/>
            <a:ext cx="6217920" cy="274320"/>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A Payout bundles one or more accruals and resolves to exactly one outbound Payment.</a:t>
            </a:r>
          </a:p>
        </p:txBody>
      </p:sp>
      <p:pic>
        <p:nvPicPr>
          <p:cNvPr id="35" name="Picture 34" descr="footer_bar.png"/>
          <p:cNvPicPr>
            <a:picLocks noChangeAspect="1"/>
          </p:cNvPicPr>
          <p:nvPr/>
        </p:nvPicPr>
        <p:blipFill>
          <a:blip r:embed="rId4"/>
          <a:stretch>
            <a:fillRect/>
          </a:stretch>
        </p:blipFill>
        <p:spPr>
          <a:xfrm>
            <a:off x="7260336" y="5861304"/>
            <a:ext cx="4928616" cy="491032"/>
          </a:xfrm>
          <a:prstGeom prst="rect">
            <a:avLst/>
          </a:prstGeom>
        </p:spPr>
      </p:pic>
      <p:sp>
        <p:nvSpPr>
          <p:cNvPr id="36" name="TextBox 35"/>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Admin &amp; Manager Operations</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What the Super Admin and the three manager roles control</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Rounded Rectangle 5"/>
          <p:cNvSpPr/>
          <p:nvPr/>
        </p:nvSpPr>
        <p:spPr>
          <a:xfrm>
            <a:off x="566928" y="1517904"/>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17904"/>
            <a:ext cx="50292" cy="1188720"/>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00784"/>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FF007F"/>
                </a:solidFill>
                <a:latin typeface="Century Gothic"/>
              </a:rPr>
              <a:t>Create merchants</a:t>
            </a:r>
          </a:p>
        </p:txBody>
      </p:sp>
      <p:sp>
        <p:nvSpPr>
          <p:cNvPr id="9" name="TextBox 8"/>
          <p:cNvSpPr txBox="1"/>
          <p:nvPr/>
        </p:nvSpPr>
        <p:spPr>
          <a:xfrm>
            <a:off x="804672" y="2066543"/>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There is no merchant signup screen. A Super Admin / Merchant Manager makes the account.</a:t>
            </a:r>
          </a:p>
        </p:txBody>
      </p:sp>
      <p:sp>
        <p:nvSpPr>
          <p:cNvPr id="10" name="Rounded Rectangle 9"/>
          <p:cNvSpPr/>
          <p:nvPr/>
        </p:nvSpPr>
        <p:spPr>
          <a:xfrm>
            <a:off x="3381679" y="1517904"/>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1679" y="1517904"/>
            <a:ext cx="50292" cy="1188720"/>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9423" y="1700784"/>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Create influencers</a:t>
            </a:r>
          </a:p>
        </p:txBody>
      </p:sp>
      <p:sp>
        <p:nvSpPr>
          <p:cNvPr id="13" name="TextBox 12"/>
          <p:cNvSpPr txBox="1"/>
          <p:nvPr/>
        </p:nvSpPr>
        <p:spPr>
          <a:xfrm>
            <a:off x="3619423" y="2066543"/>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There is no influencer signup screen either.</a:t>
            </a:r>
          </a:p>
        </p:txBody>
      </p:sp>
      <p:sp>
        <p:nvSpPr>
          <p:cNvPr id="14" name="Rounded Rectangle 13"/>
          <p:cNvSpPr/>
          <p:nvPr/>
        </p:nvSpPr>
        <p:spPr>
          <a:xfrm>
            <a:off x="6196431" y="1517904"/>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6431" y="1517904"/>
            <a:ext cx="50292" cy="1188720"/>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4175" y="1700784"/>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4B0082"/>
                </a:solidFill>
                <a:latin typeface="Century Gothic"/>
              </a:rPr>
              <a:t>Verify KYC</a:t>
            </a:r>
          </a:p>
        </p:txBody>
      </p:sp>
      <p:sp>
        <p:nvSpPr>
          <p:cNvPr id="17" name="TextBox 16"/>
          <p:cNvSpPr txBox="1"/>
          <p:nvPr/>
        </p:nvSpPr>
        <p:spPr>
          <a:xfrm>
            <a:off x="6434175" y="2066543"/>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Uploads the documents and sets kyc_verified. Gates every payout — and every promo code.</a:t>
            </a:r>
          </a:p>
        </p:txBody>
      </p:sp>
      <p:sp>
        <p:nvSpPr>
          <p:cNvPr id="18" name="Rounded Rectangle 17"/>
          <p:cNvSpPr/>
          <p:nvPr/>
        </p:nvSpPr>
        <p:spPr>
          <a:xfrm>
            <a:off x="9011183" y="1517904"/>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1183" y="1517904"/>
            <a:ext cx="50292" cy="1188720"/>
          </a:xfrm>
          <a:prstGeom prst="rect">
            <a:avLst/>
          </a:prstGeom>
          <a:gradFill rotWithShape="1">
            <a:gsLst>
              <a:gs pos="0">
                <a:srgbClr val="8B0000"/>
              </a:gs>
              <a:gs pos="100000">
                <a:srgbClr val="8B0000"/>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48927" y="1700784"/>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8B0000"/>
                </a:solidFill>
                <a:latin typeface="Century Gothic"/>
              </a:rPr>
              <a:t>Approve accounts</a:t>
            </a:r>
          </a:p>
        </p:txBody>
      </p:sp>
      <p:sp>
        <p:nvSpPr>
          <p:cNvPr id="21" name="TextBox 20"/>
          <p:cNvSpPr txBox="1"/>
          <p:nvPr/>
        </p:nvSpPr>
        <p:spPr>
          <a:xfrm>
            <a:off x="9248927" y="2066543"/>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Moves a merchant or influencer from pending to approved.</a:t>
            </a:r>
          </a:p>
        </p:txBody>
      </p:sp>
      <p:sp>
        <p:nvSpPr>
          <p:cNvPr id="22" name="Rounded Rectangle 21"/>
          <p:cNvSpPr/>
          <p:nvPr/>
        </p:nvSpPr>
        <p:spPr>
          <a:xfrm>
            <a:off x="566928" y="2871215"/>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2871215"/>
            <a:ext cx="50292" cy="1188720"/>
          </a:xfrm>
          <a:prstGeom prst="rect">
            <a:avLst/>
          </a:prstGeom>
          <a:gradFill rotWithShape="1">
            <a:gsLst>
              <a:gs pos="0">
                <a:srgbClr val="FF007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054096"/>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FF007F"/>
                </a:solidFill>
                <a:latin typeface="Century Gothic"/>
              </a:rPr>
              <a:t>Set the payout %</a:t>
            </a:r>
          </a:p>
        </p:txBody>
      </p:sp>
      <p:sp>
        <p:nvSpPr>
          <p:cNvPr id="25" name="TextBox 24"/>
          <p:cNvSpPr txBox="1"/>
          <p:nvPr/>
        </p:nvSpPr>
        <p:spPr>
          <a:xfrm>
            <a:off x="804672" y="3419856"/>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What the influencer earns. Versioned — history is never re-priced.</a:t>
            </a:r>
          </a:p>
        </p:txBody>
      </p:sp>
      <p:sp>
        <p:nvSpPr>
          <p:cNvPr id="26" name="Rounded Rectangle 25"/>
          <p:cNvSpPr/>
          <p:nvPr/>
        </p:nvSpPr>
        <p:spPr>
          <a:xfrm>
            <a:off x="3381679" y="2871215"/>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81679" y="2871215"/>
            <a:ext cx="50292" cy="1188720"/>
          </a:xfrm>
          <a:prstGeom prst="rect">
            <a:avLst/>
          </a:prstGeom>
          <a:gradFill rotWithShape="1">
            <a:gsLst>
              <a:gs pos="0">
                <a:srgbClr val="7F00FF"/>
              </a:gs>
              <a:gs pos="100000">
                <a:srgbClr val="7F00FF"/>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9423" y="3054096"/>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7F00FF"/>
                </a:solidFill>
                <a:latin typeface="Century Gothic"/>
              </a:rPr>
              <a:t>Set the discount</a:t>
            </a:r>
          </a:p>
        </p:txBody>
      </p:sp>
      <p:sp>
        <p:nvSpPr>
          <p:cNvPr id="29" name="TextBox 28"/>
          <p:cNvSpPr txBox="1"/>
          <p:nvPr/>
        </p:nvSpPr>
        <p:spPr>
          <a:xfrm>
            <a:off x="3619423" y="3419856"/>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Each influencer's own value. Only the Super Admin can set it.</a:t>
            </a:r>
          </a:p>
        </p:txBody>
      </p:sp>
      <p:sp>
        <p:nvSpPr>
          <p:cNvPr id="30" name="Rounded Rectangle 29"/>
          <p:cNvSpPr/>
          <p:nvPr/>
        </p:nvSpPr>
        <p:spPr>
          <a:xfrm>
            <a:off x="6196431" y="2871215"/>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6431" y="2871215"/>
            <a:ext cx="50292" cy="1188720"/>
          </a:xfrm>
          <a:prstGeom prst="rect">
            <a:avLst/>
          </a:prstGeom>
          <a:gradFill rotWithShape="1">
            <a:gsLst>
              <a:gs pos="0">
                <a:srgbClr val="4B0082"/>
              </a:gs>
              <a:gs pos="100000">
                <a:srgbClr val="4B0082"/>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4175" y="3054096"/>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4B0082"/>
                </a:solidFill>
                <a:latin typeface="Century Gothic"/>
              </a:rPr>
              <a:t>Authorise payouts</a:t>
            </a:r>
          </a:p>
        </p:txBody>
      </p:sp>
      <p:sp>
        <p:nvSpPr>
          <p:cNvPr id="33" name="TextBox 32"/>
          <p:cNvSpPr txBox="1"/>
          <p:nvPr/>
        </p:nvSpPr>
        <p:spPr>
          <a:xfrm>
            <a:off x="6434175" y="3419856"/>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Super Admin approves; the Accountant Manager issues it manually and records the ledger. KYC required.</a:t>
            </a:r>
          </a:p>
        </p:txBody>
      </p:sp>
      <p:sp>
        <p:nvSpPr>
          <p:cNvPr id="34" name="Rounded Rectangle 33"/>
          <p:cNvSpPr/>
          <p:nvPr/>
        </p:nvSpPr>
        <p:spPr>
          <a:xfrm>
            <a:off x="9011183" y="2871215"/>
            <a:ext cx="2613583" cy="1188720"/>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11183" y="2871215"/>
            <a:ext cx="50292" cy="1188720"/>
          </a:xfrm>
          <a:prstGeom prst="rect">
            <a:avLst/>
          </a:prstGeom>
          <a:gradFill rotWithShape="1">
            <a:gsLst>
              <a:gs pos="0">
                <a:srgbClr val="8B0000"/>
              </a:gs>
              <a:gs pos="100000">
                <a:srgbClr val="8B0000"/>
              </a:gs>
            </a:gsLst>
            <a:lin scaled="0" ang="162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48927" y="3054096"/>
            <a:ext cx="2202103" cy="274320"/>
          </a:xfrm>
          <a:prstGeom prst="rect">
            <a:avLst/>
          </a:prstGeom>
          <a:noFill/>
        </p:spPr>
        <p:txBody>
          <a:bodyPr wrap="square" anchor="t" lIns="0" rIns="0" tIns="0" bIns="0">
            <a:spAutoFit/>
          </a:bodyPr>
          <a:lstStyle/>
          <a:p>
            <a:pPr algn="l">
              <a:lnSpc>
                <a:spcPct val="100000"/>
              </a:lnSpc>
              <a:spcAft>
                <a:spcPts val="0"/>
              </a:spcAft>
            </a:pPr>
            <a:r>
              <a:rPr sz="1100" b="1" i="0">
                <a:solidFill>
                  <a:srgbClr val="8B0000"/>
                </a:solidFill>
                <a:latin typeface="Century Gothic"/>
              </a:rPr>
              <a:t>Deactivate for cause</a:t>
            </a:r>
          </a:p>
        </p:txBody>
      </p:sp>
      <p:sp>
        <p:nvSpPr>
          <p:cNvPr id="37" name="TextBox 36"/>
          <p:cNvSpPr txBox="1"/>
          <p:nvPr/>
        </p:nvSpPr>
        <p:spPr>
          <a:xfrm>
            <a:off x="9248927" y="3419856"/>
            <a:ext cx="2202103" cy="502920"/>
          </a:xfrm>
          <a:prstGeom prst="rect">
            <a:avLst/>
          </a:prstGeom>
          <a:noFill/>
        </p:spPr>
        <p:txBody>
          <a:bodyPr wrap="square" anchor="t" lIns="0" rIns="0" tIns="0" bIns="0">
            <a:spAutoFit/>
          </a:bodyPr>
          <a:lstStyle/>
          <a:p>
            <a:pPr algn="l">
              <a:lnSpc>
                <a:spcPct val="122000"/>
              </a:lnSpc>
              <a:spcAft>
                <a:spcPts val="0"/>
              </a:spcAft>
            </a:pPr>
            <a:r>
              <a:rPr sz="900" b="0" i="0">
                <a:solidFill>
                  <a:srgbClr val="3A3A3A"/>
                </a:solidFill>
                <a:latin typeface="Century Gothic"/>
              </a:rPr>
              <a:t>Fraud, abuse, chargebacks. Kills the influencer's code instantly.</a:t>
            </a:r>
          </a:p>
        </p:txBody>
      </p:sp>
      <p:sp>
        <p:nvSpPr>
          <p:cNvPr id="38" name="Rounded Rectangle 37"/>
          <p:cNvSpPr/>
          <p:nvPr/>
        </p:nvSpPr>
        <p:spPr>
          <a:xfrm>
            <a:off x="566928" y="4370832"/>
            <a:ext cx="11055096" cy="932688"/>
          </a:xfrm>
          <a:prstGeom prst="roundRect">
            <a:avLst>
              <a:gd name="adj" fmla="val 10000"/>
            </a:avLst>
          </a:prstGeom>
          <a:solidFill>
            <a:srgbClr val="F7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4370832"/>
            <a:ext cx="45720" cy="932688"/>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4498848"/>
            <a:ext cx="10689336" cy="713232"/>
          </a:xfrm>
          <a:prstGeom prst="rect">
            <a:avLst/>
          </a:prstGeom>
          <a:noFill/>
        </p:spPr>
        <p:txBody>
          <a:bodyPr wrap="square" anchor="ctr" lIns="0" rIns="0" tIns="0" bIns="0">
            <a:spAutoFit/>
          </a:bodyPr>
          <a:lstStyle/>
          <a:p>
            <a:pPr algn="l">
              <a:lnSpc>
                <a:spcPct val="120000"/>
              </a:lnSpc>
              <a:spcAft>
                <a:spcPts val="0"/>
              </a:spcAft>
            </a:pPr>
            <a:r>
              <a:rPr sz="900" b="0" i="0">
                <a:solidFill>
                  <a:srgbClr val="3A3A3A"/>
                </a:solidFill>
                <a:latin typeface="Century Gothic"/>
              </a:rPr>
              <a:t>Delegated managers — Member Manager (all member accounts), Merchant Manager (merchant profiles &amp; KYC), Accountant Manager (monitors payments, issues manual payouts, records the ledger). Membership approval is automatic and never manual: a member's access is decided by verification and payment status.</a:t>
            </a:r>
          </a:p>
        </p:txBody>
      </p:sp>
      <p:pic>
        <p:nvPicPr>
          <p:cNvPr id="41" name="Picture 40" descr="footer_bar.png"/>
          <p:cNvPicPr>
            <a:picLocks noChangeAspect="1"/>
          </p:cNvPicPr>
          <p:nvPr/>
        </p:nvPicPr>
        <p:blipFill>
          <a:blip r:embed="rId4"/>
          <a:stretch>
            <a:fillRect/>
          </a:stretch>
        </p:blipFill>
        <p:spPr>
          <a:xfrm>
            <a:off x="7260336" y="5861304"/>
            <a:ext cx="4928616" cy="491032"/>
          </a:xfrm>
          <a:prstGeom prst="rect">
            <a:avLst/>
          </a:prstGeom>
        </p:spPr>
      </p:pic>
      <p:sp>
        <p:nvSpPr>
          <p:cNvPr id="42" name="TextBox 41"/>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interio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877824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007F"/>
                </a:solidFill>
                <a:latin typeface="Century Gothic"/>
              </a:rPr>
              <a:t>Phase 1 Scope</a:t>
            </a:r>
          </a:p>
        </p:txBody>
      </p:sp>
      <p:sp>
        <p:nvSpPr>
          <p:cNvPr id="4" name="TextBox 3"/>
          <p:cNvSpPr txBox="1"/>
          <p:nvPr/>
        </p:nvSpPr>
        <p:spPr>
          <a:xfrm>
            <a:off x="566928" y="859536"/>
            <a:ext cx="9509760" cy="310896"/>
          </a:xfrm>
          <a:prstGeom prst="rect">
            <a:avLst/>
          </a:prstGeom>
          <a:noFill/>
        </p:spPr>
        <p:txBody>
          <a:bodyPr wrap="square" anchor="t" lIns="0" rIns="0" tIns="0" bIns="0">
            <a:spAutoFit/>
          </a:bodyPr>
          <a:lstStyle/>
          <a:p>
            <a:pPr algn="l">
              <a:lnSpc>
                <a:spcPct val="100000"/>
              </a:lnSpc>
              <a:spcAft>
                <a:spcPts val="0"/>
              </a:spcAft>
            </a:pPr>
            <a:r>
              <a:rPr sz="1100" b="0" i="0">
                <a:solidFill>
                  <a:srgbClr val="808080"/>
                </a:solidFill>
                <a:latin typeface="Century Gothic"/>
              </a:rPr>
              <a:t>What is live, what is deferred, and what is now decided</a:t>
            </a:r>
          </a:p>
        </p:txBody>
      </p:sp>
      <p:pic>
        <p:nvPicPr>
          <p:cNvPr id="5" name="Picture 4" descr="logo_full.png"/>
          <p:cNvPicPr>
            <a:picLocks noChangeAspect="1"/>
          </p:cNvPicPr>
          <p:nvPr/>
        </p:nvPicPr>
        <p:blipFill>
          <a:blip r:embed="rId3"/>
          <a:stretch>
            <a:fillRect/>
          </a:stretch>
        </p:blipFill>
        <p:spPr>
          <a:xfrm>
            <a:off x="10655503" y="347472"/>
            <a:ext cx="969264" cy="384298"/>
          </a:xfrm>
          <a:prstGeom prst="rect">
            <a:avLst/>
          </a:prstGeom>
        </p:spPr>
      </p:pic>
      <p:sp>
        <p:nvSpPr>
          <p:cNvPr id="6" name="TextBox 5"/>
          <p:cNvSpPr txBox="1"/>
          <p:nvPr/>
        </p:nvSpPr>
        <p:spPr>
          <a:xfrm>
            <a:off x="566928" y="1481328"/>
            <a:ext cx="3520440" cy="274320"/>
          </a:xfrm>
          <a:prstGeom prst="rect">
            <a:avLst/>
          </a:prstGeom>
          <a:noFill/>
        </p:spPr>
        <p:txBody>
          <a:bodyPr wrap="square" anchor="t" lIns="0" rIns="0" tIns="0" bIns="0">
            <a:spAutoFit/>
          </a:bodyPr>
          <a:lstStyle/>
          <a:p>
            <a:pPr algn="l">
              <a:lnSpc>
                <a:spcPct val="100000"/>
              </a:lnSpc>
              <a:spcAft>
                <a:spcPts val="0"/>
              </a:spcAft>
            </a:pPr>
            <a:r>
              <a:rPr sz="1200" b="1" i="0">
                <a:solidFill>
                  <a:srgbClr val="FF007F"/>
                </a:solidFill>
                <a:latin typeface="Century Gothic"/>
              </a:rPr>
              <a:t>Live in Phase 1</a:t>
            </a:r>
          </a:p>
        </p:txBody>
      </p:sp>
      <p:sp>
        <p:nvSpPr>
          <p:cNvPr id="7" name="TextBox 6"/>
          <p:cNvSpPr txBox="1"/>
          <p:nvPr/>
        </p:nvSpPr>
        <p:spPr>
          <a:xfrm>
            <a:off x="566928" y="1883664"/>
            <a:ext cx="3520440" cy="2651760"/>
          </a:xfrm>
          <a:prstGeom prst="rect">
            <a:avLst/>
          </a:prstGeom>
          <a:noFill/>
        </p:spPr>
        <p:txBody>
          <a:bodyPr wrap="square" lIns="0" rIns="0" tIns="0" bIns="0">
            <a:spAutoFit/>
          </a:bodyPr>
          <a:lstStyle/>
          <a:p>
            <a:pPr marL="155448" indent="-155448">
              <a:lnSpc>
                <a:spcPct val="115000"/>
              </a:lnSpc>
              <a:spcAft>
                <a:spcPts val="700"/>
              </a:spcAft>
              <a:buClr>
                <a:srgbClr val="FF007F"/>
              </a:buClr>
              <a:buChar char="–"/>
            </a:pPr>
            <a:r>
              <a:rPr sz="919">
                <a:solidFill>
                  <a:srgbClr val="3A3A3A"/>
                </a:solidFill>
                <a:latin typeface="Century Gothic"/>
              </a:rPr>
              <a:t>Tier 3 membership only</a:t>
            </a:r>
          </a:p>
          <a:p>
            <a:pPr marL="155448" indent="-155448">
              <a:lnSpc>
                <a:spcPct val="115000"/>
              </a:lnSpc>
              <a:spcAft>
                <a:spcPts val="700"/>
              </a:spcAft>
              <a:buClr>
                <a:srgbClr val="FF007F"/>
              </a:buClr>
              <a:buChar char="–"/>
            </a:pPr>
            <a:r>
              <a:rPr sz="919">
                <a:solidFill>
                  <a:srgbClr val="3A3A3A"/>
                </a:solidFill>
                <a:latin typeface="Century Gothic"/>
              </a:rPr>
              <a:t>Open member signup — email, Google, Apple</a:t>
            </a:r>
          </a:p>
          <a:p>
            <a:pPr marL="155448" indent="-155448">
              <a:lnSpc>
                <a:spcPct val="115000"/>
              </a:lnSpc>
              <a:spcAft>
                <a:spcPts val="700"/>
              </a:spcAft>
              <a:buClr>
                <a:srgbClr val="FF007F"/>
              </a:buClr>
              <a:buChar char="–"/>
            </a:pPr>
            <a:r>
              <a:rPr sz="919">
                <a:solidFill>
                  <a:srgbClr val="3A3A3A"/>
                </a:solidFill>
                <a:latin typeface="Century Gothic"/>
              </a:rPr>
              <a:t>Mandatory phone OTP + email verification</a:t>
            </a:r>
          </a:p>
          <a:p>
            <a:pPr marL="155448" indent="-155448">
              <a:lnSpc>
                <a:spcPct val="115000"/>
              </a:lnSpc>
              <a:spcAft>
                <a:spcPts val="700"/>
              </a:spcAft>
              <a:buClr>
                <a:srgbClr val="FF007F"/>
              </a:buClr>
              <a:buChar char="–"/>
            </a:pPr>
            <a:r>
              <a:rPr sz="919">
                <a:solidFill>
                  <a:srgbClr val="3A3A3A"/>
                </a:solidFill>
                <a:latin typeface="Century Gothic"/>
              </a:rPr>
              <a:t>Admin-provisioned merchants &amp; influencers</a:t>
            </a:r>
          </a:p>
          <a:p>
            <a:pPr marL="155448" indent="-155448">
              <a:lnSpc>
                <a:spcPct val="115000"/>
              </a:lnSpc>
              <a:spcAft>
                <a:spcPts val="700"/>
              </a:spcAft>
              <a:buClr>
                <a:srgbClr val="FF007F"/>
              </a:buClr>
              <a:buChar char="–"/>
            </a:pPr>
            <a:r>
              <a:rPr sz="919">
                <a:solidFill>
                  <a:srgbClr val="3A3A3A"/>
                </a:solidFill>
                <a:latin typeface="Century Gothic"/>
              </a:rPr>
              <a:t>KYC files and kyc_verified on both</a:t>
            </a:r>
          </a:p>
          <a:p>
            <a:pPr marL="155448" indent="-155448">
              <a:lnSpc>
                <a:spcPct val="115000"/>
              </a:lnSpc>
              <a:spcAft>
                <a:spcPts val="700"/>
              </a:spcAft>
              <a:buClr>
                <a:srgbClr val="FF007F"/>
              </a:buClr>
              <a:buChar char="–"/>
            </a:pPr>
            <a:r>
              <a:rPr sz="919">
                <a:solidFill>
                  <a:srgbClr val="3A3A3A"/>
                </a:solidFill>
                <a:latin typeface="Century Gothic"/>
              </a:rPr>
              <a:t>Merchant marketplace storefronts</a:t>
            </a:r>
          </a:p>
          <a:p>
            <a:pPr marL="155448" indent="-155448">
              <a:lnSpc>
                <a:spcPct val="115000"/>
              </a:lnSpc>
              <a:spcAft>
                <a:spcPts val="700"/>
              </a:spcAft>
              <a:buClr>
                <a:srgbClr val="FF007F"/>
              </a:buClr>
              <a:buChar char="–"/>
            </a:pPr>
            <a:r>
              <a:rPr sz="919">
                <a:solidFill>
                  <a:srgbClr val="3A3A3A"/>
                </a:solidFill>
                <a:latin typeface="Century Gothic"/>
              </a:rPr>
              <a:t>Reusable, influencer-gated promo codes</a:t>
            </a:r>
          </a:p>
          <a:p>
            <a:pPr marL="155448" indent="-155448">
              <a:lnSpc>
                <a:spcPct val="115000"/>
              </a:lnSpc>
              <a:spcAft>
                <a:spcPts val="700"/>
              </a:spcAft>
              <a:buClr>
                <a:srgbClr val="FF007F"/>
              </a:buClr>
              <a:buChar char="–"/>
            </a:pPr>
            <a:r>
              <a:rPr sz="919">
                <a:solidFill>
                  <a:srgbClr val="3A3A3A"/>
                </a:solidFill>
                <a:latin typeface="Century Gothic"/>
              </a:rPr>
              <a:t>Admin-set discount and payout percentage</a:t>
            </a:r>
          </a:p>
          <a:p>
            <a:pPr marL="155448" indent="-155448">
              <a:lnSpc>
                <a:spcPct val="115000"/>
              </a:lnSpc>
              <a:spcAft>
                <a:spcPts val="700"/>
              </a:spcAft>
              <a:buClr>
                <a:srgbClr val="FF007F"/>
              </a:buClr>
              <a:buChar char="–"/>
            </a:pPr>
            <a:r>
              <a:rPr sz="919">
                <a:solidFill>
                  <a:srgbClr val="3A3A3A"/>
                </a:solidFill>
                <a:latin typeface="Century Gothic"/>
              </a:rPr>
              <a:t>Platform balance and append-only ledger</a:t>
            </a:r>
          </a:p>
        </p:txBody>
      </p:sp>
      <p:sp>
        <p:nvSpPr>
          <p:cNvPr id="8" name="TextBox 7"/>
          <p:cNvSpPr txBox="1"/>
          <p:nvPr/>
        </p:nvSpPr>
        <p:spPr>
          <a:xfrm>
            <a:off x="4480560" y="1481328"/>
            <a:ext cx="3520440" cy="274320"/>
          </a:xfrm>
          <a:prstGeom prst="rect">
            <a:avLst/>
          </a:prstGeom>
          <a:noFill/>
        </p:spPr>
        <p:txBody>
          <a:bodyPr wrap="square" anchor="t" lIns="0" rIns="0" tIns="0" bIns="0">
            <a:spAutoFit/>
          </a:bodyPr>
          <a:lstStyle/>
          <a:p>
            <a:pPr algn="l">
              <a:lnSpc>
                <a:spcPct val="100000"/>
              </a:lnSpc>
              <a:spcAft>
                <a:spcPts val="0"/>
              </a:spcAft>
            </a:pPr>
            <a:r>
              <a:rPr sz="1200" b="1" i="0">
                <a:solidFill>
                  <a:srgbClr val="7F00FF"/>
                </a:solidFill>
                <a:latin typeface="Century Gothic"/>
              </a:rPr>
              <a:t>Deferred</a:t>
            </a:r>
          </a:p>
        </p:txBody>
      </p:sp>
      <p:sp>
        <p:nvSpPr>
          <p:cNvPr id="9" name="TextBox 8"/>
          <p:cNvSpPr txBox="1"/>
          <p:nvPr/>
        </p:nvSpPr>
        <p:spPr>
          <a:xfrm>
            <a:off x="4480560" y="1883664"/>
            <a:ext cx="3520440" cy="2651760"/>
          </a:xfrm>
          <a:prstGeom prst="rect">
            <a:avLst/>
          </a:prstGeom>
          <a:noFill/>
        </p:spPr>
        <p:txBody>
          <a:bodyPr wrap="square" lIns="0" rIns="0" tIns="0" bIns="0">
            <a:spAutoFit/>
          </a:bodyPr>
          <a:lstStyle/>
          <a:p>
            <a:pPr marL="155448" indent="-155448">
              <a:lnSpc>
                <a:spcPct val="115000"/>
              </a:lnSpc>
              <a:spcAft>
                <a:spcPts val="700"/>
              </a:spcAft>
              <a:buClr>
                <a:srgbClr val="7F00FF"/>
              </a:buClr>
              <a:buChar char="–"/>
            </a:pPr>
            <a:r>
              <a:rPr sz="919">
                <a:solidFill>
                  <a:srgbClr val="3A3A3A"/>
                </a:solidFill>
                <a:latin typeface="Century Gothic"/>
              </a:rPr>
              <a:t>Tier 1 and Tier 2 membership</a:t>
            </a:r>
          </a:p>
          <a:p>
            <a:pPr marL="155448" indent="-155448">
              <a:lnSpc>
                <a:spcPct val="115000"/>
              </a:lnSpc>
              <a:spcAft>
                <a:spcPts val="700"/>
              </a:spcAft>
              <a:buClr>
                <a:srgbClr val="7F00FF"/>
              </a:buClr>
              <a:buChar char="–"/>
            </a:pPr>
            <a:r>
              <a:rPr sz="919">
                <a:solidFill>
                  <a:srgbClr val="3A3A3A"/>
                </a:solidFill>
                <a:latin typeface="Century Gothic"/>
              </a:rPr>
              <a:t>Merchant payments — merchants neither pay nor are paid</a:t>
            </a:r>
          </a:p>
          <a:p>
            <a:pPr marL="155448" indent="-155448">
              <a:lnSpc>
                <a:spcPct val="115000"/>
              </a:lnSpc>
              <a:spcAft>
                <a:spcPts val="700"/>
              </a:spcAft>
              <a:buClr>
                <a:srgbClr val="7F00FF"/>
              </a:buClr>
              <a:buChar char="–"/>
            </a:pPr>
            <a:r>
              <a:rPr sz="919">
                <a:solidFill>
                  <a:srgbClr val="3A3A3A"/>
                </a:solidFill>
                <a:latin typeface="Century Gothic"/>
              </a:rPr>
              <a:t>Multi-currency (Phase 1 is AED only, via Paymennt)</a:t>
            </a:r>
          </a:p>
          <a:p>
            <a:pPr marL="155448" indent="-155448">
              <a:lnSpc>
                <a:spcPct val="115000"/>
              </a:lnSpc>
              <a:spcAft>
                <a:spcPts val="700"/>
              </a:spcAft>
              <a:buClr>
                <a:srgbClr val="7F00FF"/>
              </a:buClr>
              <a:buChar char="–"/>
            </a:pPr>
            <a:r>
              <a:rPr sz="919">
                <a:solidFill>
                  <a:srgbClr val="3A3A3A"/>
                </a:solidFill>
                <a:latin typeface="Century Gothic"/>
              </a:rPr>
              <a:t>Merchant self-registration</a:t>
            </a:r>
          </a:p>
        </p:txBody>
      </p:sp>
      <p:sp>
        <p:nvSpPr>
          <p:cNvPr id="10" name="TextBox 9"/>
          <p:cNvSpPr txBox="1"/>
          <p:nvPr/>
        </p:nvSpPr>
        <p:spPr>
          <a:xfrm>
            <a:off x="8366760" y="1481328"/>
            <a:ext cx="3255264" cy="274320"/>
          </a:xfrm>
          <a:prstGeom prst="rect">
            <a:avLst/>
          </a:prstGeom>
          <a:noFill/>
        </p:spPr>
        <p:txBody>
          <a:bodyPr wrap="square" anchor="t" lIns="0" rIns="0" tIns="0" bIns="0">
            <a:spAutoFit/>
          </a:bodyPr>
          <a:lstStyle/>
          <a:p>
            <a:pPr algn="l">
              <a:lnSpc>
                <a:spcPct val="100000"/>
              </a:lnSpc>
              <a:spcAft>
                <a:spcPts val="0"/>
              </a:spcAft>
            </a:pPr>
            <a:r>
              <a:rPr sz="1200" b="1" i="0">
                <a:solidFill>
                  <a:srgbClr val="8B0000"/>
                </a:solidFill>
                <a:latin typeface="Century Gothic"/>
              </a:rPr>
              <a:t>Now decided (v4)</a:t>
            </a:r>
          </a:p>
        </p:txBody>
      </p:sp>
      <p:sp>
        <p:nvSpPr>
          <p:cNvPr id="11" name="TextBox 10"/>
          <p:cNvSpPr txBox="1"/>
          <p:nvPr/>
        </p:nvSpPr>
        <p:spPr>
          <a:xfrm>
            <a:off x="8366760" y="1883664"/>
            <a:ext cx="3255264" cy="2651760"/>
          </a:xfrm>
          <a:prstGeom prst="rect">
            <a:avLst/>
          </a:prstGeom>
          <a:noFill/>
        </p:spPr>
        <p:txBody>
          <a:bodyPr wrap="square" lIns="0" rIns="0" tIns="0" bIns="0">
            <a:spAutoFit/>
          </a:bodyPr>
          <a:lstStyle/>
          <a:p>
            <a:pPr marL="155448" indent="-155448">
              <a:lnSpc>
                <a:spcPct val="115000"/>
              </a:lnSpc>
              <a:spcAft>
                <a:spcPts val="700"/>
              </a:spcAft>
              <a:buClr>
                <a:srgbClr val="8B0000"/>
              </a:buClr>
              <a:buChar char="–"/>
            </a:pPr>
            <a:r>
              <a:rPr sz="919">
                <a:solidFill>
                  <a:srgbClr val="3A3A3A"/>
                </a:solidFill>
                <a:latin typeface="Century Gothic"/>
              </a:rPr>
              <a:t>Unattributed subscriptions still accrue a payout, visible to the Accountant.</a:t>
            </a:r>
          </a:p>
          <a:p>
            <a:pPr marL="155448" indent="-155448">
              <a:lnSpc>
                <a:spcPct val="115000"/>
              </a:lnSpc>
              <a:spcAft>
                <a:spcPts val="700"/>
              </a:spcAft>
              <a:buClr>
                <a:srgbClr val="8B0000"/>
              </a:buClr>
              <a:buChar char="–"/>
            </a:pPr>
            <a:r>
              <a:rPr sz="919">
                <a:solidFill>
                  <a:srgbClr val="3A3A3A"/>
                </a:solidFill>
                <a:latin typeface="Century Gothic"/>
              </a:rPr>
              <a:t>Discount is per-influencer, set only by the Super Admin.</a:t>
            </a:r>
          </a:p>
          <a:p>
            <a:pPr marL="155448" indent="-155448">
              <a:lnSpc>
                <a:spcPct val="115000"/>
              </a:lnSpc>
              <a:spcAft>
                <a:spcPts val="700"/>
              </a:spcAft>
              <a:buClr>
                <a:srgbClr val="8B0000"/>
              </a:buClr>
              <a:buChar char="–"/>
            </a:pPr>
            <a:r>
              <a:rPr sz="919">
                <a:solidFill>
                  <a:srgbClr val="3A3A3A"/>
                </a:solidFill>
                <a:latin typeface="Century Gothic"/>
              </a:rPr>
              <a:t>Payout % set by the Super Admin, charged on gross (AED).</a:t>
            </a:r>
          </a:p>
          <a:p>
            <a:pPr marL="155448" indent="-155448">
              <a:lnSpc>
                <a:spcPct val="115000"/>
              </a:lnSpc>
              <a:spcAft>
                <a:spcPts val="700"/>
              </a:spcAft>
              <a:buClr>
                <a:srgbClr val="8B0000"/>
              </a:buClr>
              <a:buChar char="–"/>
            </a:pPr>
            <a:r>
              <a:rPr sz="919">
                <a:solidFill>
                  <a:srgbClr val="3A3A3A"/>
                </a:solidFill>
                <a:latin typeface="Century Gothic"/>
              </a:rPr>
              <a:t>Refunds reverse a still-pending accrual; the ledger records any adjustment. All Phase-1 decisions are locked.</a:t>
            </a:r>
          </a:p>
          <a:p>
            <a:pPr marL="155448" indent="-155448">
              <a:lnSpc>
                <a:spcPct val="115000"/>
              </a:lnSpc>
              <a:spcAft>
                <a:spcPts val="700"/>
              </a:spcAft>
              <a:buClr>
                <a:srgbClr val="8B0000"/>
              </a:buClr>
              <a:buChar char="–"/>
            </a:pPr>
            <a:r>
              <a:rPr sz="919">
                <a:solidFill>
                  <a:srgbClr val="3A3A3A"/>
                </a:solidFill>
                <a:latin typeface="Century Gothic"/>
              </a:rPr>
              <a:t>Does an expired KYC document block payouts and codes?</a:t>
            </a:r>
          </a:p>
          <a:p>
            <a:pPr marL="155448" indent="-155448">
              <a:lnSpc>
                <a:spcPct val="115000"/>
              </a:lnSpc>
              <a:spcAft>
                <a:spcPts val="700"/>
              </a:spcAft>
              <a:buClr>
                <a:srgbClr val="8B0000"/>
              </a:buClr>
              <a:buChar char="–"/>
            </a:pPr>
            <a:r>
              <a:rPr sz="919">
                <a:solidFill>
                  <a:srgbClr val="3A3A3A"/>
                </a:solidFill>
                <a:latin typeface="Century Gothic"/>
              </a:rPr>
              <a:t>Is a storefront moderated before it goes live?</a:t>
            </a:r>
          </a:p>
        </p:txBody>
      </p:sp>
      <p:sp>
        <p:nvSpPr>
          <p:cNvPr id="12" name="Rectangle 11"/>
          <p:cNvSpPr/>
          <p:nvPr/>
        </p:nvSpPr>
        <p:spPr>
          <a:xfrm>
            <a:off x="566928" y="4700016"/>
            <a:ext cx="11057839" cy="9144"/>
          </a:xfrm>
          <a:prstGeom prst="rect">
            <a:avLst/>
          </a:prstGeom>
          <a:solidFill>
            <a:srgbClr val="EC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919472"/>
            <a:ext cx="2599867" cy="566928"/>
          </a:xfrm>
          <a:prstGeom prst="rect">
            <a:avLst/>
          </a:prstGeom>
          <a:noFill/>
        </p:spPr>
        <p:txBody>
          <a:bodyPr wrap="square" anchor="t" lIns="0" rIns="0" tIns="0" bIns="0">
            <a:spAutoFit/>
          </a:bodyPr>
          <a:lstStyle/>
          <a:p>
            <a:pPr algn="ctr">
              <a:lnSpc>
                <a:spcPct val="100000"/>
              </a:lnSpc>
              <a:spcAft>
                <a:spcPts val="0"/>
              </a:spcAft>
            </a:pPr>
            <a:r>
              <a:rPr sz="3400" b="1" i="0">
                <a:solidFill>
                  <a:srgbClr val="FF007F"/>
                </a:solidFill>
                <a:latin typeface="Century Gothic"/>
              </a:rPr>
              <a:t>2</a:t>
            </a:r>
          </a:p>
        </p:txBody>
      </p:sp>
      <p:sp>
        <p:nvSpPr>
          <p:cNvPr id="14" name="TextBox 13"/>
          <p:cNvSpPr txBox="1"/>
          <p:nvPr/>
        </p:nvSpPr>
        <p:spPr>
          <a:xfrm>
            <a:off x="566928" y="5541264"/>
            <a:ext cx="2599867" cy="310896"/>
          </a:xfrm>
          <a:prstGeom prst="rect">
            <a:avLst/>
          </a:prstGeom>
          <a:noFill/>
        </p:spPr>
        <p:txBody>
          <a:bodyPr wrap="square" anchor="t" lIns="0" rIns="0" tIns="0" bIns="0">
            <a:spAutoFit/>
          </a:bodyPr>
          <a:lstStyle/>
          <a:p>
            <a:pPr algn="ctr">
              <a:lnSpc>
                <a:spcPct val="100000"/>
              </a:lnSpc>
              <a:spcAft>
                <a:spcPts val="0"/>
              </a:spcAft>
            </a:pPr>
            <a:r>
              <a:rPr sz="950" b="0" i="0">
                <a:solidFill>
                  <a:srgbClr val="808080"/>
                </a:solidFill>
                <a:latin typeface="Century Gothic"/>
              </a:rPr>
              <a:t>gates before a member can avail</a:t>
            </a:r>
          </a:p>
        </p:txBody>
      </p:sp>
      <p:sp>
        <p:nvSpPr>
          <p:cNvPr id="15" name="TextBox 14"/>
          <p:cNvSpPr txBox="1"/>
          <p:nvPr/>
        </p:nvSpPr>
        <p:spPr>
          <a:xfrm>
            <a:off x="3386251" y="4919472"/>
            <a:ext cx="2599867" cy="566928"/>
          </a:xfrm>
          <a:prstGeom prst="rect">
            <a:avLst/>
          </a:prstGeom>
          <a:noFill/>
        </p:spPr>
        <p:txBody>
          <a:bodyPr wrap="square" anchor="t" lIns="0" rIns="0" tIns="0" bIns="0">
            <a:spAutoFit/>
          </a:bodyPr>
          <a:lstStyle/>
          <a:p>
            <a:pPr algn="ctr">
              <a:lnSpc>
                <a:spcPct val="100000"/>
              </a:lnSpc>
              <a:spcAft>
                <a:spcPts val="0"/>
              </a:spcAft>
            </a:pPr>
            <a:r>
              <a:rPr sz="3400" b="1" i="0">
                <a:solidFill>
                  <a:srgbClr val="FF007F"/>
                </a:solidFill>
                <a:latin typeface="Century Gothic"/>
              </a:rPr>
              <a:t>4</a:t>
            </a:r>
          </a:p>
        </p:txBody>
      </p:sp>
      <p:sp>
        <p:nvSpPr>
          <p:cNvPr id="16" name="TextBox 15"/>
          <p:cNvSpPr txBox="1"/>
          <p:nvPr/>
        </p:nvSpPr>
        <p:spPr>
          <a:xfrm>
            <a:off x="3386251" y="5541264"/>
            <a:ext cx="2599867" cy="310896"/>
          </a:xfrm>
          <a:prstGeom prst="rect">
            <a:avLst/>
          </a:prstGeom>
          <a:noFill/>
        </p:spPr>
        <p:txBody>
          <a:bodyPr wrap="square" anchor="t" lIns="0" rIns="0" tIns="0" bIns="0">
            <a:spAutoFit/>
          </a:bodyPr>
          <a:lstStyle/>
          <a:p>
            <a:pPr algn="ctr">
              <a:lnSpc>
                <a:spcPct val="100000"/>
              </a:lnSpc>
              <a:spcAft>
                <a:spcPts val="0"/>
              </a:spcAft>
            </a:pPr>
            <a:r>
              <a:rPr sz="950" b="0" i="0">
                <a:solidFill>
                  <a:srgbClr val="808080"/>
                </a:solidFill>
                <a:latin typeface="Century Gothic"/>
              </a:rPr>
              <a:t>gates keeping a code alive</a:t>
            </a:r>
          </a:p>
        </p:txBody>
      </p:sp>
      <p:sp>
        <p:nvSpPr>
          <p:cNvPr id="17" name="TextBox 16"/>
          <p:cNvSpPr txBox="1"/>
          <p:nvPr/>
        </p:nvSpPr>
        <p:spPr>
          <a:xfrm>
            <a:off x="6205575" y="4919472"/>
            <a:ext cx="2599867" cy="566928"/>
          </a:xfrm>
          <a:prstGeom prst="rect">
            <a:avLst/>
          </a:prstGeom>
          <a:noFill/>
        </p:spPr>
        <p:txBody>
          <a:bodyPr wrap="square" anchor="t" lIns="0" rIns="0" tIns="0" bIns="0">
            <a:spAutoFit/>
          </a:bodyPr>
          <a:lstStyle/>
          <a:p>
            <a:pPr algn="ctr">
              <a:lnSpc>
                <a:spcPct val="100000"/>
              </a:lnSpc>
              <a:spcAft>
                <a:spcPts val="0"/>
              </a:spcAft>
            </a:pPr>
            <a:r>
              <a:rPr sz="3400" b="1" i="0">
                <a:solidFill>
                  <a:srgbClr val="FF007F"/>
                </a:solidFill>
                <a:latin typeface="Century Gothic"/>
              </a:rPr>
              <a:t>1</a:t>
            </a:r>
          </a:p>
        </p:txBody>
      </p:sp>
      <p:sp>
        <p:nvSpPr>
          <p:cNvPr id="18" name="TextBox 17"/>
          <p:cNvSpPr txBox="1"/>
          <p:nvPr/>
        </p:nvSpPr>
        <p:spPr>
          <a:xfrm>
            <a:off x="6205575" y="5541264"/>
            <a:ext cx="2599867" cy="310896"/>
          </a:xfrm>
          <a:prstGeom prst="rect">
            <a:avLst/>
          </a:prstGeom>
          <a:noFill/>
        </p:spPr>
        <p:txBody>
          <a:bodyPr wrap="square" anchor="t" lIns="0" rIns="0" tIns="0" bIns="0">
            <a:spAutoFit/>
          </a:bodyPr>
          <a:lstStyle/>
          <a:p>
            <a:pPr algn="ctr">
              <a:lnSpc>
                <a:spcPct val="100000"/>
              </a:lnSpc>
              <a:spcAft>
                <a:spcPts val="0"/>
              </a:spcAft>
            </a:pPr>
            <a:r>
              <a:rPr sz="950" b="0" i="0">
                <a:solidFill>
                  <a:srgbClr val="808080"/>
                </a:solidFill>
                <a:latin typeface="Century Gothic"/>
              </a:rPr>
              <a:t>mandatory phone check</a:t>
            </a:r>
          </a:p>
        </p:txBody>
      </p:sp>
      <p:sp>
        <p:nvSpPr>
          <p:cNvPr id="19" name="TextBox 18"/>
          <p:cNvSpPr txBox="1"/>
          <p:nvPr/>
        </p:nvSpPr>
        <p:spPr>
          <a:xfrm>
            <a:off x="9024899" y="4919472"/>
            <a:ext cx="2599867" cy="566928"/>
          </a:xfrm>
          <a:prstGeom prst="rect">
            <a:avLst/>
          </a:prstGeom>
          <a:noFill/>
        </p:spPr>
        <p:txBody>
          <a:bodyPr wrap="square" anchor="t" lIns="0" rIns="0" tIns="0" bIns="0">
            <a:spAutoFit/>
          </a:bodyPr>
          <a:lstStyle/>
          <a:p>
            <a:pPr algn="ctr">
              <a:lnSpc>
                <a:spcPct val="100000"/>
              </a:lnSpc>
              <a:spcAft>
                <a:spcPts val="0"/>
              </a:spcAft>
            </a:pPr>
            <a:r>
              <a:rPr sz="3400" b="1" i="0">
                <a:solidFill>
                  <a:srgbClr val="FF007F"/>
                </a:solidFill>
                <a:latin typeface="Century Gothic"/>
              </a:rPr>
              <a:t>2</a:t>
            </a:r>
          </a:p>
        </p:txBody>
      </p:sp>
      <p:sp>
        <p:nvSpPr>
          <p:cNvPr id="20" name="TextBox 19"/>
          <p:cNvSpPr txBox="1"/>
          <p:nvPr/>
        </p:nvSpPr>
        <p:spPr>
          <a:xfrm>
            <a:off x="9024899" y="5541264"/>
            <a:ext cx="2599867" cy="310896"/>
          </a:xfrm>
          <a:prstGeom prst="rect">
            <a:avLst/>
          </a:prstGeom>
          <a:noFill/>
        </p:spPr>
        <p:txBody>
          <a:bodyPr wrap="square" anchor="t" lIns="0" rIns="0" tIns="0" bIns="0">
            <a:spAutoFit/>
          </a:bodyPr>
          <a:lstStyle/>
          <a:p>
            <a:pPr algn="ctr">
              <a:lnSpc>
                <a:spcPct val="100000"/>
              </a:lnSpc>
              <a:spcAft>
                <a:spcPts val="0"/>
              </a:spcAft>
            </a:pPr>
            <a:r>
              <a:rPr sz="950" b="0" i="0">
                <a:solidFill>
                  <a:srgbClr val="808080"/>
                </a:solidFill>
                <a:latin typeface="Century Gothic"/>
              </a:rPr>
              <a:t>dials only the Super Admin turns</a:t>
            </a:r>
          </a:p>
        </p:txBody>
      </p:sp>
      <p:pic>
        <p:nvPicPr>
          <p:cNvPr id="21" name="Picture 20" descr="footer_bar.png"/>
          <p:cNvPicPr>
            <a:picLocks noChangeAspect="1"/>
          </p:cNvPicPr>
          <p:nvPr/>
        </p:nvPicPr>
        <p:blipFill>
          <a:blip r:embed="rId4"/>
          <a:stretch>
            <a:fillRect/>
          </a:stretch>
        </p:blipFill>
        <p:spPr>
          <a:xfrm>
            <a:off x="7260336" y="5861304"/>
            <a:ext cx="4928616" cy="491032"/>
          </a:xfrm>
          <a:prstGeom prst="rect">
            <a:avLst/>
          </a:prstGeom>
        </p:spPr>
      </p:pic>
      <p:sp>
        <p:nvSpPr>
          <p:cNvPr id="22" name="TextBox 21"/>
          <p:cNvSpPr txBox="1"/>
          <p:nvPr/>
        </p:nvSpPr>
        <p:spPr>
          <a:xfrm>
            <a:off x="8595360" y="5989320"/>
            <a:ext cx="3200400" cy="274320"/>
          </a:xfrm>
          <a:prstGeom prst="rect">
            <a:avLst/>
          </a:prstGeom>
          <a:noFill/>
        </p:spPr>
        <p:txBody>
          <a:bodyPr wrap="square" anchor="t" lIns="0" rIns="0" tIns="0" bIns="0">
            <a:spAutoFit/>
          </a:bodyPr>
          <a:lstStyle/>
          <a:p>
            <a:pPr algn="r">
              <a:lnSpc>
                <a:spcPct val="100000"/>
              </a:lnSpc>
              <a:spcAft>
                <a:spcPts val="0"/>
              </a:spcAft>
            </a:pPr>
            <a:r>
              <a:rPr sz="1100" b="0" i="0">
                <a:solidFill>
                  <a:srgbClr val="FFFFFF"/>
                </a:solidFill>
                <a:latin typeface="Century Gothic"/>
              </a:rPr>
              <a:t>Savr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a.png"/>
          <p:cNvPicPr>
            <a:picLocks noChangeAspect="1"/>
          </p:cNvPicPr>
          <p:nvPr/>
        </p:nvPicPr>
        <p:blipFill>
          <a:blip r:embed="rId3"/>
          <a:stretch>
            <a:fillRect/>
          </a:stretch>
        </p:blipFill>
        <p:spPr>
          <a:xfrm>
            <a:off x="4315968" y="2212848"/>
            <a:ext cx="3566160" cy="1415668"/>
          </a:xfrm>
          <a:prstGeom prst="rect">
            <a:avLst/>
          </a:prstGeom>
        </p:spPr>
      </p:pic>
      <p:sp>
        <p:nvSpPr>
          <p:cNvPr id="4" name="TextBox 3"/>
          <p:cNvSpPr txBox="1"/>
          <p:nvPr/>
        </p:nvSpPr>
        <p:spPr>
          <a:xfrm>
            <a:off x="0" y="3931920"/>
            <a:ext cx="12191695" cy="640080"/>
          </a:xfrm>
          <a:prstGeom prst="rect">
            <a:avLst/>
          </a:prstGeom>
          <a:noFill/>
        </p:spPr>
        <p:txBody>
          <a:bodyPr wrap="square" anchor="t" lIns="0" rIns="0" tIns="0" bIns="0">
            <a:spAutoFit/>
          </a:bodyPr>
          <a:lstStyle/>
          <a:p>
            <a:pPr algn="ctr">
              <a:lnSpc>
                <a:spcPct val="100000"/>
              </a:lnSpc>
              <a:spcAft>
                <a:spcPts val="0"/>
              </a:spcAft>
            </a:pPr>
            <a:r>
              <a:rPr sz="4000" b="1" i="0">
                <a:solidFill>
                  <a:srgbClr val="FFFFFF"/>
                </a:solidFill>
                <a:latin typeface="Century Gothic"/>
              </a:rPr>
              <a:t>Thank You</a:t>
            </a:r>
          </a:p>
        </p:txBody>
      </p:sp>
      <p:sp>
        <p:nvSpPr>
          <p:cNvPr id="5" name="TextBox 4"/>
          <p:cNvSpPr txBox="1"/>
          <p:nvPr/>
        </p:nvSpPr>
        <p:spPr>
          <a:xfrm>
            <a:off x="0" y="4590288"/>
            <a:ext cx="12191695" cy="310896"/>
          </a:xfrm>
          <a:prstGeom prst="rect">
            <a:avLst/>
          </a:prstGeom>
          <a:noFill/>
        </p:spPr>
        <p:txBody>
          <a:bodyPr wrap="square" anchor="t" lIns="0" rIns="0" tIns="0" bIns="0">
            <a:spAutoFit/>
          </a:bodyPr>
          <a:lstStyle/>
          <a:p>
            <a:pPr algn="ctr">
              <a:lnSpc>
                <a:spcPct val="100000"/>
              </a:lnSpc>
              <a:spcAft>
                <a:spcPts val="0"/>
              </a:spcAft>
            </a:pPr>
            <a:r>
              <a:rPr sz="1300" b="0" i="0">
                <a:solidFill>
                  <a:srgbClr val="F3DDF2"/>
                </a:solidFill>
                <a:latin typeface="Century Gothic"/>
              </a:rPr>
              <a:t>Deals with a Twist</a:t>
            </a:r>
          </a:p>
        </p:txBody>
      </p:sp>
      <p:sp>
        <p:nvSpPr>
          <p:cNvPr id="6" name="Rectangle 5"/>
          <p:cNvSpPr/>
          <p:nvPr/>
        </p:nvSpPr>
        <p:spPr>
          <a:xfrm>
            <a:off x="5455767" y="5084064"/>
            <a:ext cx="1280160" cy="1463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5358384"/>
            <a:ext cx="12191695" cy="292608"/>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Century Gothic"/>
              </a:rPr>
              <a:t>support@mysavr.com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