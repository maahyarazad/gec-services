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2103120"/>
            <a:ext cx="4114800" cy="16314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41648" y="3858768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A3A3A"/>
                </a:solidFill>
                <a:latin typeface="Century Gothic"/>
              </a:rPr>
              <a:t>Deals with a Twist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7" y="5358384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3A3A3A"/>
                </a:solidFill>
                <a:latin typeface="Century Gothic"/>
              </a:rPr>
              <a:t>Entity Description &amp; Database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5852160"/>
            <a:ext cx="2103120" cy="1463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59984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08080"/>
                </a:solidFill>
                <a:latin typeface="Century Gothic"/>
              </a:rPr>
              <a:t>36 entities  ·  8 domains  ·  Data model, relationships and constraints  ·  Phase 1  ·  v4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The schema, domain by domain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44475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44475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Schema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1768" y="144475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7335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74193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74193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Domain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174193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7053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03911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03911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Notation &amp; Conventions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203911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6771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33629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33629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Identity, Roles &amp;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233629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6489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63347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263347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User — the core 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1768" y="263347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07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86207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93065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293065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User Satellites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01768" y="293065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08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15925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22783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322783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Auth, Phone OTP &amp; KYC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01768" y="322783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09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45643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52501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352501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Activity, Roles &amp; Permissions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01768" y="352501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75361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3822191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" y="3822191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Merchant &amp; Influencer Profiles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1768" y="3822191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050791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411937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411937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Catalogue &amp; Commerce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01768" y="411937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34797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441655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" y="441655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Merchant Storefront &amp; Media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1768" y="441655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64515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471373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" y="471373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Category &amp; Product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1768" y="471373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14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94233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501091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" y="501091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Offer &amp; Meta Detail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01768" y="501091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15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523951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530809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" y="530809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Subscriptions &amp; Membership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01768" y="530809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16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553669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560527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7552" y="560527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Growth &amp; Engagement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01768" y="560527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17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583387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90488" y="144475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16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11112" y="144475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Promo Code &amp; Redemption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25328" y="144475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18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90488" y="167335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90488" y="174193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17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11112" y="174193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PromoDiscount — per-influencer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25328" y="174193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19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90488" y="197053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90488" y="203911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18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11112" y="203911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Influencer Compensation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625328" y="203911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20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90488" y="226771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90488" y="233629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19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11112" y="233629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Redemptions &amp; Stamp Cards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25328" y="233629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21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90488" y="256489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90488" y="263347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11112" y="263347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Notifications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25328" y="263347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22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90488" y="286207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90488" y="293065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21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11112" y="293065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Money &amp; Integrity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25328" y="293065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23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90488" y="315925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90488" y="322783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22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11112" y="322783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Payment &amp; Payout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25328" y="322783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24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90488" y="345643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90488" y="352501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23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11112" y="352501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PayoutRate — the percentage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25328" y="352501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25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90488" y="375361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90488" y="3822191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24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11112" y="3822191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Platform Account &amp; Ledger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625328" y="3822191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26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190488" y="4050791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90488" y="411937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25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11112" y="411937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Relationships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625328" y="411937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27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90488" y="434797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90488" y="441655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26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11112" y="441655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Junctions &amp; Audit FKs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625328" y="441655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28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190488" y="464515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90488" y="471373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27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11112" y="471373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Entity Relationship Diagram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625328" y="471373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29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190488" y="494233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190488" y="501091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28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11112" y="501091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Enum Catalogue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625328" y="501091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30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90488" y="523951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190488" y="530809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entury Gothic"/>
              </a:rPr>
              <a:t>29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11112" y="530809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Schema Decisions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625328" y="530809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31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190488" y="5536692"/>
            <a:ext cx="4937760" cy="640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2" name="Picture 121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Schema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Eight domains, thirty-six entities, one append-only money trail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44752"/>
            <a:ext cx="2036003" cy="1024128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203600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007F"/>
                </a:solidFill>
                <a:latin typeface="Century Gothic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21408"/>
            <a:ext cx="20360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08080"/>
                </a:solidFill>
                <a:latin typeface="Century Gothic"/>
              </a:rPr>
              <a:t>entities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22387" y="1444752"/>
            <a:ext cx="2036003" cy="1024128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2387" y="1572768"/>
            <a:ext cx="203600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007F"/>
                </a:solidFill>
                <a:latin typeface="Century Gothic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2387" y="2121408"/>
            <a:ext cx="20360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08080"/>
                </a:solidFill>
                <a:latin typeface="Century Gothic"/>
              </a:rPr>
              <a:t>domains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7846" y="1444752"/>
            <a:ext cx="2036003" cy="1024128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7846" y="1572768"/>
            <a:ext cx="203600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007F"/>
                </a:solidFill>
                <a:latin typeface="Century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7846" y="2121408"/>
            <a:ext cx="20360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08080"/>
                </a:solidFill>
                <a:latin typeface="Century Gothic"/>
              </a:rPr>
              <a:t>junction tables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33305" y="1444752"/>
            <a:ext cx="2036003" cy="1024128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305" y="1572768"/>
            <a:ext cx="203600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007F"/>
                </a:solidFill>
                <a:latin typeface="Century Gothic"/>
              </a:rPr>
              <a:t>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305" y="2121408"/>
            <a:ext cx="20360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08080"/>
                </a:solidFill>
                <a:latin typeface="Century Gothic"/>
              </a:rPr>
              <a:t>enums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8764" y="1444752"/>
            <a:ext cx="2036003" cy="1024128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8764" y="1572768"/>
            <a:ext cx="203600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007F"/>
                </a:solidFill>
                <a:latin typeface="Century Gothic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8764" y="2121408"/>
            <a:ext cx="20360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08080"/>
                </a:solidFill>
                <a:latin typeface="Century Gothic"/>
              </a:rPr>
              <a:t>append-only ledger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761488"/>
            <a:ext cx="2599867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2761488"/>
            <a:ext cx="50292" cy="175564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2962656"/>
            <a:ext cx="21883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007F"/>
                </a:solidFill>
                <a:latin typeface="Century Gothic"/>
              </a:rPr>
              <a:t>User is the 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328416"/>
            <a:ext cx="218838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Every actor — from Super Admin to member — is one User row. Role is attached through a junction, not a column.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6251" y="2761488"/>
            <a:ext cx="2599867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6251" y="2761488"/>
            <a:ext cx="50292" cy="1755648"/>
          </a:xfrm>
          <a:prstGeom prst="rect">
            <a:avLst/>
          </a:prstGeom>
          <a:solidFill>
            <a:srgbClr val="7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5707" y="2962656"/>
            <a:ext cx="21883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F00FF"/>
                </a:solidFill>
                <a:latin typeface="Century Gothic"/>
              </a:rPr>
              <a:t>Product is just an offer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5707" y="3328416"/>
            <a:ext cx="218838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Events are removed, so product_type is gone. Every Product is an offer, extended 1:1 by OfferDetail.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5575" y="2761488"/>
            <a:ext cx="2599867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5575" y="2761488"/>
            <a:ext cx="50292" cy="1755648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5031" y="2962656"/>
            <a:ext cx="21883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B0082"/>
                </a:solidFill>
                <a:latin typeface="Century Gothic"/>
              </a:rPr>
              <a:t>Money is append-only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5031" y="3328416"/>
            <a:ext cx="218838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LedgerEntry is the source of truth. Every row stores balance_after, giving a complete running audit trail.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24899" y="2761488"/>
            <a:ext cx="2599867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24899" y="2761488"/>
            <a:ext cx="50292" cy="17556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44355" y="2962656"/>
            <a:ext cx="21883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B0000"/>
                </a:solidFill>
                <a:latin typeface="Century Gothic"/>
              </a:rPr>
              <a:t>Rates are versioned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4355" y="3328416"/>
            <a:ext cx="218838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PayoutRate is never overwritten. Each accrual freezes the percentage it was priced at, so history is never re-priced.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828032"/>
            <a:ext cx="11055096" cy="804672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828032"/>
            <a:ext cx="45720" cy="804672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4937760"/>
            <a:ext cx="1068933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Design intent: one User table for every actor, one Product table for every sellable thing, and one Ledger for every movement of money. Everything else hangs off those three.</a:t>
            </a:r>
          </a:p>
        </p:txBody>
      </p:sp>
      <p:pic>
        <p:nvPicPr>
          <p:cNvPr id="40" name="Picture 39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Domain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All 36 entities, grouped by the domain they belong to  ·  new in v3 marked +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371600"/>
            <a:ext cx="2613583" cy="329184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Century Gothic"/>
              </a:rPr>
              <a:t>Identity &amp; Users  (11)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70531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UserContact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67128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UserSocialMedia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63724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UserDevice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60320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UserMedia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56915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UserActivityLog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53512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MerchantProfile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50108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InfluencerProfile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346704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7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1">
                <a:solidFill>
                  <a:srgbClr val="FF007F"/>
                </a:solidFill>
                <a:latin typeface="Consolas"/>
              </a:rPr>
              <a:t>+ UserAuthIdentity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43300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7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1">
                <a:solidFill>
                  <a:srgbClr val="FF007F"/>
                </a:solidFill>
                <a:latin typeface="Consolas"/>
              </a:rPr>
              <a:t>+ PhoneVerification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39896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7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1">
                <a:solidFill>
                  <a:srgbClr val="FF007F"/>
                </a:solidFill>
                <a:latin typeface="Consolas"/>
              </a:rPr>
              <a:t>+ KycDocument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1679" y="1371600"/>
            <a:ext cx="2613583" cy="329184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F00FF"/>
              </a:gs>
              <a:gs pos="100000">
                <a:srgbClr val="4B008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Century Gothic"/>
              </a:rPr>
              <a:t>Roles &amp; Permissions  (2)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1679" y="1773936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Role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1679" y="1970531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UserRole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6431" y="1371600"/>
            <a:ext cx="2613583" cy="329184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B0082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Century Gothic"/>
              </a:rPr>
              <a:t>Marketplace &amp; Products  (6)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6431" y="1773936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Category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6431" y="1970531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Product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6431" y="2167128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OfferDetail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6431" y="2363724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ProductMeta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6431" y="2560320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7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1">
                <a:solidFill>
                  <a:srgbClr val="FF007F"/>
                </a:solidFill>
                <a:latin typeface="Consolas"/>
              </a:rPr>
              <a:t>+ MerchantStorefront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6431" y="2756915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7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1">
                <a:solidFill>
                  <a:srgbClr val="FF007F"/>
                </a:solidFill>
                <a:latin typeface="Consolas"/>
              </a:rPr>
              <a:t>+ StorefrontMedia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11183" y="1371600"/>
            <a:ext cx="2613583" cy="329184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8B0000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Century Gothic"/>
              </a:rPr>
              <a:t>Subscriptions  (3)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11183" y="1773936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SubscriptionPlan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11183" y="1970531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Subscription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11183" y="2167128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MembershipPass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041648"/>
            <a:ext cx="2613583" cy="329184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Century Gothic"/>
              </a:rPr>
              <a:t>Influencer &amp; Promo  (4)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443984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7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1">
                <a:solidFill>
                  <a:srgbClr val="FF007F"/>
                </a:solidFill>
                <a:latin typeface="Consolas"/>
              </a:rPr>
              <a:t>+ PromoCode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640580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7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1">
                <a:solidFill>
                  <a:srgbClr val="FF007F"/>
                </a:solidFill>
                <a:latin typeface="Consolas"/>
              </a:rPr>
              <a:t>+ PromoCodeRedemption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837176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7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1">
                <a:solidFill>
                  <a:srgbClr val="FF007F"/>
                </a:solidFill>
                <a:latin typeface="Consolas"/>
              </a:rPr>
              <a:t>+ PromoDiscount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033772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InfluencerCompensation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1679" y="4041648"/>
            <a:ext cx="2613583" cy="329184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F00FF"/>
              </a:gs>
              <a:gs pos="100000">
                <a:srgbClr val="4B008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Century Gothic"/>
              </a:rPr>
              <a:t>Redemptions  (2)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81679" y="4443984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RedeemedOffer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1679" y="4640580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OfferStampCard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6431" y="4041648"/>
            <a:ext cx="2613583" cy="329184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B0082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Century Gothic"/>
              </a:rPr>
              <a:t>Notifications  (3)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6431" y="4443984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Notification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6431" y="4640580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NotificationRecipient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6431" y="4837176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PushNotificationLog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11183" y="4041648"/>
            <a:ext cx="2613583" cy="329184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8B0000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Century Gothic"/>
              </a:rPr>
              <a:t>Financial  (5)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11183" y="4443984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Payment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11183" y="4640580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Payout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11183" y="4837176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PlatformAccount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11183" y="5033772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LedgerEntry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11183" y="5230368"/>
            <a:ext cx="2613583" cy="173736"/>
          </a:xfrm>
          <a:prstGeom prst="roundRect">
            <a:avLst>
              <a:gd name="adj" fmla="val 18000"/>
            </a:avLst>
          </a:prstGeom>
          <a:solidFill>
            <a:srgbClr val="F7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/>
          <a:lstStyle/>
          <a:p>
            <a:pPr algn="ctr"/>
            <a:r>
              <a:rPr sz="760" b="1">
                <a:solidFill>
                  <a:srgbClr val="FF007F"/>
                </a:solidFill>
                <a:latin typeface="Consolas"/>
              </a:rPr>
              <a:t>+ PayoutRate</a:t>
            </a:r>
          </a:p>
        </p:txBody>
      </p:sp>
      <p:pic>
        <p:nvPicPr>
          <p:cNvPr id="50" name="Picture 49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Notation &amp; Conventions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How to read every table in this deck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44752"/>
            <a:ext cx="2599867" cy="12252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50292" cy="1225296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27632"/>
            <a:ext cx="21883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007F"/>
                </a:solidFill>
                <a:latin typeface="Consolas"/>
              </a:rPr>
              <a:t>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75104"/>
            <a:ext cx="21883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Primary key. Every entity uses a UUID primary key named 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6251" y="1444752"/>
            <a:ext cx="2599867" cy="12252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6251" y="1444752"/>
            <a:ext cx="50292" cy="1225296"/>
          </a:xfrm>
          <a:prstGeom prst="rect">
            <a:avLst/>
          </a:prstGeom>
          <a:solidFill>
            <a:srgbClr val="7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5707" y="1627632"/>
            <a:ext cx="21883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F00FF"/>
                </a:solidFill>
                <a:latin typeface="Consolas"/>
              </a:rPr>
              <a:t>FK→Entity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5707" y="1975104"/>
            <a:ext cx="21883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Foreign key pointing at the named entity.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575" y="1444752"/>
            <a:ext cx="2599867" cy="12252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5575" y="1444752"/>
            <a:ext cx="50292" cy="1225296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5031" y="1627632"/>
            <a:ext cx="21883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B0082"/>
                </a:solidFill>
                <a:latin typeface="Consolas"/>
              </a:rPr>
              <a:t>nullable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5031" y="1975104"/>
            <a:ext cx="21883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The column accepts NULL. Anything not marked nullable is required.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4899" y="1444752"/>
            <a:ext cx="2599867" cy="12252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4899" y="1444752"/>
            <a:ext cx="50292" cy="1225296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4355" y="1627632"/>
            <a:ext cx="21883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B0000"/>
                </a:solidFill>
                <a:latin typeface="Consolas"/>
              </a:rPr>
              <a:t>unique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355" y="1975104"/>
            <a:ext cx="21883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A uniqueness constraint is enforced on the column.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8712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007F"/>
                </a:solidFill>
                <a:latin typeface="Century Gothic"/>
              </a:rPr>
              <a:t>Data types in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27355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F00FF"/>
                </a:solidFill>
                <a:latin typeface="Consolas"/>
              </a:rPr>
              <a:t>UUID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5648" y="3273552"/>
            <a:ext cx="4297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Primary and foreign keys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54787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F00FF"/>
                </a:solidFill>
                <a:latin typeface="Consolas"/>
              </a:rPr>
              <a:t>string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3547872"/>
            <a:ext cx="4297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Short bounded 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822191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F00FF"/>
                </a:solidFill>
                <a:latin typeface="Consolas"/>
              </a:rPr>
              <a:t>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" y="3822191"/>
            <a:ext cx="4297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Long-form 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096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F00FF"/>
                </a:solidFill>
                <a:latin typeface="Consolas"/>
              </a:rPr>
              <a:t>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4096512"/>
            <a:ext cx="4297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Whole numbers — counts, stamps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37083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F00FF"/>
                </a:solidFill>
                <a:latin typeface="Consolas"/>
              </a:rPr>
              <a:t>decimal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5648" y="4370832"/>
            <a:ext cx="4297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Money and coordinates — never float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64515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F00FF"/>
                </a:solidFill>
                <a:latin typeface="Consolas"/>
              </a:rPr>
              <a:t>bool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4645152"/>
            <a:ext cx="4297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True/false flags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91947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F00FF"/>
                </a:solidFill>
                <a:latin typeface="Consolas"/>
              </a:rPr>
              <a:t>timestamp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55648" y="4919472"/>
            <a:ext cx="4297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UTC date-time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19379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F00FF"/>
                </a:solidFill>
                <a:latin typeface="Consolas"/>
              </a:rPr>
              <a:t>enum(...)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55648" y="5193792"/>
            <a:ext cx="4297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Closed set of values — see the Enum Catalogue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4681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F00FF"/>
                </a:solidFill>
                <a:latin typeface="Consolas"/>
              </a:rPr>
              <a:t>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55648" y="5468112"/>
            <a:ext cx="4297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Semi-structured payloads — features, metadata, gateway responses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287121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007F"/>
                </a:solidFill>
                <a:latin typeface="Century Gothic"/>
              </a:rPr>
              <a:t>Conventions applied throughout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273552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FF007F"/>
              </a:buClr>
              <a:buChar char="–"/>
            </a:pPr>
            <a:r>
              <a:rPr sz="919">
                <a:solidFill>
                  <a:srgbClr val="3A3A3A"/>
                </a:solidFill>
                <a:latin typeface="Century Gothic"/>
              </a:rPr>
              <a:t>Every entity has a UUID id primary key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FF007F"/>
              </a:buClr>
              <a:buChar char="–"/>
            </a:pPr>
            <a:r>
              <a:rPr sz="919">
                <a:solidFill>
                  <a:srgbClr val="3A3A3A"/>
                </a:solidFill>
                <a:latin typeface="Century Gothic"/>
              </a:rPr>
              <a:t>created_at / updated_at on all mutable entities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FF007F"/>
              </a:buClr>
              <a:buChar char="–"/>
            </a:pPr>
            <a:r>
              <a:rPr sz="919">
                <a:solidFill>
                  <a:srgbClr val="3A3A3A"/>
                </a:solidFill>
                <a:latin typeface="Century Gothic"/>
              </a:rPr>
              <a:t>Polymorphic links use a source_type + source_id pair rather than many nullable FKs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FF007F"/>
              </a:buClr>
              <a:buChar char="–"/>
            </a:pPr>
            <a:r>
              <a:rPr sz="919">
                <a:solidFill>
                  <a:srgbClr val="3A3A3A"/>
                </a:solidFill>
                <a:latin typeface="Century Gothic"/>
              </a:rPr>
              <a:t>Approval and audit columns (approved_by, verified_by) always point at a User with role = admin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FF007F"/>
              </a:buClr>
              <a:buChar char="–"/>
            </a:pPr>
            <a:r>
              <a:rPr sz="919">
                <a:solidFill>
                  <a:srgbClr val="3A3A3A"/>
                </a:solidFill>
                <a:latin typeface="Century Gothic"/>
              </a:rPr>
              <a:t>Denormalised columns exist only where reporting demands them — e.g. RedeemedOffer.merchant_id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FF007F"/>
              </a:buClr>
              <a:buChar char="–"/>
            </a:pPr>
            <a:r>
              <a:rPr sz="919">
                <a:solidFill>
                  <a:srgbClr val="3A3A3A"/>
                </a:solidFill>
                <a:latin typeface="Century Gothic"/>
              </a:rPr>
              <a:t>Money is decimal with an explicit ISO-4217 currency; never float</a:t>
            </a:r>
          </a:p>
        </p:txBody>
      </p:sp>
      <p:pic>
        <p:nvPicPr>
          <p:cNvPr id="43" name="Picture 42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47" y="457200"/>
            <a:ext cx="1188720" cy="4718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6968" y="2212848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Century Gothi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3310128"/>
            <a:ext cx="960120" cy="411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35844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0">
                <a:solidFill>
                  <a:srgbClr val="FFFFFF"/>
                </a:solidFill>
                <a:latin typeface="Century Gothic"/>
              </a:rPr>
              <a:t>Identity, Roles &amp;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15968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0DCEE"/>
                </a:solidFill>
                <a:latin typeface="Century Gothic"/>
              </a:rPr>
              <a:t>One User table for every actor — role is attached, not baked in</a:t>
            </a:r>
          </a:p>
        </p:txBody>
      </p:sp>
      <p:pic>
        <p:nvPicPr>
          <p:cNvPr id="8" name="Picture 7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User — the Core 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Every admin, merchant, influencer and member is a row in this one table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26464"/>
            <a:ext cx="557784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User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identity core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5577839" cy="2809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6465"/>
                <a:gridCol w="1115568"/>
                <a:gridCol w="2565806"/>
              </a:tblGrid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007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email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unique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email_verified_at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auto-set for Google/Apple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phone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unique, E.164 — nullable until collected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phone_verified_at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MANDATORY for Gate 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password_hash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null for social-only accounts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auth_provider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NEW — email, google, apple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provider_user_id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NEW — nullable, Google/Apple sub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first_name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last_name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pending_verification, active, suspended, deactivated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created_by_admin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bool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NEW — true for merchants &amp; influencers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created_by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NEW — nullable, FK→User (staff)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updated_at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142646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007F"/>
                </a:solidFill>
                <a:latin typeface="Century Gothic"/>
              </a:rPr>
              <a:t>Why one table for every 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FF007F"/>
              </a:buClr>
              <a:buChar char="–"/>
            </a:pPr>
            <a:r>
              <a:rPr sz="919">
                <a:solidFill>
                  <a:srgbClr val="3A3A3A"/>
                </a:solidFill>
                <a:latin typeface="Century Gothic"/>
              </a:rPr>
              <a:t>Authentication, verification and contact details are identical for all roles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FF007F"/>
              </a:buClr>
              <a:buChar char="–"/>
            </a:pPr>
            <a:r>
              <a:rPr sz="919">
                <a:solidFill>
                  <a:srgbClr val="3A3A3A"/>
                </a:solidFill>
                <a:latin typeface="Century Gothic"/>
              </a:rPr>
              <a:t>Role is attached through the UserRole junction, so a user can gain or lose a role without a data migration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FF007F"/>
              </a:buClr>
              <a:buChar char="–"/>
            </a:pPr>
            <a:r>
              <a:rPr sz="919">
                <a:solidFill>
                  <a:srgbClr val="3A3A3A"/>
                </a:solidFill>
                <a:latin typeface="Century Gothic"/>
              </a:rPr>
              <a:t>Merchant- and influencer-specific fields live in their own 1:1 profile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310128"/>
            <a:ext cx="5120640" cy="118872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3310128"/>
            <a:ext cx="45720" cy="11887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7" y="3419856"/>
            <a:ext cx="475487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GATE 1 INVARIANT — a user may enter the app only when phone_verified_at IS NOT NULL AND email_verified_at IS NOT NULL. Social sign-in sets email_verified_at but NEVER phone_verified_at: the OTP step is always required.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62686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F00FF"/>
                </a:solidFill>
                <a:latin typeface="Century Gothic"/>
              </a:rPr>
              <a:t>auth_provider  ·  how the account was made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97433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D3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50" b="1">
                <a:solidFill>
                  <a:srgbClr val="3A3A3A"/>
                </a:solidFill>
                <a:latin typeface="Century Gothic"/>
              </a:rPr>
              <a:t>email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974336"/>
            <a:ext cx="1188720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50" b="1">
                <a:solidFill>
                  <a:srgbClr val="FFFFFF"/>
                </a:solidFill>
                <a:latin typeface="Century Gothic"/>
              </a:rPr>
              <a:t>google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497433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4B0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50" b="1">
                <a:solidFill>
                  <a:srgbClr val="FFFFFF"/>
                </a:solidFill>
                <a:latin typeface="Century Gothic"/>
              </a:rPr>
              <a:t>apple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5413248"/>
            <a:ext cx="5120640" cy="4572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5413248"/>
            <a:ext cx="45720" cy="457200"/>
          </a:xfrm>
          <a:prstGeom prst="rect">
            <a:avLst/>
          </a:prstGeom>
          <a:solidFill>
            <a:srgbClr val="7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7" y="5522976"/>
            <a:ext cx="475487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created_by_admin = true means there was no self-registration route.</a:t>
            </a:r>
          </a:p>
        </p:txBody>
      </p:sp>
      <p:pic>
        <p:nvPicPr>
          <p:cNvPr id="20" name="Picture 19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User Satellites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Optional detail hanging off User — one-to-one for contact, one-to-many for the rest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26464"/>
            <a:ext cx="352044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UserContact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1:1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3520439" cy="1312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8176"/>
                <a:gridCol w="844905"/>
                <a:gridCol w="1267358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007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address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country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other_information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text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325112" y="1426464"/>
            <a:ext cx="352044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F00FF"/>
              </a:gs>
              <a:gs pos="100000">
                <a:srgbClr val="4B008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UserSocialMedia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1:N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25112" y="1828800"/>
          <a:ext cx="3520439" cy="1124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8176"/>
                <a:gridCol w="844905"/>
                <a:gridCol w="1267358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7F00F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platform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instagram, twitter, facebook, tiktok, other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profile_url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follower_count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int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influencer vetting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101583" y="1426464"/>
            <a:ext cx="352044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B0082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UserDevice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1:N — push tokens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101583" y="1828800"/>
          <a:ext cx="3520439" cy="1312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8176"/>
                <a:gridCol w="844905"/>
                <a:gridCol w="1267358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4B0082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fcm_token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expo_token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platform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ios, android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last_active_at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66928" y="3803904"/>
            <a:ext cx="352044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8B0000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UserMedia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1:N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4206240"/>
          <a:ext cx="3520438" cy="1124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7358"/>
                <a:gridCol w="774496"/>
                <a:gridCol w="1478584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8B0000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media_type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4 values — see Enum Catalogue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url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uploaded_at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325112" y="3913632"/>
            <a:ext cx="7296912" cy="9144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3913632"/>
            <a:ext cx="45720" cy="9144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4023360"/>
            <a:ext cx="693115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A user may hold several devices, so push tokens are one-to-many — a notification fans out to every registered device. Contact details are one-to-one because a member has exactly one address.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4974336"/>
            <a:ext cx="7296912" cy="786384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5112" y="4974336"/>
            <a:ext cx="45720" cy="786384"/>
          </a:xfrm>
          <a:prstGeom prst="rect">
            <a:avLst/>
          </a:prstGeom>
          <a:solidFill>
            <a:srgbClr val="7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5084064"/>
            <a:ext cx="6931152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follower_count on UserSocialMedia is what a Super Admin uses to vet an influencer application before approving it.</a:t>
            </a:r>
          </a:p>
        </p:txBody>
      </p:sp>
      <p:pic>
        <p:nvPicPr>
          <p:cNvPr id="20" name="Picture 19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Auth, Phone OTP &amp; KYC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Social sign-in, the mandatory OTP, and the Know Your Customer files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26464"/>
            <a:ext cx="352044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UserAuthIdentity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1:N — linked providers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3520438" cy="1124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8584"/>
                <a:gridCol w="774496"/>
                <a:gridCol w="1267358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007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provider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email, google, apple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provider_user_id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unique with provider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linked_at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325112" y="1426464"/>
            <a:ext cx="352044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F00FF"/>
              </a:gs>
              <a:gs pos="100000">
                <a:srgbClr val="4B008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PhoneVerification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1:N — OTP attempts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25112" y="1828800"/>
          <a:ext cx="3520438" cy="16870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7358"/>
                <a:gridCol w="774496"/>
                <a:gridCol w="1478584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7F00F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phone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E.164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otp_hash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never store the OTP in plaintext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attempts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int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default 0 — rate limiting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expires_at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the code expires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verified_at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101583" y="1426464"/>
            <a:ext cx="352044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B0082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KycDocument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1:N — the KYC files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101583" y="1828800"/>
          <a:ext cx="3520439" cy="2809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7358"/>
                <a:gridCol w="704088"/>
                <a:gridCol w="1548993"/>
              </a:tblGrid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4B0082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 (merchant/influencer)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subject_type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merchant, influencer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document_type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9 values — see Enum Catalogue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file_url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PRIVATE storage — signed URLs only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file_name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mime_type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e.g. application/pdf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file_size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int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bytes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pending, verified, rejected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rejection_reason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text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uploaded_by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 (staff)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reviewed_by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FK→User (staff)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reviewed_at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expires_at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prompts re-collection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uploaded_at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66928" y="3749039"/>
            <a:ext cx="7296912" cy="932688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749039"/>
            <a:ext cx="45720" cy="93268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858768"/>
            <a:ext cx="69311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PHONE IS MANDATORY — Google and Apple sign-in satisfy email verification only. Every provider still routes to the OTP screen, so PhoneVerification is written on every single signup path. Attempts are rate-limited and codes expire.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846320"/>
            <a:ext cx="7296912" cy="932688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846320"/>
            <a:ext cx="45720" cy="932688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956048"/>
            <a:ext cx="69311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KYC files are personal data. They live in private storage, are served to admins only through short-lived signed URLs, and never appear on a member-facing endpoint or in a general media listing.</a:t>
            </a:r>
          </a:p>
        </p:txBody>
      </p:sp>
      <p:pic>
        <p:nvPicPr>
          <p:cNvPr id="18" name="Picture 17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Activity, Roles &amp;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The audit log, and how a user acquires a role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26464"/>
            <a:ext cx="484632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UserActivityLog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1:N — polymorphic subject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4846319" cy="16870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7748"/>
                <a:gridCol w="969264"/>
                <a:gridCol w="2229307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007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action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what was done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entity_type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polymorphic subject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entity_id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polymorphic subject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ip_address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metadata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JSON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760720" y="1426464"/>
            <a:ext cx="274320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F00FF"/>
              </a:gs>
              <a:gs pos="100000">
                <a:srgbClr val="4B008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Role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lookup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0" y="1828800"/>
          <a:ext cx="2743200" cy="937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2144"/>
                <a:gridCol w="713232"/>
                <a:gridCol w="877824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7F00F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super_admin, member_manager, merchant_manager, accountant_manager, merchant, influencer, member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tier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members only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787384" y="1426464"/>
            <a:ext cx="283464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B0082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UserRole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junction — M:N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787384" y="1828800"/>
          <a:ext cx="2834638" cy="937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0548"/>
                <a:gridCol w="737006"/>
                <a:gridCol w="907084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4B0082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role_id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FK→Role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assigned_at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66928" y="4059936"/>
            <a:ext cx="11055096" cy="859536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059936"/>
            <a:ext cx="45720" cy="859536"/>
          </a:xfrm>
          <a:prstGeom prst="rect">
            <a:avLst/>
          </a:prstGeom>
          <a:solidFill>
            <a:srgbClr val="7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169664"/>
            <a:ext cx="1068933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A user may hold several roles: a merchant or influencer also holds member, and staff hold a manager role (Member / Merchant / Accountant Manager). Promoting a member becomes an INSERT, not a schema change.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102352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007F"/>
                </a:solidFill>
                <a:latin typeface="Century Gothic"/>
              </a:rPr>
              <a:t>Member tiers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449824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D3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50" b="1">
                <a:solidFill>
                  <a:srgbClr val="3A3A3A"/>
                </a:solidFill>
                <a:latin typeface="Century Gothic"/>
              </a:rPr>
              <a:t>tier_1  ·  Under development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5449824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D3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50" b="1">
                <a:solidFill>
                  <a:srgbClr val="3A3A3A"/>
                </a:solidFill>
                <a:latin typeface="Century Gothic"/>
              </a:rPr>
              <a:t>tier_2  ·  Under development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5449824"/>
            <a:ext cx="530352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50" b="1">
                <a:solidFill>
                  <a:srgbClr val="FFFFFF"/>
                </a:solidFill>
                <a:latin typeface="Century Gothic"/>
              </a:rPr>
              <a:t>tier_3  ·  Live in Phase 1 — the only tier an influencer can invite</a:t>
            </a:r>
          </a:p>
        </p:txBody>
      </p:sp>
      <p:pic>
        <p:nvPicPr>
          <p:cNvPr id="19" name="Picture 18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Merchant &amp; Influencer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Both are created by a Super Admin / Merchant Manager — and both carry a KYC verification flag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26464"/>
            <a:ext cx="53949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MerchantProfile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1:1 with User — admin-created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5394959" cy="3012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0084"/>
                <a:gridCol w="1078992"/>
                <a:gridCol w="2265883"/>
              </a:tblGrid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007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business_name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category_id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FK→Category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registration_number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logo_url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address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latitude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map placement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longitude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map placement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approval_status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pending, approved, rejected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approved_by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FK→User (staff)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approved_at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kyc_verified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bool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NEW — default false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kyc_status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NEW — 5 values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kyc_verified_by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NEW — nullable, FK→User (staff)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kyc_verified_at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NEW — 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kyc_rejection_reason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text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NEW — 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27064" y="1426464"/>
            <a:ext cx="53949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F00FF"/>
              </a:gs>
              <a:gs pos="100000">
                <a:srgbClr val="4B008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InfluencerProfile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1:1 with User — admin-created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27064" y="1828800"/>
          <a:ext cx="5394959" cy="25100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0084"/>
                <a:gridCol w="1078992"/>
                <a:gridCol w="2265883"/>
              </a:tblGrid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7F00F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display_name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bio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text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total_followers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int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vetting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default_compensation_rate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approval_status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pending, approved, rejected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approved_by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FK→User (staff)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approved_at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kyc_verified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bool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NEW — BLOCKS PAYOUTS while false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kyc_status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NEW — 5 values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kyc_verified_by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NEW — nullable, FK→User (staff)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kyc_verified_at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NEW — 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7335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kyc_rejection_reason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text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NEW — 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4882896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882896"/>
            <a:ext cx="45720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992624"/>
            <a:ext cx="5029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TWO SWITCHES. approval_status turns the role on. kyc_verified is the compliance gate — and it is the one that blocks money: a Payout may not be approved while it is false.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882896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4882896"/>
            <a:ext cx="45720" cy="9144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4992624"/>
            <a:ext cx="5029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kyc_verified may only be set true by a Super Admin or the relevant manager, and only once at least one KycDocument for that user has reached status = verified. The act is stamped into kyc_verified_by and kyc_verified_at.</a:t>
            </a:r>
          </a:p>
        </p:txBody>
      </p:sp>
      <p:pic>
        <p:nvPicPr>
          <p:cNvPr id="16" name="Picture 15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47" y="457200"/>
            <a:ext cx="1188720" cy="4718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6968" y="2212848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Century Gothi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3310128"/>
            <a:ext cx="960120" cy="411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35844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0">
                <a:solidFill>
                  <a:srgbClr val="FFFFFF"/>
                </a:solidFill>
                <a:latin typeface="Century Gothic"/>
              </a:rPr>
              <a:t>Marketplace, Catalogue &amp; 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15968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0DCEE"/>
                </a:solidFill>
                <a:latin typeface="Century Gothic"/>
              </a:rPr>
              <a:t>The merchant's storefront, the offer catalogue, and the wallet pass</a:t>
            </a:r>
          </a:p>
        </p:txBody>
      </p:sp>
      <p:pic>
        <p:nvPicPr>
          <p:cNvPr id="8" name="Picture 7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Merchant Storefront &amp;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The merchant's own marketplace page — brand images and a landing video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26464"/>
            <a:ext cx="557784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MerchantStorefront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1:1 with MerchantProfile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5577839" cy="304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54249"/>
                <a:gridCol w="892454"/>
                <a:gridCol w="2231136"/>
              </a:tblGrid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1">
                          <a:solidFill>
                            <a:srgbClr val="FF007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0">
                          <a:solidFill>
                            <a:srgbClr val="3A3A3A"/>
                          </a:solidFill>
                          <a:latin typeface="Consolas"/>
                        </a:rPr>
                        <a:t>merchant_id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>FK→User (merchant)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0">
                          <a:solidFill>
                            <a:srgbClr val="3A3A3A"/>
                          </a:solidFill>
                          <a:latin typeface="Consolas"/>
                        </a:rPr>
                        <a:t>slug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>unique — URL / deep-link handle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0">
                          <a:solidFill>
                            <a:srgbClr val="3A3A3A"/>
                          </a:solidFill>
                          <a:latin typeface="Consolas"/>
                        </a:rPr>
                        <a:t>display_name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0">
                          <a:solidFill>
                            <a:srgbClr val="3A3A3A"/>
                          </a:solidFill>
                          <a:latin typeface="Consolas"/>
                        </a:rPr>
                        <a:t>tagline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0">
                          <a:solidFill>
                            <a:srgbClr val="3A3A3A"/>
                          </a:solidFill>
                          <a:latin typeface="Consolas"/>
                        </a:rPr>
                        <a:t>about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text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0">
                          <a:solidFill>
                            <a:srgbClr val="3A3A3A"/>
                          </a:solidFill>
                          <a:latin typeface="Consolas"/>
                        </a:rPr>
                        <a:t>category_id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>FK→Category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0">
                          <a:solidFill>
                            <a:srgbClr val="3A3A3A"/>
                          </a:solidFill>
                          <a:latin typeface="Consolas"/>
                        </a:rPr>
                        <a:t>logo_url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brand mark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0">
                          <a:solidFill>
                            <a:srgbClr val="3A3A3A"/>
                          </a:solidFill>
                          <a:latin typeface="Consolas"/>
                        </a:rPr>
                        <a:t>cover_image_url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banner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0">
                          <a:solidFill>
                            <a:srgbClr val="3A3A3A"/>
                          </a:solidFill>
                          <a:latin typeface="Consolas"/>
                        </a:rPr>
                        <a:t>landing_video_url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REPLACES the cover when set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0">
                          <a:solidFill>
                            <a:srgbClr val="3A3A3A"/>
                          </a:solidFill>
                          <a:latin typeface="Consolas"/>
                        </a:rPr>
                        <a:t>landing_video_thumbnail_url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poster frame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0">
                          <a:solidFill>
                            <a:srgbClr val="3A3A3A"/>
                          </a:solidFill>
                          <a:latin typeface="Consolas"/>
                        </a:rPr>
                        <a:t>video_autoplay_muted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bool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>default true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0">
                          <a:solidFill>
                            <a:srgbClr val="3A3A3A"/>
                          </a:solidFill>
                          <a:latin typeface="Consolas"/>
                        </a:rPr>
                        <a:t>address / latitude / longitude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mixed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map pin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0">
                          <a:solidFill>
                            <a:srgbClr val="3A3A3A"/>
                          </a:solidFill>
                          <a:latin typeface="Consolas"/>
                        </a:rPr>
                        <a:t>opening_hours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JSON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0">
                          <a:solidFill>
                            <a:srgbClr val="3A3A3A"/>
                          </a:solidFill>
                          <a:latin typeface="Consolas"/>
                        </a:rPr>
                        <a:t>website_url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0">
                          <a:solidFill>
                            <a:srgbClr val="3A3A3A"/>
                          </a:solidFill>
                          <a:latin typeface="Consolas"/>
                        </a:rPr>
                        <a:t>social_links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JSON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ig / tw / fb / tiktok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0">
                          <a:solidFill>
                            <a:srgbClr val="3A3A3A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>draft, published, unpublished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40" b="0">
                          <a:solidFill>
                            <a:srgbClr val="3A3A3A"/>
                          </a:solidFill>
                          <a:latin typeface="Consolas"/>
                        </a:rPr>
                        <a:t>published_at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1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92240" y="1426464"/>
            <a:ext cx="5129784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F00FF"/>
              </a:gs>
              <a:gs pos="100000">
                <a:srgbClr val="4B008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StorefrontMedia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1:N — gallery &amp; video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92240" y="1828800"/>
          <a:ext cx="5129782" cy="2368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9317"/>
                <a:gridCol w="923361"/>
                <a:gridCol w="2257104"/>
              </a:tblGrid>
              <a:tr h="1691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691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7F00F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storefront_id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FK→MerchantStorefront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media_type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brand_image, gallery_image, landing_video, promo_video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url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thumbnail_url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required for video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caption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alt_text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accessibility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mime_type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file_size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int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bytes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duration_seconds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int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video only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sort_order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int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default 0 — gallery order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processing, ready, failed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uploaded_at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92240" y="4718304"/>
            <a:ext cx="5129784" cy="100584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4718304"/>
            <a:ext cx="45720" cy="100584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7" y="4828032"/>
            <a:ext cx="476402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The landing video is the Facebook/Twitter-style hero: when landing_video_url is set it autoplays muted at the top of the page in place of the cover image. status = processing covers transcoding before the media is servable.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846320"/>
            <a:ext cx="5577840" cy="877824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846320"/>
            <a:ext cx="45720" cy="87782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956048"/>
            <a:ext cx="521207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status (draft → published) lets a merchant build the page before making it public. A Super Admin or Merchant Manager may force unpublished for cause.</a:t>
            </a:r>
          </a:p>
        </p:txBody>
      </p:sp>
      <p:pic>
        <p:nvPicPr>
          <p:cNvPr id="16" name="Picture 15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Category &amp;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Every Product is an offer — the offer/event discriminator is gone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26464"/>
            <a:ext cx="40233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B0082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Category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lookup — self-referencing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4023359" cy="749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7475"/>
                <a:gridCol w="804672"/>
                <a:gridCol w="1931212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4B0082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parent_id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self FK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2889504"/>
            <a:ext cx="40233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Product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an offer, always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3291840"/>
          <a:ext cx="4023359" cy="19613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7475"/>
                <a:gridCol w="804672"/>
                <a:gridCol w="1931212"/>
              </a:tblGrid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007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merchant_id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 (owner)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storefront_id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FK→MerchantStorefront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title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text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category_id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FK→Category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image_url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draft · active · paused · expired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updated_at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46320" y="1426464"/>
            <a:ext cx="6775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007F"/>
                </a:solidFill>
                <a:latin typeface="Century Gothic"/>
              </a:rPr>
              <a:t>What the removal of events changed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883664"/>
            <a:ext cx="1965960" cy="77724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883664"/>
            <a:ext cx="1920240" cy="777240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1883664"/>
            <a:ext cx="45720" cy="777240"/>
          </a:xfrm>
          <a:prstGeom prst="rect">
            <a:avLst/>
          </a:prstGeom>
          <a:solidFill>
            <a:srgbClr val="7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35824" y="2011680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F00FF"/>
                </a:solidFill>
                <a:latin typeface="Century Gothic"/>
              </a:rPr>
              <a:t>OfferDetail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22860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08080"/>
                </a:solidFill>
                <a:latin typeface="Consolas"/>
              </a:rPr>
              <a:t>always 1:1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2280" y="2276856"/>
            <a:ext cx="777240" cy="0"/>
          </a:xfrm>
          <a:prstGeom prst="line">
            <a:avLst/>
          </a:prstGeom>
          <a:ln w="12700">
            <a:solidFill>
              <a:srgbClr val="D3D3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03720" y="2048256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808080"/>
                </a:solidFill>
                <a:latin typeface="Century Gothic"/>
              </a:rPr>
              <a:t>1:1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10928" y="1883664"/>
            <a:ext cx="1911095" cy="777240"/>
          </a:xfrm>
          <a:prstGeom prst="roundRect">
            <a:avLst>
              <a:gd name="adj" fmla="val 10000"/>
            </a:avLst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10928" y="1883664"/>
            <a:ext cx="45720" cy="7772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57232" y="2011680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B0000"/>
                </a:solidFill>
                <a:latin typeface="Century Gothic"/>
              </a:rPr>
              <a:t>EventDetail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7232" y="22860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8B0000"/>
                </a:solidFill>
                <a:latin typeface="Consolas"/>
              </a:rPr>
              <a:t>REMOVED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926080"/>
            <a:ext cx="677570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FF007F"/>
              </a:buClr>
              <a:buChar char="–"/>
            </a:pPr>
            <a:r>
              <a:rPr sz="919">
                <a:solidFill>
                  <a:srgbClr val="3A3A3A"/>
                </a:solidFill>
                <a:latin typeface="Century Gothic"/>
              </a:rPr>
              <a:t>product_type is DROPPED — there is nothing left to discriminate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FF007F"/>
              </a:buClr>
              <a:buChar char="–"/>
            </a:pPr>
            <a:r>
              <a:rPr sz="919">
                <a:solidFill>
                  <a:srgbClr val="3A3A3A"/>
                </a:solidFill>
                <a:latin typeface="Century Gothic"/>
              </a:rPr>
              <a:t>OfferDetail is now an unconditional 1:1 extension of Product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FF007F"/>
              </a:buClr>
              <a:buChar char="–"/>
            </a:pPr>
            <a:r>
              <a:rPr sz="919">
                <a:solidFill>
                  <a:srgbClr val="3A3A3A"/>
                </a:solidFill>
                <a:latin typeface="Century Gothic"/>
              </a:rPr>
              <a:t>EventDetail, EventApplication and EventAttendance are gone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FF007F"/>
              </a:buClr>
              <a:buChar char="–"/>
            </a:pPr>
            <a:r>
              <a:rPr sz="919">
                <a:solidFill>
                  <a:srgbClr val="3A3A3A"/>
                </a:solidFill>
                <a:latin typeface="Century Gothic"/>
              </a:rPr>
              <a:t>Notification and Category still need only a single product_id FK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4535424"/>
            <a:ext cx="6775704" cy="1225296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46320" y="4535424"/>
            <a:ext cx="45720" cy="1225296"/>
          </a:xfrm>
          <a:prstGeom prst="rect">
            <a:avLst/>
          </a:prstGeom>
          <a:solidFill>
            <a:srgbClr val="7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7488" y="4645152"/>
            <a:ext cx="6409944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A discriminator column with only one possible value is dead weight — it can only ever disagree with reality. With events gone, Product.product_type was removed outright rather than left as a one-valued enum.</a:t>
            </a:r>
          </a:p>
        </p:txBody>
      </p:sp>
      <p:pic>
        <p:nvPicPr>
          <p:cNvPr id="26" name="Picture 25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Offer &amp; Meta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The 1:1 extension that makes a Product concrete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26464"/>
            <a:ext cx="53949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OfferDetail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1:1 with Product — unconditional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5394959" cy="16870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5883"/>
                <a:gridCol w="1078992"/>
                <a:gridCol w="2050084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007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product_id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FK→Product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offer_type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freebie, buy_n_get_one, time_based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required_purchases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int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the n in buy-n-get-one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reward_description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valid_from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time_based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valid_until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time_based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max_redemptions_per_member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int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27064" y="1426464"/>
            <a:ext cx="53949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B0082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ProductMeta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1:N — key/value extras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27064" y="1828800"/>
          <a:ext cx="5394959" cy="937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5883"/>
                <a:gridCol w="1294790"/>
                <a:gridCol w="1834286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4B0082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product_id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FK→Product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meta_key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meta_value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text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27064" y="2926080"/>
            <a:ext cx="5394960" cy="100584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2926080"/>
            <a:ext cx="45720" cy="100584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3035808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OfferDetail used to be conditional on product_type = offer. With events removed it extends EVERY Product, so the 1:1 can be enforced by the database rather than by application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041648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007F"/>
                </a:solidFill>
                <a:latin typeface="Century Gothic"/>
              </a:rPr>
              <a:t>offer_type drives redemption behaviour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443984"/>
            <a:ext cx="3539642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443984"/>
            <a:ext cx="50292" cy="1207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626864"/>
            <a:ext cx="312816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007F"/>
                </a:solidFill>
                <a:latin typeface="Consolas"/>
              </a:rPr>
              <a:t>freebie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956048"/>
            <a:ext cx="312816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One-time claim per member. Writes a RedeemedOffer.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6026" y="4443984"/>
            <a:ext cx="3539642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6026" y="4443984"/>
            <a:ext cx="50292" cy="1207008"/>
          </a:xfrm>
          <a:prstGeom prst="rect">
            <a:avLst/>
          </a:prstGeom>
          <a:solidFill>
            <a:srgbClr val="7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5482" y="4626864"/>
            <a:ext cx="312816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F00FF"/>
                </a:solidFill>
                <a:latin typeface="Consolas"/>
              </a:rPr>
              <a:t>buy_n_get_one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5482" y="4956048"/>
            <a:ext cx="312816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Tracked on an OfferStampCard. The reward unlocks when current_stamps reaches required_stamps.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5124" y="4443984"/>
            <a:ext cx="3539642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85124" y="4443984"/>
            <a:ext cx="50292" cy="1207008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4580" y="4626864"/>
            <a:ext cx="312816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B0082"/>
                </a:solidFill>
                <a:latin typeface="Consolas"/>
              </a:rPr>
              <a:t>time_based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4580" y="4956048"/>
            <a:ext cx="312816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Redeemable only between valid_from and valid_until.</a:t>
            </a:r>
          </a:p>
        </p:txBody>
      </p:sp>
      <p:pic>
        <p:nvPicPr>
          <p:cNvPr id="26" name="Picture 25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Subscriptions &amp; Membership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The paywall, and the wallet pass it mints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26464"/>
            <a:ext cx="352044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SubscriptionPlan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lookup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3520439" cy="1499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7767"/>
                <a:gridCol w="844905"/>
                <a:gridCol w="1337767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007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e.g. "Tier 3 — Annual"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price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currency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AED (ISO-4217)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billing_period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monthly, annual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tier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tier_3 — Phase 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features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JSON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325112" y="1426464"/>
            <a:ext cx="352044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F00FF"/>
              </a:gs>
              <a:gs pos="100000">
                <a:srgbClr val="4B008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Subscription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1:N from User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25112" y="1828800"/>
          <a:ext cx="3520439" cy="16870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7767"/>
                <a:gridCol w="844905"/>
                <a:gridCol w="1337767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7F00F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 (member)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plan_id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FK→SubscriptionPlan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active, past_due, expired, cancelled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started_at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expires_at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drives auto-expiry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auto_renew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bool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101583" y="1426464"/>
            <a:ext cx="352044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B0082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MembershipPass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1:1 with Subscription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101583" y="1828800"/>
          <a:ext cx="3520439" cy="224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8176"/>
                <a:gridCol w="774496"/>
                <a:gridCol w="1337767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4B0082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subscription_id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FK→Subscription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membership_number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unique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apple_pass_serial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apple_pass_url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google_pass_id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google_pass_url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barcode_value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QR/barcode for redemption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active, revoked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issued_at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66928" y="4663440"/>
            <a:ext cx="7296912" cy="100584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663440"/>
            <a:ext cx="45720" cy="10058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773168"/>
            <a:ext cx="69311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Subscription.status is never set by a human. A completed inbound Payment activates it; expires_at retires it. When it lapses the member reverts to browse-only and the MembershipPass is marked inactive automatically.</a:t>
            </a:r>
          </a:p>
        </p:txBody>
      </p:sp>
      <p:pic>
        <p:nvPicPr>
          <p:cNvPr id="15" name="Picture 14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47" y="457200"/>
            <a:ext cx="1188720" cy="4718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6968" y="2212848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Century Gothi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3310128"/>
            <a:ext cx="960120" cy="411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35844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0">
                <a:solidFill>
                  <a:srgbClr val="FFFFFF"/>
                </a:solidFill>
                <a:latin typeface="Century Gothic"/>
              </a:rPr>
              <a:t>Growth &amp; Engagement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15968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0DCEE"/>
                </a:solidFill>
                <a:latin typeface="Century Gothic"/>
              </a:rPr>
              <a:t>Promo codes, post trackers, redemptions and the notification fan-out</a:t>
            </a:r>
          </a:p>
        </p:txBody>
      </p:sp>
      <p:pic>
        <p:nvPicPr>
          <p:cNvPr id="8" name="Picture 7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Promo Code &amp; Redemption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The code is now PERSISTENT and REUSABLE — one code, many members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26464"/>
            <a:ext cx="53949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PromoCode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replaces InvitationToken — reusable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5394959" cy="1312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6387"/>
                <a:gridCol w="1078992"/>
                <a:gridCol w="2589580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007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influencer_id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 — shown in their dashboard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code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unique — typed, or carried by deep link / QR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active, suspended, revoked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updated_at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3145536"/>
            <a:ext cx="53949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F00FF"/>
              </a:gs>
              <a:gs pos="100000">
                <a:srgbClr val="4B008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PromoCodeRedemption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junction — PromoCode ↔ Member (NEW)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3547872"/>
          <a:ext cx="5394958" cy="19613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2185"/>
                <a:gridCol w="971092"/>
                <a:gridCol w="2481681"/>
              </a:tblGrid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7F00F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promo_code_id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FK→PromoCode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influencer_id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denormalized — for reporting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member_id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 — UNIQUE: one code, once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promo_discount_id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FK→PromoDiscount — the version in force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discount_type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FROZEN — percentage, fixed_amount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discount_value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FROZEN at redemption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discount_amount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money actually taken off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subscription_id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set when they pay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redeemed_at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27064" y="1426464"/>
            <a:ext cx="5394960" cy="19202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609344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entury Gothic"/>
              </a:rPr>
              <a:t>VALIDITY IS DERIVED, NOT STORED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938528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>
                <a:solidFill>
                  <a:srgbClr val="FFFFFF"/>
                </a:solidFill>
                <a:latin typeface="Consolas"/>
              </a:rPr>
              <a:t>redeemable  ⟺  PromoCode.status = active
                  ∧  User.status = active
                  ∧  approval_status = approved
                  ∧  kyc_verified = true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3566160"/>
            <a:ext cx="5394960" cy="1700784"/>
          </a:xfrm>
          <a:prstGeom prst="roundRect">
            <a:avLst>
              <a:gd name="adj" fmla="val 7000"/>
            </a:avLst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3566160"/>
            <a:ext cx="45720" cy="17007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73075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0000"/>
                </a:solidFill>
                <a:latin typeface="Century Gothic"/>
              </a:rPr>
              <a:t>REMOVED — InfluencerPostTracker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059936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>
                <a:solidFill>
                  <a:srgbClr val="3A3A3A"/>
                </a:solidFill>
                <a:latin typeface="Century Gothic"/>
              </a:rPr>
              <a:t>Influencers are no longer paid for social-media promotion, so the platform no longer records post URLs or verifies them. The entity is gone, along with the offer_post and event_post accrual sources and the verified / verified_by columns.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539496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7064" y="5394960"/>
            <a:ext cx="45720" cy="457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5504688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No expires_at. No usage counter. No "used" state. A lapsed gate stops new redemptions instantly.</a:t>
            </a:r>
          </a:p>
        </p:txBody>
      </p:sp>
      <p:pic>
        <p:nvPicPr>
          <p:cNvPr id="20" name="Picture 19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PromoDiscount — Per-Influencer, Super-Admin-Set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What a code is worth — one value per influencer. Only a Super Admin may write this table.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26464"/>
            <a:ext cx="53949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PromoDiscount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admin-only · versioned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5394959" cy="23180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4286"/>
                <a:gridCol w="1078992"/>
                <a:gridCol w="2481681"/>
              </a:tblGrid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007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scope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global, influencer — default global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influencer_id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required when scope = influencer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discount_type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percentage, fixed_amount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discount_value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e.g. 25.00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currency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required for fixed_amount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applies_to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subscription (Phase 1)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effective_from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effective_to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NULL means currently active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created_by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 — SUPER ADMIN ONLY, enforced at the API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text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27064" y="1426464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007F"/>
                </a:solidFill>
                <a:latin typeface="Century Gothic"/>
              </a:rPr>
              <a:t>Who can touch the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828800"/>
            <a:ext cx="1463040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FFFFFF"/>
                </a:solidFill>
                <a:latin typeface="Century Gothic"/>
              </a:rPr>
              <a:t>Super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20240"/>
            <a:ext cx="3794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3A3A3A"/>
                </a:solidFill>
                <a:latin typeface="Century Gothic"/>
              </a:rPr>
              <a:t>WRITES it. The only role with a write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2395728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3A3A3A"/>
                </a:solidFill>
                <a:latin typeface="Century Gothic"/>
              </a:rPr>
              <a:t>Influencer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2487168"/>
            <a:ext cx="3794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3A3A3A"/>
                </a:solidFill>
                <a:latin typeface="Century Gothic"/>
              </a:rPr>
              <a:t>READS the value on their code. Cannot set or negotiate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962656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3A3A3A"/>
                </a:solidFill>
                <a:latin typeface="Century Gothic"/>
              </a:rPr>
              <a:t>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3054096"/>
            <a:ext cx="3794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3A3A3A"/>
                </a:solidFill>
                <a:latin typeface="Century Gothic"/>
              </a:rPr>
              <a:t>RECEIVES it at checkout, frozen onto their redemption row.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363931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F00FF"/>
                </a:solidFill>
                <a:latin typeface="Century Gothic"/>
              </a:rPr>
              <a:t>Versioned, exactly like PayoutRate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402336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7F00FF"/>
              </a:buClr>
              <a:buChar char="–"/>
            </a:pPr>
            <a:r>
              <a:rPr sz="880">
                <a:solidFill>
                  <a:srgbClr val="3A3A3A"/>
                </a:solidFill>
                <a:latin typeface="Century Gothic"/>
              </a:rPr>
              <a:t>A new value CLOSES the active row (effective_to = now) and OPENS a new one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7F00FF"/>
              </a:buClr>
              <a:buChar char="–"/>
            </a:pPr>
            <a:r>
              <a:rPr sz="880">
                <a:solidFill>
                  <a:srgbClr val="3A3A3A"/>
                </a:solidFill>
                <a:latin typeface="Century Gothic"/>
              </a:rPr>
              <a:t>Each redemption freezes the discount_type and discount_value it was given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7F00FF"/>
              </a:buClr>
              <a:buChar char="–"/>
            </a:pPr>
            <a:r>
              <a:rPr sz="880">
                <a:solidFill>
                  <a:srgbClr val="3A3A3A"/>
                </a:solidFill>
                <a:latin typeface="Century Gothic"/>
              </a:rPr>
              <a:t>An influencer-scoped row wins over the global row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5175504"/>
            <a:ext cx="5394960" cy="676656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7064" y="5175504"/>
            <a:ext cx="45720" cy="676656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5285232"/>
            <a:ext cx="5029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So changing the discount tomorrow never re-prices a member who redeemed today.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46320"/>
            <a:ext cx="5394960" cy="100584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846320"/>
            <a:ext cx="45720" cy="10058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956048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THE TWO DIALS INTERACT — PromoDiscount lowers what the member pays; PayoutRate takes a percentage OF what they actually paid. A deeper discount shrinks platform revenue AND the influencer's payout on that signup.</a:t>
            </a:r>
          </a:p>
        </p:txBody>
      </p:sp>
      <p:pic>
        <p:nvPicPr>
          <p:cNvPr id="23" name="Picture 22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Influencer Compensation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Two sources now — post-based accruals have been removed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26464"/>
            <a:ext cx="53949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InfluencerCompensation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the payout accrual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5394958" cy="2633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0084"/>
                <a:gridCol w="971092"/>
                <a:gridCol w="2373782"/>
              </a:tblGrid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007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influencer_id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 (influencer)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source_type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subscription_payment, signup, bonus — post sources REMOVED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source_id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polymorphic → Payment | PromoCodeRedemption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gross_amount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NEW — nullable, the payment the % was applied to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percentage_applied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NEW — nullable, the rate FROZEN for audit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payout_rate_id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NEW — nullable, FK→PayoutRate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amount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gross_amount × percentage_applied / 100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currency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AED (ISO-4217)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pending, approved, rejected, paid, reversed (NEW)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approved_by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FK→User (staff)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approved_at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payout_id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FK→Payout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5564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27064" y="1426464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007F"/>
                </a:solidFill>
                <a:latin typeface="Century Gothic"/>
              </a:rPr>
              <a:t>The polymorphic 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847088"/>
            <a:ext cx="201168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50" b="1">
                <a:solidFill>
                  <a:srgbClr val="FFFFFF"/>
                </a:solidFill>
                <a:latin typeface="Century Gothic"/>
              </a:rPr>
              <a:t>subscription_payment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1865376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F00FF"/>
                </a:solidFill>
                <a:latin typeface="Consolas"/>
              </a:rPr>
              <a:t>→ 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5904" y="2066543"/>
            <a:ext cx="3246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A completed subscription payment. Accrues automatically at the set 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2523744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7F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50" b="1">
                <a:solidFill>
                  <a:srgbClr val="FFFFFF"/>
                </a:solidFill>
                <a:latin typeface="Century Gothic"/>
              </a:rPr>
              <a:t>signup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2542032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F00FF"/>
                </a:solidFill>
                <a:latin typeface="Consolas"/>
              </a:rPr>
              <a:t>→ PromoCodeRedemption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743200"/>
            <a:ext cx="3246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A member who joined on this code. Reusable, so one code yields many.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32004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50" b="1">
                <a:solidFill>
                  <a:srgbClr val="FFFFFF"/>
                </a:solidFill>
                <a:latin typeface="Century Gothic"/>
              </a:rPr>
              <a:t>bonus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3218688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F00FF"/>
                </a:solidFill>
                <a:latin typeface="Consolas"/>
              </a:rPr>
              <a:t>→ (manual)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3419856"/>
            <a:ext cx="3246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A discretionary award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26864"/>
            <a:ext cx="5394960" cy="1042415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4626864"/>
            <a:ext cx="45720" cy="104241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1" y="4736592"/>
            <a:ext cx="502920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percentage_applied and gross_amount are stored ON THE ACCRUAL, not looked up later. A rate change tomorrow must never re-price a payout that was accrued today — history stays exactly as it was calculated.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5394960" cy="82296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846320"/>
            <a:ext cx="45720" cy="822960"/>
          </a:xfrm>
          <a:prstGeom prst="rect">
            <a:avLst/>
          </a:prstGeom>
          <a:solidFill>
            <a:srgbClr val="7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956048"/>
            <a:ext cx="5029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reversed unwinds an accrual whose underlying payment was refunded. payout_id stays null until a Super Admin approves it and the Accountant issues it.</a:t>
            </a:r>
          </a:p>
        </p:txBody>
      </p:sp>
      <p:pic>
        <p:nvPicPr>
          <p:cNvPr id="24" name="Picture 23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Redemptions &amp; Stamp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The Member ↔ Offer junctions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26464"/>
            <a:ext cx="53949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RedeemedOffer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junction — Member ↔ Offer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5394959" cy="1499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2185"/>
                <a:gridCol w="1078992"/>
                <a:gridCol w="2373782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007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 (member)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product_id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FK→Product (offer)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merchant_id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 — denormalised for reporting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redemption_value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pending → confirmed (merchant), void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redeemed_at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27064" y="1426464"/>
            <a:ext cx="53949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F00FF"/>
              </a:gs>
              <a:gs pos="100000">
                <a:srgbClr val="4B008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OfferStampCard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buy-n-get-one progress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27064" y="1828800"/>
          <a:ext cx="5394959" cy="1499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2185"/>
                <a:gridCol w="1078992"/>
                <a:gridCol w="2373782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7F00F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 (member)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product_id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FK→Product (offer)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current_stamps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int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incremented per qualifying purchase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required_stamps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int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copied from OfferDetail.required_purchases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reward_claimed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bool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last_stamp_at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3840480"/>
            <a:ext cx="5394960" cy="1115568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40480"/>
            <a:ext cx="45720" cy="1115568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3950208"/>
            <a:ext cx="50292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merchant_id is deliberately denormalised. It is derivable through Product, but every merchant report filters on it — so it is stored to keep that query cheap.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3840480"/>
            <a:ext cx="5394960" cy="1115568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3840480"/>
            <a:ext cx="45720" cy="1115568"/>
          </a:xfrm>
          <a:prstGeom prst="rect">
            <a:avLst/>
          </a:prstGeom>
          <a:solidFill>
            <a:srgbClr val="7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3950208"/>
            <a:ext cx="50292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When current_stamps reaches required_stamps the reward unlocks: a reward RedeemedOffer is written and the card resets or closes.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02352"/>
            <a:ext cx="11055096" cy="658368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102352"/>
            <a:ext cx="45720" cy="65836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5212080"/>
            <a:ext cx="1068933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RedeemedOffer is MERCHANT-CONFIRMED at the venue: it starts pending and becomes confirmed only when the merchant enters/scans the redemption code (new columns redemption_code, confirmed_by, confirmed_at).</a:t>
            </a:r>
          </a:p>
        </p:txBody>
      </p:sp>
      <p:pic>
        <p:nvPicPr>
          <p:cNvPr id="19" name="Picture 18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One notification, many recipients, many devices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26464"/>
            <a:ext cx="352044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Notification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the message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3520439" cy="1499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7767"/>
                <a:gridCol w="774496"/>
                <a:gridCol w="1408176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007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offer, system, compensation, subscription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title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body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text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product_id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FK→Product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created_by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325112" y="1426464"/>
            <a:ext cx="352044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F00FF"/>
              </a:gs>
              <a:gs pos="100000">
                <a:srgbClr val="4B008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NotificationRecipient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junction — Notification ↔ User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25112" y="1828800"/>
          <a:ext cx="3520438" cy="1124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8584"/>
                <a:gridCol w="774496"/>
                <a:gridCol w="1267358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7F00F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notification_id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FK→Notification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delivered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bool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read_at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101583" y="1426464"/>
            <a:ext cx="352044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B0082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PushNotificationLog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delivery audit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101583" y="1828800"/>
          <a:ext cx="3520439" cy="1499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8176"/>
                <a:gridCol w="774496"/>
                <a:gridCol w="1337767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4B0082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notification_id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FK→Notification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device_token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sent, delivered, failed, opened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provider_response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JSON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sent_at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66928" y="4041648"/>
            <a:ext cx="11055096" cy="859536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041648"/>
            <a:ext cx="45720" cy="859536"/>
          </a:xfrm>
          <a:prstGeom prst="rect">
            <a:avLst/>
          </a:prstGeom>
          <a:solidFill>
            <a:srgbClr val="7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151376"/>
            <a:ext cx="1068933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The single nullable product_id points at the offer a notification is about. With events removed there is only one kind of product, and Notification.type carries the intent.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47488"/>
            <a:ext cx="11055096" cy="73152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047488"/>
            <a:ext cx="45720" cy="73152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157216"/>
            <a:ext cx="1068933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Recipient state (delivered, read_at) is per-user; delivery state (sent, failed, opened) is per-device. A user with three devices produces one NotificationRecipient row and three PushNotificationLog rows.</a:t>
            </a:r>
          </a:p>
        </p:txBody>
      </p:sp>
      <p:pic>
        <p:nvPicPr>
          <p:cNvPr id="18" name="Picture 17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47" y="457200"/>
            <a:ext cx="1188720" cy="4718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6968" y="2212848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Century Gothi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3310128"/>
            <a:ext cx="960120" cy="411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35844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0">
                <a:solidFill>
                  <a:srgbClr val="FFFFFF"/>
                </a:solidFill>
                <a:latin typeface="Century Gothic"/>
              </a:rPr>
              <a:t>Money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15968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0DCEE"/>
                </a:solidFill>
                <a:latin typeface="Century Gothic"/>
              </a:rPr>
              <a:t>The financial tables, the relationship map, and the constraints that hold it together</a:t>
            </a:r>
          </a:p>
        </p:txBody>
      </p:sp>
      <p:pic>
        <p:nvPicPr>
          <p:cNvPr id="8" name="Picture 7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Payment &amp; Payout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One generic Payment table serves both directions of money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26464"/>
            <a:ext cx="53949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Payment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inbound subscriptions AND outbound payouts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5394959" cy="2496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7984"/>
                <a:gridCol w="971092"/>
                <a:gridCol w="2265883"/>
              </a:tblGrid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007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direction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inbound, outbound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user_id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 — member (in) or influencer (out)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amount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currency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AED (ISO-4217)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method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card, apple_pay, google_pay, bank_transfer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gateway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paymennt — inbound; outbound manual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gateway_transaction_ref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reconciliation key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pending, completed, failed, refunded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reference_type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subscription, influencer_payout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reference_id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polymorphic → Subscription or Payout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processed_at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27064" y="1426464"/>
            <a:ext cx="53949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F00FF"/>
              </a:gs>
              <a:gs pos="100000">
                <a:srgbClr val="4B008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Payout   outbound — Super Admin approves, Accountant issues manually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/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27064" y="1828800"/>
          <a:ext cx="5394959" cy="19613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0084"/>
                <a:gridCol w="1078992"/>
                <a:gridCol w="2265883"/>
              </a:tblGrid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7F00F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influencer_id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 (influencer)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amount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sum of bundled compensations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currency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AED (ISO-4217)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accrued (NEW), requested, approved, processing, paid, failed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requested_at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approved_by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FK→User (staff)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approved_at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payment_id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FK→Payment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text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27064" y="3657600"/>
            <a:ext cx="5394960" cy="118872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3657600"/>
            <a:ext cx="45720" cy="11887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3767328"/>
            <a:ext cx="5029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THE KYC GATE — a Payout may not move to approved unless the payee's InfluencerProfile.kyc_verified is true. Enforce it in the service layer AND at the API: it is a compliance control, not a UI nicety.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047488"/>
            <a:ext cx="11055096" cy="713232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047488"/>
            <a:ext cx="45720" cy="713232"/>
          </a:xfrm>
          <a:prstGeom prst="rect">
            <a:avLst/>
          </a:prstGeom>
          <a:solidFill>
            <a:srgbClr val="7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157216"/>
            <a:ext cx="10689336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reference_type + reference_id lets one Payment table serve both directions. An inbound payment references a Subscription; an outbound one references a Payout.</a:t>
            </a:r>
          </a:p>
        </p:txBody>
      </p:sp>
      <p:pic>
        <p:nvPicPr>
          <p:cNvPr id="16" name="Picture 15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PayoutRate — the Percentage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A successful subscription payment counts as a payout, priced at a Super-Admin-set rate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426464"/>
            <a:ext cx="53949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PayoutRate   Super-Admin-controlled · versioned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/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5394959" cy="20619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4286"/>
                <a:gridCol w="1078992"/>
                <a:gridCol w="2481681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007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scope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global, influencer — default global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influencer_id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required when scope = influencer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percentage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0–100. e.g. 20.00 = 20% of each payment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applies_to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subscription_payment (Phase 1 has one basis)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effective_from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effective_to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NULL means currently active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created_by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FK→User (super_admin) — who set the rate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text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27064" y="1426464"/>
            <a:ext cx="5394960" cy="84124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7064" y="1591056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onsolas"/>
              </a:rPr>
              <a:t>payout_amount  =  payment.amount  ×  (percentage / 100)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190195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6E4F4"/>
                </a:solidFill>
                <a:latin typeface="Century Gothic"/>
              </a:rPr>
              <a:t>The accrual freezes gross_amount and percentage_applied.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7064" y="245059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007F"/>
                </a:solidFill>
                <a:latin typeface="Century Gothic"/>
              </a:rPr>
              <a:t>Versioned, never overwritten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2816352"/>
            <a:ext cx="347472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5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2898648"/>
            <a:ext cx="49286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3A3A3A"/>
                </a:solidFill>
                <a:latin typeface="Century Gothic"/>
              </a:rPr>
              <a:t>The Super Admin sets a new percentage.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323697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7F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5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3319272"/>
            <a:ext cx="49286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3A3A3A"/>
                </a:solidFill>
                <a:latin typeface="Century Gothic"/>
              </a:rPr>
              <a:t>The active row is closed — effective_to = now.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365760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B0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5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3739896"/>
            <a:ext cx="49286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3A3A3A"/>
                </a:solidFill>
                <a:latin typeface="Century Gothic"/>
              </a:rPr>
              <a:t>A new row opens — effective_from = now, effective_to = null.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07822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5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4160520"/>
            <a:ext cx="49286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3A3A3A"/>
                </a:solidFill>
                <a:latin typeface="Century Gothic"/>
              </a:rPr>
              <a:t>Past accruals keep the rate they were priced 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459028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F00FF"/>
                </a:solidFill>
                <a:latin typeface="Century Gothic"/>
              </a:rPr>
              <a:t>Resolution order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4937760"/>
            <a:ext cx="201168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00FF"/>
              </a:gs>
              <a:gs pos="100000">
                <a:srgbClr val="4B008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50" b="1">
                <a:solidFill>
                  <a:srgbClr val="FFFFFF"/>
                </a:solidFill>
                <a:latin typeface="Century Gothic"/>
              </a:rPr>
              <a:t>scope = influencer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502920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08080"/>
                </a:solidFill>
                <a:latin typeface="Century Gothic"/>
              </a:rPr>
              <a:t>wins over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4937760"/>
            <a:ext cx="201168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50" b="1">
                <a:solidFill>
                  <a:srgbClr val="FFFFFF"/>
                </a:solidFill>
                <a:latin typeface="Century Gothic"/>
              </a:rPr>
              <a:t>scope = global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46320"/>
            <a:ext cx="5394960" cy="877824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846320"/>
            <a:ext cx="45720" cy="87782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956048"/>
            <a:ext cx="50292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Decided: the payout % is charged on the gross subscription amount (AED); the launch value is configured by the Super Admin.</a:t>
            </a:r>
          </a:p>
        </p:txBody>
      </p:sp>
      <p:pic>
        <p:nvPicPr>
          <p:cNvPr id="27" name="Picture 26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Platform Account &amp;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The balance is a cache. The ledger is the truth.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52160" y="1426464"/>
            <a:ext cx="5769864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PlatformAccount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one row per currency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52160" y="1828800"/>
          <a:ext cx="5769863" cy="937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0959"/>
                <a:gridCol w="1153972"/>
                <a:gridCol w="2884932"/>
              </a:tblGrid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007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currency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unique — ISO-4217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current_balance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the cached balance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updated_at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1426464"/>
            <a:ext cx="507492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B0082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entury Gothic"/>
              </a:rPr>
              <a:t>LedgerEntry</a:t>
            </a:r>
            <a:r>
              <a:rPr sz="750" b="0">
                <a:solidFill>
                  <a:srgbClr val="F6E2F4"/>
                </a:solidFill>
                <a:latin typeface="Century Gothic"/>
              </a:rPr>
              <a:t>   append-only — the source of truth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5074919" cy="21726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5472"/>
                <a:gridCol w="1014984"/>
                <a:gridCol w="2334463"/>
              </a:tblGrid>
              <a:tr h="181051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FIELD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50" b="1">
                          <a:solidFill>
                            <a:srgbClr val="808080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4F4F6"/>
                    </a:solidFill>
                  </a:tcPr>
                </a:tc>
              </a:tr>
              <a:tr h="181051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4B0082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1051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account_id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FK→PlatformAccount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1051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entry_type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credit · debit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1051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amount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1051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currency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AED (ISO-4217)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1051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balance_after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running balance — the audit trail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1051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source_type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enum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4 values — see Enum Catalogue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1051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source_id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polymorphic → Payment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1051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1051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created_by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UUID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>nullable — staff: manual adjustments &amp; payouts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1051"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A3A3A"/>
                          </a:solidFill>
                          <a:latin typeface="Consolas"/>
                        </a:rPr>
                        <a:t>created_at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7F00FF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3716" bIns="13716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0808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rgbClr val="E6E6EA"/>
                      </a:solidFill>
                    </a:lnL>
                    <a:lnR w="6350" cap="flat" cmpd="sng" algn="ctr">
                      <a:solidFill>
                        <a:srgbClr val="E6E6EA"/>
                      </a:solidFill>
                    </a:lnR>
                    <a:lnT w="6350" cap="flat" cmpd="sng" algn="ctr">
                      <a:solidFill>
                        <a:srgbClr val="E6E6EA"/>
                      </a:solidFill>
                    </a:lnT>
                    <a:lnB w="6350" cap="flat" cmpd="sng" algn="ctr">
                      <a:solidFill>
                        <a:srgbClr val="E6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52160" y="3127248"/>
            <a:ext cx="5769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007F"/>
                </a:solidFill>
                <a:latin typeface="Century Gothic"/>
              </a:rPr>
              <a:t>The money trail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3419856"/>
            <a:ext cx="3703320" cy="29260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Century Gothic"/>
              </a:rPr>
              <a:t>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3474720"/>
            <a:ext cx="19751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808080"/>
                </a:solidFill>
                <a:latin typeface="Century Gothic"/>
              </a:rPr>
              <a:t>member pays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3762756"/>
            <a:ext cx="3703320" cy="29260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Century Gothic"/>
              </a:rPr>
              <a:t>Payment  (inbound, completed)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3817620"/>
            <a:ext cx="19751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808080"/>
                </a:solidFill>
                <a:latin typeface="Century Gothic"/>
              </a:rPr>
              <a:t>gateway confirms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4105656"/>
            <a:ext cx="3703320" cy="29260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Century Gothic"/>
              </a:rPr>
              <a:t>LedgerEntry  (credit)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4160520"/>
            <a:ext cx="19751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808080"/>
                </a:solidFill>
                <a:latin typeface="Century Gothic"/>
              </a:rPr>
              <a:t>balance increases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4448556"/>
            <a:ext cx="3703320" cy="29260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Century Gothic"/>
              </a:rPr>
              <a:t>InfluencerCompensation  (accrued at 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4503420"/>
            <a:ext cx="19751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808080"/>
                </a:solidFill>
                <a:latin typeface="Century Gothic"/>
              </a:rPr>
              <a:t>SAME payment accrues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4791456"/>
            <a:ext cx="3703320" cy="292608"/>
          </a:xfrm>
          <a:prstGeom prst="roundRect">
            <a:avLst>
              <a:gd name="adj" fmla="val 50000"/>
            </a:avLst>
          </a:prstGeom>
          <a:solidFill>
            <a:srgbClr val="7F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Century Gothic"/>
              </a:rPr>
              <a:t>Payout  (approved — needs KYC)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4846320"/>
            <a:ext cx="19751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808080"/>
                </a:solidFill>
                <a:latin typeface="Century Gothic"/>
              </a:rPr>
              <a:t>Super Admin approves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5134356"/>
            <a:ext cx="3703320" cy="292608"/>
          </a:xfrm>
          <a:prstGeom prst="roundRect">
            <a:avLst>
              <a:gd name="adj" fmla="val 50000"/>
            </a:avLst>
          </a:prstGeom>
          <a:solidFill>
            <a:srgbClr val="7F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Century Gothic"/>
              </a:rPr>
              <a:t>Payment  (outbound, completed)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5189220"/>
            <a:ext cx="19751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808080"/>
                </a:solidFill>
                <a:latin typeface="Century Gothic"/>
              </a:rPr>
              <a:t>money leaves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5477256"/>
            <a:ext cx="3703320" cy="292608"/>
          </a:xfrm>
          <a:prstGeom prst="roundRect">
            <a:avLst>
              <a:gd name="adj" fmla="val 50000"/>
            </a:avLst>
          </a:prstGeom>
          <a:solidFill>
            <a:srgbClr val="7F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Century Gothic"/>
              </a:rPr>
              <a:t>LedgerEntry  (debit)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5532120"/>
            <a:ext cx="19751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808080"/>
                </a:solidFill>
                <a:latin typeface="Century Gothic"/>
              </a:rPr>
              <a:t>balance decreases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46320"/>
            <a:ext cx="5074920" cy="877824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846320"/>
            <a:ext cx="45720" cy="87782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956048"/>
            <a:ext cx="470915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current_balance is derivable by replaying the ledger. It is stored only so the Accountant dashboard need not aggregate every row on each load.</a:t>
            </a:r>
          </a:p>
        </p:txBody>
      </p:sp>
      <p:pic>
        <p:nvPicPr>
          <p:cNvPr id="28" name="Picture 27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One-to-one and one-to-many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426464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007F"/>
                </a:solidFill>
                <a:latin typeface="Century Gothic"/>
              </a:rPr>
              <a:t>One-to-one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65376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A3A3A"/>
                </a:solidFill>
                <a:latin typeface="Consolas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1865376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007F"/>
                </a:solidFill>
                <a:latin typeface="Century Gothic"/>
              </a:rPr>
              <a:t>1:1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1865376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F00FF"/>
                </a:solidFill>
                <a:latin typeface="Consolas"/>
              </a:rPr>
              <a:t>UserContact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39696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49424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A3A3A"/>
                </a:solidFill>
                <a:latin typeface="Consolas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224942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007F"/>
                </a:solidFill>
                <a:latin typeface="Century Gothic"/>
              </a:rPr>
              <a:t>1:1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224942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F00FF"/>
                </a:solidFill>
                <a:latin typeface="Consolas"/>
              </a:rPr>
              <a:t>MerchantProfile  (merchants)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23744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633472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A3A3A"/>
                </a:solidFill>
                <a:latin typeface="Consolas"/>
              </a:rPr>
              <a:t>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263347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007F"/>
                </a:solidFill>
                <a:latin typeface="Century Gothic"/>
              </a:rPr>
              <a:t>1:1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2633472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F00FF"/>
                </a:solidFill>
                <a:latin typeface="Consolas"/>
              </a:rPr>
              <a:t>InfluencerProfile  (influencers)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907791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01752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A3A3A"/>
                </a:solidFill>
                <a:latin typeface="Consolas"/>
              </a:rPr>
              <a:t>MerchantProfile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301752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007F"/>
                </a:solidFill>
                <a:latin typeface="Century Gothic"/>
              </a:rPr>
              <a:t>1:1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301752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F00FF"/>
                </a:solidFill>
                <a:latin typeface="Consolas"/>
              </a:rPr>
              <a:t>MerchantStorefront   (new)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291839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401568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A3A3A"/>
                </a:solidFill>
                <a:latin typeface="Consolas"/>
              </a:rPr>
              <a:t>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3401568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007F"/>
                </a:solidFill>
                <a:latin typeface="Century Gothic"/>
              </a:rPr>
              <a:t>1:1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401568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F00FF"/>
                </a:solidFill>
                <a:latin typeface="Consolas"/>
              </a:rPr>
              <a:t>OfferDetail  (offers)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675887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785616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A3A3A"/>
                </a:solidFill>
                <a:latin typeface="Consolas"/>
              </a:rPr>
              <a:t>Subscription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2032" y="3785616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007F"/>
                </a:solidFill>
                <a:latin typeface="Century Gothic"/>
              </a:rPr>
              <a:t>1:1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27248" y="3785616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F00FF"/>
                </a:solidFill>
                <a:latin typeface="Consolas"/>
              </a:rPr>
              <a:t>MembershipPass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059936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7064" y="1426464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00FF"/>
                </a:solidFill>
                <a:latin typeface="Century Gothic"/>
              </a:rPr>
              <a:t>One-to-many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7064" y="1792224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3A3A3A"/>
                </a:solidFill>
                <a:latin typeface="Consolas"/>
              </a:rPr>
              <a:t>User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4" y="1792224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7F00FF"/>
                </a:solidFill>
                <a:latin typeface="Century Gothic"/>
              </a:rPr>
              <a:t>1:N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7072" y="1792224"/>
            <a:ext cx="3044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7F00FF"/>
                </a:solidFill>
                <a:latin typeface="Consolas"/>
              </a:rPr>
              <a:t>UserSocialMedia · UserDevice · UserMedia · UserActivityLog · Subscription · UserAuthIdentity · PhoneVerification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7064" y="2029967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7064" y="2075688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3A3A3A"/>
                </a:solidFill>
                <a:latin typeface="Consolas"/>
              </a:rPr>
              <a:t>User (merchant / influencer)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4" y="2075688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7F00FF"/>
                </a:solidFill>
                <a:latin typeface="Century Gothic"/>
              </a:rPr>
              <a:t>1:N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7072" y="2075688"/>
            <a:ext cx="3044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7F00FF"/>
                </a:solidFill>
                <a:latin typeface="Consolas"/>
              </a:rPr>
              <a:t>KycDocument   (the KYC files)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27064" y="2313432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7064" y="2359152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3A3A3A"/>
                </a:solidFill>
                <a:latin typeface="Consolas"/>
              </a:rPr>
              <a:t>SubscriptionPlan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4" y="2359152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7F00FF"/>
                </a:solidFill>
                <a:latin typeface="Century Gothic"/>
              </a:rPr>
              <a:t>1:N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7072" y="2359152"/>
            <a:ext cx="3044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7F00FF"/>
                </a:solidFill>
                <a:latin typeface="Consolas"/>
              </a:rPr>
              <a:t>Subscription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27064" y="2596896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7064" y="2642615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3A3A3A"/>
                </a:solidFill>
                <a:latin typeface="Consolas"/>
              </a:rPr>
              <a:t>MerchantStorefront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3024" y="2642615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7F00FF"/>
                </a:solidFill>
                <a:latin typeface="Century Gothic"/>
              </a:rPr>
              <a:t>1:N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77072" y="2642615"/>
            <a:ext cx="3044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7F00FF"/>
                </a:solidFill>
                <a:latin typeface="Consolas"/>
              </a:rPr>
              <a:t>StorefrontMedia   ·   Product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27064" y="2880359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27064" y="2926080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3A3A3A"/>
                </a:solidFill>
                <a:latin typeface="Consolas"/>
              </a:rPr>
              <a:t>Category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3024" y="2926080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7F00FF"/>
                </a:solidFill>
                <a:latin typeface="Century Gothic"/>
              </a:rPr>
              <a:t>1:N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77072" y="2926080"/>
            <a:ext cx="3044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7F00FF"/>
                </a:solidFill>
                <a:latin typeface="Consolas"/>
              </a:rPr>
              <a:t>Product   ·   Category → Category (self)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27064" y="3163824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27064" y="3209544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3A3A3A"/>
                </a:solidFill>
                <a:latin typeface="Consolas"/>
              </a:rPr>
              <a:t>Product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3024" y="3209544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7F00FF"/>
                </a:solidFill>
                <a:latin typeface="Century Gothic"/>
              </a:rPr>
              <a:t>1:N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77072" y="3209544"/>
            <a:ext cx="3044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7F00FF"/>
                </a:solidFill>
                <a:latin typeface="Consolas"/>
              </a:rPr>
              <a:t>ProductMeta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27064" y="3447287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27064" y="3493008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3A3A3A"/>
                </a:solidFill>
                <a:latin typeface="Consolas"/>
              </a:rPr>
              <a:t>User (influencer)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93024" y="3493008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7F00FF"/>
                </a:solidFill>
                <a:latin typeface="Century Gothic"/>
              </a:rPr>
              <a:t>1:N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77072" y="3493008"/>
            <a:ext cx="3044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7F00FF"/>
                </a:solidFill>
                <a:latin typeface="Consolas"/>
              </a:rPr>
              <a:t>PromoCode · InfluencerCompensation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27064" y="3730752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27064" y="3776472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3A3A3A"/>
                </a:solidFill>
                <a:latin typeface="Consolas"/>
              </a:rPr>
              <a:t>PromoCode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93024" y="3776472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7F00FF"/>
                </a:solidFill>
                <a:latin typeface="Century Gothic"/>
              </a:rPr>
              <a:t>1:N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77072" y="3776472"/>
            <a:ext cx="3044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7F00FF"/>
                </a:solidFill>
                <a:latin typeface="Consolas"/>
              </a:rPr>
              <a:t>PromoCodeRedemption   (one reusable code, many members)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27064" y="4014215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27064" y="4059935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3A3A3A"/>
                </a:solidFill>
                <a:latin typeface="Consolas"/>
              </a:rPr>
              <a:t>PromoDiscount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93024" y="4059935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7F00FF"/>
                </a:solidFill>
                <a:latin typeface="Century Gothic"/>
              </a:rPr>
              <a:t>1:N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77072" y="4059935"/>
            <a:ext cx="3044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7F00FF"/>
                </a:solidFill>
                <a:latin typeface="Consolas"/>
              </a:rPr>
              <a:t>PromoCodeRedemption   (the discount a redemption was given)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27064" y="4297679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27064" y="4343400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3A3A3A"/>
                </a:solidFill>
                <a:latin typeface="Consolas"/>
              </a:rPr>
              <a:t>PayoutRate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93024" y="4343400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7F00FF"/>
                </a:solidFill>
                <a:latin typeface="Century Gothic"/>
              </a:rPr>
              <a:t>1:N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77072" y="4343400"/>
            <a:ext cx="3044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7F00FF"/>
                </a:solidFill>
                <a:latin typeface="Consolas"/>
              </a:rPr>
              <a:t>InfluencerCompensation   (the rate an accrual was priced at)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27064" y="4581144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27064" y="4626864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3A3A3A"/>
                </a:solidFill>
                <a:latin typeface="Consolas"/>
              </a:rPr>
              <a:t>Payment (inbound)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93024" y="4626864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7F00FF"/>
                </a:solidFill>
                <a:latin typeface="Century Gothic"/>
              </a:rPr>
              <a:t>1:N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77072" y="4626864"/>
            <a:ext cx="3044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7F00FF"/>
                </a:solidFill>
                <a:latin typeface="Consolas"/>
              </a:rPr>
              <a:t>InfluencerCompensation   (the payment accrues the payout)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27064" y="4864608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27064" y="4910328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3A3A3A"/>
                </a:solidFill>
                <a:latin typeface="Consolas"/>
              </a:rPr>
              <a:t>Payout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93024" y="4910328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7F00FF"/>
                </a:solidFill>
                <a:latin typeface="Century Gothic"/>
              </a:rPr>
              <a:t>1:N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77072" y="4910328"/>
            <a:ext cx="3044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7F00FF"/>
                </a:solidFill>
                <a:latin typeface="Consolas"/>
              </a:rPr>
              <a:t>InfluencerCompensation   (one payout bundles many)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27064" y="5148072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27064" y="5193792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3A3A3A"/>
                </a:solidFill>
                <a:latin typeface="Consolas"/>
              </a:rPr>
              <a:t>PlatformAccount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93024" y="5193792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7F00FF"/>
                </a:solidFill>
                <a:latin typeface="Century Gothic"/>
              </a:rPr>
              <a:t>1:N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77072" y="5193792"/>
            <a:ext cx="3044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7F00FF"/>
                </a:solidFill>
                <a:latin typeface="Consolas"/>
              </a:rPr>
              <a:t>LedgerEntry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27064" y="5431536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27064" y="5477256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3A3A3A"/>
                </a:solidFill>
                <a:latin typeface="Consolas"/>
              </a:rPr>
              <a:t>Notification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93024" y="5477256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7F00FF"/>
                </a:solidFill>
                <a:latin typeface="Century Gothic"/>
              </a:rPr>
              <a:t>1:N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77072" y="5477256"/>
            <a:ext cx="3044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7F00FF"/>
                </a:solidFill>
                <a:latin typeface="Consolas"/>
              </a:rPr>
              <a:t>PushNotificationLog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227064" y="5715000"/>
            <a:ext cx="539496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Junctions &amp; Audit FKs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Every many-to-many is an explicit table that carries its own data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426464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007F"/>
                </a:solidFill>
                <a:latin typeface="Century Gothic"/>
              </a:rPr>
              <a:t>Many-to-many — each via a junction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6949440" cy="292608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01952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808080"/>
                </a:solidFill>
                <a:latin typeface="Century Gothic"/>
              </a:rPr>
              <a:t>RELATIONSHIP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5768" y="1901952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808080"/>
                </a:solidFill>
                <a:latin typeface="Century Gothic"/>
              </a:rPr>
              <a:t>JUNCTION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8968" y="190195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808080"/>
                </a:solidFill>
                <a:latin typeface="Century Gothic"/>
              </a:rPr>
              <a:t>CARRIES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23113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3A3A3A"/>
                </a:solidFill>
                <a:latin typeface="Century Gothic"/>
              </a:rPr>
              <a:t>User ↔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8" y="2231136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onsolas"/>
              </a:rPr>
              <a:t>UserRole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22311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808080"/>
                </a:solidFill>
                <a:latin typeface="Century Gothic"/>
              </a:rPr>
              <a:t>assignment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23744"/>
            <a:ext cx="694944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65176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3A3A3A"/>
                </a:solidFill>
                <a:latin typeface="Century Gothic"/>
              </a:rPr>
              <a:t>Member ↔ Offer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265176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F00FF"/>
                </a:solidFill>
                <a:latin typeface="Consolas"/>
              </a:rPr>
              <a:t>RedeemedOffer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8968" y="26517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808080"/>
                </a:solidFill>
                <a:latin typeface="Century Gothic"/>
              </a:rPr>
              <a:t>value, status, timestamp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944368"/>
            <a:ext cx="694944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072384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3A3A3A"/>
                </a:solidFill>
                <a:latin typeface="Century Gothic"/>
              </a:rPr>
              <a:t>Influencer ↔ Member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3072384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007F"/>
                </a:solidFill>
                <a:latin typeface="Consolas"/>
              </a:rPr>
              <a:t>PromoCodeRedemption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8" y="307238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808080"/>
                </a:solidFill>
                <a:latin typeface="Century Gothic"/>
              </a:rPr>
              <a:t>frozen discount, attribution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364991"/>
            <a:ext cx="694944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49300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3A3A3A"/>
                </a:solidFill>
                <a:latin typeface="Century Gothic"/>
              </a:rPr>
              <a:t>Notification ↔ 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3493008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F00FF"/>
                </a:solidFill>
                <a:latin typeface="Consolas"/>
              </a:rPr>
              <a:t>NotificationRecipient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8968" y="34930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808080"/>
                </a:solidFill>
                <a:latin typeface="Century Gothic"/>
              </a:rPr>
              <a:t>delivered / read state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85615"/>
            <a:ext cx="6949440" cy="64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4443984"/>
            <a:ext cx="6949440" cy="969264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443984"/>
            <a:ext cx="45720" cy="969264"/>
          </a:xfrm>
          <a:prstGeom prst="rect">
            <a:avLst/>
          </a:prstGeom>
          <a:solidFill>
            <a:srgbClr val="7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553712"/>
            <a:ext cx="658367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A3A3A"/>
                </a:solidFill>
                <a:latin typeface="Century Gothic"/>
              </a:rPr>
              <a:t>Product ↔ Category is one-to-many today. If a product ever needs to sit in several categories, promote it to a ProductCategory junction — the only change that would ripple outward.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1426464"/>
            <a:ext cx="3739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0000"/>
                </a:solidFill>
                <a:latin typeface="Century Gothic"/>
              </a:rPr>
              <a:t>Approval &amp; audit FKs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1792224"/>
            <a:ext cx="3739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08080"/>
                </a:solidFill>
                <a:latin typeface="Consolas"/>
              </a:rPr>
              <a:t>all → a staff User (Super Admin or a manager)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82127" y="2194560"/>
            <a:ext cx="3739896" cy="237744"/>
          </a:xfrm>
          <a:prstGeom prst="roundRect">
            <a:avLst>
              <a:gd name="adj" fmla="val 20000"/>
            </a:avLst>
          </a:prstGeom>
          <a:solidFill>
            <a:srgbClr val="F7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760" b="1">
                <a:solidFill>
                  <a:srgbClr val="FF007F"/>
                </a:solidFill>
                <a:latin typeface="Consolas"/>
              </a:rPr>
              <a:t>User.created_by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82127" y="2459736"/>
            <a:ext cx="3739896" cy="237744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MerchantProfile.approved_by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82127" y="2724912"/>
            <a:ext cx="3739896" cy="237744"/>
          </a:xfrm>
          <a:prstGeom prst="roundRect">
            <a:avLst>
              <a:gd name="adj" fmla="val 20000"/>
            </a:avLst>
          </a:prstGeom>
          <a:solidFill>
            <a:srgbClr val="F7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760" b="1">
                <a:solidFill>
                  <a:srgbClr val="FF007F"/>
                </a:solidFill>
                <a:latin typeface="Consolas"/>
              </a:rPr>
              <a:t>MerchantProfile.kyc_verified_by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82127" y="2990087"/>
            <a:ext cx="3739896" cy="237744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InfluencerProfile.approved_by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82127" y="3255263"/>
            <a:ext cx="3739896" cy="237744"/>
          </a:xfrm>
          <a:prstGeom prst="roundRect">
            <a:avLst>
              <a:gd name="adj" fmla="val 20000"/>
            </a:avLst>
          </a:prstGeom>
          <a:solidFill>
            <a:srgbClr val="F7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760" b="1">
                <a:solidFill>
                  <a:srgbClr val="FF007F"/>
                </a:solidFill>
                <a:latin typeface="Consolas"/>
              </a:rPr>
              <a:t>InfluencerProfile.kyc_verified_by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82127" y="3520439"/>
            <a:ext cx="3739896" cy="237744"/>
          </a:xfrm>
          <a:prstGeom prst="roundRect">
            <a:avLst>
              <a:gd name="adj" fmla="val 20000"/>
            </a:avLst>
          </a:prstGeom>
          <a:solidFill>
            <a:srgbClr val="F7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760" b="1">
                <a:solidFill>
                  <a:srgbClr val="FF007F"/>
                </a:solidFill>
                <a:latin typeface="Consolas"/>
              </a:rPr>
              <a:t>KycDocument.uploaded_by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82127" y="3785615"/>
            <a:ext cx="3739896" cy="237744"/>
          </a:xfrm>
          <a:prstGeom prst="roundRect">
            <a:avLst>
              <a:gd name="adj" fmla="val 20000"/>
            </a:avLst>
          </a:prstGeom>
          <a:solidFill>
            <a:srgbClr val="F7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760" b="1">
                <a:solidFill>
                  <a:srgbClr val="FF007F"/>
                </a:solidFill>
                <a:latin typeface="Consolas"/>
              </a:rPr>
              <a:t>KycDocument.reviewed_by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82127" y="4050791"/>
            <a:ext cx="3739896" cy="237744"/>
          </a:xfrm>
          <a:prstGeom prst="roundRect">
            <a:avLst>
              <a:gd name="adj" fmla="val 20000"/>
            </a:avLst>
          </a:prstGeom>
          <a:solidFill>
            <a:srgbClr val="F7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760" b="1">
                <a:solidFill>
                  <a:srgbClr val="FF007F"/>
                </a:solidFill>
                <a:latin typeface="Consolas"/>
              </a:rPr>
              <a:t>PayoutRate.created_by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82127" y="4315968"/>
            <a:ext cx="3739896" cy="237744"/>
          </a:xfrm>
          <a:prstGeom prst="roundRect">
            <a:avLst>
              <a:gd name="adj" fmla="val 20000"/>
            </a:avLst>
          </a:prstGeom>
          <a:solidFill>
            <a:srgbClr val="F7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760" b="1">
                <a:solidFill>
                  <a:srgbClr val="FF007F"/>
                </a:solidFill>
                <a:latin typeface="Consolas"/>
              </a:rPr>
              <a:t>PromoDiscount.created_by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82127" y="4581144"/>
            <a:ext cx="3739896" cy="237744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InfluencerCompensation.approved_by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82127" y="4846320"/>
            <a:ext cx="3739896" cy="237744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Payout.approved_by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82127" y="5111496"/>
            <a:ext cx="3739896" cy="237744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760" b="0">
                <a:solidFill>
                  <a:srgbClr val="3A3A3A"/>
                </a:solidFill>
                <a:latin typeface="Consolas"/>
              </a:rPr>
              <a:t>LedgerEntry.created_by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82127" y="5541264"/>
            <a:ext cx="37398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>
                <a:solidFill>
                  <a:srgbClr val="808080"/>
                </a:solidFill>
                <a:latin typeface="Century Gothic"/>
              </a:rPr>
              <a:t>Highlighted rows are new in v3. LedgerEntry.created_by is set for manual adjustments only.</a:t>
            </a:r>
          </a:p>
        </p:txBody>
      </p:sp>
      <p:pic>
        <p:nvPicPr>
          <p:cNvPr id="45" name="Picture 44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Entity Relationship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08080"/>
                </a:solidFill>
                <a:latin typeface="Century Gothic"/>
              </a:rPr>
              <a:t>All 36 entities shown inside the domain they belong to  ·  pink diamonds mark the 5 junction tables  ·  User and Product are the two hubs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pic>
        <p:nvPicPr>
          <p:cNvPr id="71" name="Picture 70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29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66928" y="173736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AF3F8"/>
          </a:solidFill>
          <a:ln w="9525">
            <a:solidFill>
              <a:srgbClr val="DD9E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66928" y="3017520"/>
            <a:ext cx="2148840" cy="1170432"/>
          </a:xfrm>
          <a:prstGeom prst="roundRect">
            <a:avLst>
              <a:gd name="adj" fmla="val 6000"/>
            </a:avLst>
          </a:prstGeom>
          <a:solidFill>
            <a:srgbClr val="F8F7FC"/>
          </a:solidFill>
          <a:ln w="9525">
            <a:solidFill>
              <a:srgbClr val="C7C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099816" y="1737360"/>
            <a:ext cx="2377440" cy="3218688"/>
          </a:xfrm>
          <a:prstGeom prst="roundRect">
            <a:avLst>
              <a:gd name="adj" fmla="val 6000"/>
            </a:avLst>
          </a:prstGeom>
          <a:solidFill>
            <a:srgbClr val="FFF3F9"/>
          </a:solidFill>
          <a:ln w="9525">
            <a:solidFill>
              <a:srgbClr val="F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025896" y="132588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AF5FD"/>
          </a:solidFill>
          <a:ln w="9525">
            <a:solidFill>
              <a:srgbClr val="D9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025896" y="2560320"/>
            <a:ext cx="2377440" cy="1426464"/>
          </a:xfrm>
          <a:prstGeom prst="roundRect">
            <a:avLst>
              <a:gd name="adj" fmla="val 6000"/>
            </a:avLst>
          </a:prstGeom>
          <a:solidFill>
            <a:srgbClr val="FCF4F9"/>
          </a:solidFill>
          <a:ln w="9525">
            <a:solidFill>
              <a:srgbClr val="E9A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025896" y="4224528"/>
            <a:ext cx="2377440" cy="1170432"/>
          </a:xfrm>
          <a:prstGeom prst="roundRect">
            <a:avLst>
              <a:gd name="adj" fmla="val 6000"/>
            </a:avLst>
          </a:prstGeom>
          <a:solidFill>
            <a:srgbClr val="F6F3F9"/>
          </a:solidFill>
          <a:ln w="9525">
            <a:solidFill>
              <a:srgbClr val="BA9E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787384" y="1325880"/>
            <a:ext cx="2834640" cy="1938528"/>
          </a:xfrm>
          <a:prstGeom prst="roundRect">
            <a:avLst>
              <a:gd name="adj" fmla="val 6000"/>
            </a:avLst>
          </a:prstGeom>
          <a:solidFill>
            <a:srgbClr val="F9F3FF"/>
          </a:solidFill>
          <a:ln w="9525">
            <a:solidFill>
              <a:srgbClr val="CE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787384" y="3611880"/>
            <a:ext cx="2834640" cy="1682496"/>
          </a:xfrm>
          <a:prstGeom prst="roundRect">
            <a:avLst>
              <a:gd name="adj" fmla="val 6000"/>
            </a:avLst>
          </a:prstGeom>
          <a:solidFill>
            <a:srgbClr val="F9F3F3"/>
          </a:solidFill>
          <a:ln w="9525">
            <a:solidFill>
              <a:srgbClr val="D2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H="1">
            <a:off x="2606039" y="2194560"/>
            <a:ext cx="676657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2898648" y="2194560"/>
            <a:ext cx="384048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898648" y="2194560"/>
            <a:ext cx="0" cy="128016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2606039" y="3474720"/>
            <a:ext cx="292609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2990088" y="2962656"/>
            <a:ext cx="292608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990088" y="2962656"/>
            <a:ext cx="0" cy="1024128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2606039" y="3986784"/>
            <a:ext cx="384049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2990088" y="3566160"/>
            <a:ext cx="17373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808080"/>
                </a:solidFill>
                <a:latin typeface="Century Gothic"/>
              </a:rPr>
              <a:t>1:N</a:t>
            </a:r>
          </a:p>
        </p:txBody>
      </p:sp>
      <p:cxnSp>
        <p:nvCxnSpPr>
          <p:cNvPr id="89" name="Connector 88"/>
          <p:cNvCxnSpPr/>
          <p:nvPr/>
        </p:nvCxnSpPr>
        <p:spPr>
          <a:xfrm flipH="1">
            <a:off x="658368" y="2194560"/>
            <a:ext cx="91440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58368" y="2194560"/>
            <a:ext cx="0" cy="256031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58368" y="2450591"/>
            <a:ext cx="91440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658368" y="3474720"/>
            <a:ext cx="91440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58368" y="3474720"/>
            <a:ext cx="0" cy="256032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8368" y="3730752"/>
            <a:ext cx="91440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6117336" y="3273552"/>
            <a:ext cx="91440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117336" y="3017520"/>
            <a:ext cx="0" cy="256032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117336" y="3017520"/>
            <a:ext cx="91440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8878824" y="4325112"/>
            <a:ext cx="91439" cy="0"/>
          </a:xfrm>
          <a:prstGeom prst="line">
            <a:avLst/>
          </a:prstGeom>
          <a:ln w="12700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878824" y="4069080"/>
            <a:ext cx="0" cy="256032"/>
          </a:xfrm>
          <a:prstGeom prst="line">
            <a:avLst/>
          </a:prstGeom>
          <a:ln w="12700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878824" y="4069080"/>
            <a:ext cx="91439" cy="0"/>
          </a:xfrm>
          <a:prstGeom prst="line">
            <a:avLst/>
          </a:prstGeom>
          <a:ln w="12700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8878824" y="5093208"/>
            <a:ext cx="91439" cy="0"/>
          </a:xfrm>
          <a:prstGeom prst="line">
            <a:avLst/>
          </a:prstGeom>
          <a:ln w="12700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878824" y="4837176"/>
            <a:ext cx="0" cy="256032"/>
          </a:xfrm>
          <a:prstGeom prst="line">
            <a:avLst/>
          </a:prstGeom>
          <a:ln w="12700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878824" y="4837176"/>
            <a:ext cx="91439" cy="0"/>
          </a:xfrm>
          <a:prstGeom prst="line">
            <a:avLst/>
          </a:prstGeom>
          <a:ln w="12700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5367528" y="2194560"/>
            <a:ext cx="201168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568696" y="2194560"/>
            <a:ext cx="0" cy="2487168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568696" y="4681728"/>
            <a:ext cx="640080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586983" y="4535424"/>
            <a:ext cx="17373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808080"/>
                </a:solidFill>
                <a:latin typeface="Century Gothic"/>
              </a:rPr>
              <a:t>1:N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5367528" y="2194560"/>
            <a:ext cx="292608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660136" y="2194560"/>
            <a:ext cx="0" cy="1078992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5660136" y="3273552"/>
            <a:ext cx="548640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5367528" y="2194560"/>
            <a:ext cx="384048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5751576" y="2194560"/>
            <a:ext cx="0" cy="82296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5751576" y="3017520"/>
            <a:ext cx="457200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5769864" y="2871216"/>
            <a:ext cx="17373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808080"/>
                </a:solidFill>
                <a:latin typeface="Century Gothic"/>
              </a:rPr>
              <a:t>1:N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5367528" y="2194560"/>
            <a:ext cx="475488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5843016" y="1783080"/>
            <a:ext cx="0" cy="41148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5843016" y="1783080"/>
            <a:ext cx="365760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5367528" y="2194560"/>
            <a:ext cx="548640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5916168" y="2039112"/>
            <a:ext cx="0" cy="155448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5916168" y="2039112"/>
            <a:ext cx="292608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5367528" y="2194560"/>
            <a:ext cx="621792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5989320" y="2194560"/>
            <a:ext cx="0" cy="201168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5989320" y="2395728"/>
            <a:ext cx="2624328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8613648" y="1865376"/>
            <a:ext cx="0" cy="530352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613648" y="1865376"/>
            <a:ext cx="356615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6446520" y="2423160"/>
            <a:ext cx="17373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808080"/>
                </a:solidFill>
                <a:latin typeface="Century Gothic"/>
              </a:rPr>
              <a:t>1:N   merchant owns the offers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8293608" y="1783080"/>
            <a:ext cx="676655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93608" y="2039112"/>
            <a:ext cx="201168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8494776" y="1847088"/>
            <a:ext cx="0" cy="192024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494776" y="1847088"/>
            <a:ext cx="475487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293608" y="4681728"/>
            <a:ext cx="347472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8641080" y="4069080"/>
            <a:ext cx="0" cy="612648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641080" y="4069080"/>
            <a:ext cx="329183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8668512" y="4480560"/>
            <a:ext cx="17373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808080"/>
                </a:solidFill>
                <a:latin typeface="Century Gothic"/>
              </a:rPr>
              <a:t>1:N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8293608" y="3785616"/>
            <a:ext cx="256032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549640" y="3785616"/>
            <a:ext cx="0" cy="539496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549640" y="4325112"/>
            <a:ext cx="420623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8430768" y="3877056"/>
            <a:ext cx="17373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808080"/>
                </a:solidFill>
                <a:latin typeface="Century Gothic"/>
              </a:rPr>
              <a:t>N:1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3191256" y="2194560"/>
            <a:ext cx="0" cy="256032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3191256" y="2194560"/>
            <a:ext cx="91440" cy="0"/>
          </a:xfrm>
          <a:prstGeom prst="line">
            <a:avLst/>
          </a:prstGeom>
          <a:ln w="127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3191256" y="2450591"/>
            <a:ext cx="91440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3191256" y="2706624"/>
            <a:ext cx="91440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3191256" y="2962656"/>
            <a:ext cx="91440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191256" y="3218688"/>
            <a:ext cx="91440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91256" y="3474720"/>
            <a:ext cx="91440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191256" y="3730752"/>
            <a:ext cx="91440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191256" y="3986784"/>
            <a:ext cx="91440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191256" y="4242816"/>
            <a:ext cx="91440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191256" y="4498848"/>
            <a:ext cx="91440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191256" y="4754880"/>
            <a:ext cx="91440" cy="0"/>
          </a:xfrm>
          <a:prstGeom prst="line">
            <a:avLst/>
          </a:prstGeom>
          <a:ln w="952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ounded Rectangle 150"/>
          <p:cNvSpPr/>
          <p:nvPr/>
        </p:nvSpPr>
        <p:spPr>
          <a:xfrm>
            <a:off x="566928" y="1737360"/>
            <a:ext cx="2148840" cy="256032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58368" y="1737360"/>
            <a:ext cx="19659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entury Gothic"/>
              </a:rPr>
              <a:t>Roles &amp; Permissions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58368" y="1737360"/>
            <a:ext cx="19659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66928" y="3017520"/>
            <a:ext cx="2148840" cy="256032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58368" y="3017520"/>
            <a:ext cx="19659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entury Gothic"/>
              </a:rPr>
              <a:t>Notifications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58368" y="3017520"/>
            <a:ext cx="19659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3099816" y="1737360"/>
            <a:ext cx="2377440" cy="256032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191256" y="1737360"/>
            <a:ext cx="21945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entury Gothic"/>
              </a:rPr>
              <a:t>Identity &amp; Users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191256" y="1737360"/>
            <a:ext cx="21945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entury Gothic"/>
              </a:rPr>
              <a:t>11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025896" y="1325880"/>
            <a:ext cx="2377440" cy="256032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117336" y="1325880"/>
            <a:ext cx="21945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entury Gothic"/>
              </a:rPr>
              <a:t>Redemptions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117336" y="1325880"/>
            <a:ext cx="21945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025896" y="2560320"/>
            <a:ext cx="2377440" cy="256032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117336" y="2560320"/>
            <a:ext cx="21945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entury Gothic"/>
              </a:rPr>
              <a:t>Influencer &amp; Promo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117336" y="2560320"/>
            <a:ext cx="21945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025896" y="4224528"/>
            <a:ext cx="2377440" cy="256032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117336" y="4224528"/>
            <a:ext cx="21945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entury Gothic"/>
              </a:rPr>
              <a:t>Subscriptions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117336" y="4224528"/>
            <a:ext cx="21945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8787384" y="1325880"/>
            <a:ext cx="2834640" cy="256032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878824" y="1325880"/>
            <a:ext cx="26517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entury Gothic"/>
              </a:rPr>
              <a:t>Marketplace &amp; Products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878824" y="1325880"/>
            <a:ext cx="26517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entury Gothic"/>
              </a:rPr>
              <a:t>6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787384" y="3611880"/>
            <a:ext cx="2834640" cy="256032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007F"/>
              </a:gs>
              <a:gs pos="100000">
                <a:srgbClr val="7F0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878824" y="3611880"/>
            <a:ext cx="26517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entury Gothic"/>
              </a:rPr>
              <a:t>Financial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878824" y="3611880"/>
            <a:ext cx="26517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749808" y="2084831"/>
            <a:ext cx="1856231" cy="219456"/>
          </a:xfrm>
          <a:prstGeom prst="roundRect">
            <a:avLst>
              <a:gd name="adj" fmla="val 20000"/>
            </a:avLst>
          </a:prstGeom>
          <a:solidFill>
            <a:srgbClr val="F7E9F3"/>
          </a:solidFill>
          <a:ln w="635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6" name="Diamond 175"/>
          <p:cNvSpPr/>
          <p:nvPr/>
        </p:nvSpPr>
        <p:spPr>
          <a:xfrm>
            <a:off x="804672" y="2153412"/>
            <a:ext cx="82296" cy="82296"/>
          </a:xfrm>
          <a:prstGeom prst="diamond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32688" y="2084831"/>
            <a:ext cx="1618487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FF007F"/>
                </a:solidFill>
                <a:latin typeface="Consolas"/>
              </a:rPr>
              <a:t>UserRole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04672" y="2084831"/>
            <a:ext cx="17465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FF007F"/>
                </a:solidFill>
                <a:latin typeface="Century Gothic"/>
              </a:rPr>
              <a:t>N:M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749808" y="2340863"/>
            <a:ext cx="18562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EDC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13816" y="2340863"/>
            <a:ext cx="1737359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Role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04672" y="2340863"/>
            <a:ext cx="17465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lookup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749808" y="3364992"/>
            <a:ext cx="1856231" cy="219456"/>
          </a:xfrm>
          <a:prstGeom prst="roundRect">
            <a:avLst>
              <a:gd name="adj" fmla="val 20000"/>
            </a:avLst>
          </a:prstGeom>
          <a:solidFill>
            <a:srgbClr val="F7E9F3"/>
          </a:solidFill>
          <a:ln w="635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3" name="Diamond 182"/>
          <p:cNvSpPr/>
          <p:nvPr/>
        </p:nvSpPr>
        <p:spPr>
          <a:xfrm>
            <a:off x="804672" y="3433572"/>
            <a:ext cx="82296" cy="82296"/>
          </a:xfrm>
          <a:prstGeom prst="diamond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32688" y="3364992"/>
            <a:ext cx="1618487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FF007F"/>
                </a:solidFill>
                <a:latin typeface="Consolas"/>
              </a:rPr>
              <a:t>NotificationRecipient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04672" y="3364992"/>
            <a:ext cx="17465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FF007F"/>
                </a:solidFill>
                <a:latin typeface="Century Gothic"/>
              </a:rPr>
              <a:t>N:M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749808" y="3621024"/>
            <a:ext cx="18562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E2D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813816" y="3621024"/>
            <a:ext cx="1737359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Notification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04672" y="3621024"/>
            <a:ext cx="17465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N:1 → Product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749808" y="3877056"/>
            <a:ext cx="18562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E2D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13816" y="3877056"/>
            <a:ext cx="1737359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PushNotificationLog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04672" y="3877056"/>
            <a:ext cx="17465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N:1 → Notif.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3282696" y="2084831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F007F"/>
          </a:solidFill>
          <a:ln w="635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346704" y="2084831"/>
            <a:ext cx="1965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onsolas"/>
              </a:rPr>
              <a:t>User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337560" y="2084831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FFFFFF"/>
                </a:solidFill>
                <a:latin typeface="Century Gothic"/>
              </a:rPr>
              <a:t>root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3282696" y="2340863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FFC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3346704" y="2340863"/>
            <a:ext cx="1965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UserContact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337560" y="2340863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1:1 → User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3282696" y="2596896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FFC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3346704" y="2596896"/>
            <a:ext cx="1965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UserSocialMedia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337560" y="2596896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N:1 → User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3282696" y="2852928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FFC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346704" y="2852928"/>
            <a:ext cx="1965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UserDevice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337560" y="2852928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N:1 → User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3282696" y="3108960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FFC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3346704" y="3108960"/>
            <a:ext cx="1965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UserMedia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337560" y="3108960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N:1 → User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3282696" y="3364992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FFC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346704" y="3364992"/>
            <a:ext cx="1965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UserActivityLog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337560" y="3364992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N:1 → User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3282696" y="3621024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FFC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3346704" y="3621024"/>
            <a:ext cx="1965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UserAuthIdentity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337560" y="3621024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N:1 → User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3282696" y="3877056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FFC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3346704" y="3877056"/>
            <a:ext cx="1965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PhoneVerification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337560" y="3877056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N:1 → User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3282696" y="4133088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FFC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3346704" y="4133088"/>
            <a:ext cx="1965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KycDocument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337560" y="4133088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N:1 → User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3282696" y="4389120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FFC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3346704" y="4389120"/>
            <a:ext cx="1965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MerchantProfile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337560" y="4389120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1:1 → User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3282696" y="4645152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FFC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3346704" y="4645152"/>
            <a:ext cx="1965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InfluencerProfile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3337560" y="4645152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1:1 → User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6208776" y="1673352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7E9F3"/>
          </a:solidFill>
          <a:ln w="635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6" name="Diamond 225"/>
          <p:cNvSpPr/>
          <p:nvPr/>
        </p:nvSpPr>
        <p:spPr>
          <a:xfrm>
            <a:off x="6263640" y="1741932"/>
            <a:ext cx="82296" cy="82296"/>
          </a:xfrm>
          <a:prstGeom prst="diamond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6391656" y="1673352"/>
            <a:ext cx="1847087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FF007F"/>
                </a:solidFill>
                <a:latin typeface="Consolas"/>
              </a:rPr>
              <a:t>RedeemedOffer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263640" y="1673352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FF007F"/>
                </a:solidFill>
                <a:latin typeface="Century Gothic"/>
              </a:rPr>
              <a:t>N:M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6208776" y="1929384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7E9F3"/>
          </a:solidFill>
          <a:ln w="635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0" name="Diamond 229"/>
          <p:cNvSpPr/>
          <p:nvPr/>
        </p:nvSpPr>
        <p:spPr>
          <a:xfrm>
            <a:off x="6263640" y="1997964"/>
            <a:ext cx="82296" cy="82296"/>
          </a:xfrm>
          <a:prstGeom prst="diamond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6391656" y="1929384"/>
            <a:ext cx="1847087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FF007F"/>
                </a:solidFill>
                <a:latin typeface="Consolas"/>
              </a:rPr>
              <a:t>OfferStampCard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263640" y="1929384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FF007F"/>
                </a:solidFill>
                <a:latin typeface="Century Gothic"/>
              </a:rPr>
              <a:t>N:M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6208776" y="2907792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F3D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6272784" y="2907792"/>
            <a:ext cx="1965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PromoCode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263640" y="2907792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N:1 → User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6208776" y="3163824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7E9F3"/>
          </a:solidFill>
          <a:ln w="635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7" name="Diamond 236"/>
          <p:cNvSpPr/>
          <p:nvPr/>
        </p:nvSpPr>
        <p:spPr>
          <a:xfrm>
            <a:off x="6263640" y="3232404"/>
            <a:ext cx="82296" cy="82296"/>
          </a:xfrm>
          <a:prstGeom prst="diamond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6391656" y="3163824"/>
            <a:ext cx="1847087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FF007F"/>
                </a:solidFill>
                <a:latin typeface="Consolas"/>
              </a:rPr>
              <a:t>PromoCodeRedemption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263640" y="3163824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FF007F"/>
                </a:solidFill>
                <a:latin typeface="Century Gothic"/>
              </a:rPr>
              <a:t>N:M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6208776" y="3419856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F3D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272784" y="3419856"/>
            <a:ext cx="1965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PromoDiscount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6263640" y="3419856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versioned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6208776" y="3675888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F3D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6272784" y="3675888"/>
            <a:ext cx="1965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InfluencerCompensation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6263640" y="3675888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N:1 → Payout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6208776" y="4572000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DB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6272784" y="4572000"/>
            <a:ext cx="1965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Subscription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263640" y="4572000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N:1 → User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6208776" y="4828032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DB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272784" y="4828032"/>
            <a:ext cx="1965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SubscriptionPlan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6263640" y="4828032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lookup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6208776" y="5084064"/>
            <a:ext cx="2084831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DB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6272784" y="5084064"/>
            <a:ext cx="1965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MembershipPass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6263640" y="5084064"/>
            <a:ext cx="19751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1:1 → Subscr.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8970263" y="1673352"/>
            <a:ext cx="2542032" cy="219456"/>
          </a:xfrm>
          <a:prstGeom prst="roundRect">
            <a:avLst>
              <a:gd name="adj" fmla="val 20000"/>
            </a:avLst>
          </a:prstGeom>
          <a:solidFill>
            <a:srgbClr val="FF007F"/>
          </a:solidFill>
          <a:ln w="635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9034272" y="1673352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onsolas"/>
              </a:rPr>
              <a:t>Product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9025128" y="1673352"/>
            <a:ext cx="24323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FFFFFF"/>
                </a:solidFill>
                <a:latin typeface="Century Gothic"/>
              </a:rPr>
              <a:t>root  ·  N:1 → User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8970263" y="1929384"/>
            <a:ext cx="2542032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E5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9034272" y="1929384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Category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9025128" y="1929384"/>
            <a:ext cx="24323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self-ref  ·  1:N → Product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8970263" y="2185416"/>
            <a:ext cx="2542032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E5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9034272" y="2185416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OfferDetail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9025128" y="2185416"/>
            <a:ext cx="24323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1:1 → Product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8970263" y="2441448"/>
            <a:ext cx="2542032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E5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9034272" y="2441448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ProductMeta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9025128" y="2441448"/>
            <a:ext cx="24323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N:1 → Product</a:t>
            </a:r>
          </a:p>
        </p:txBody>
      </p:sp>
      <p:sp>
        <p:nvSpPr>
          <p:cNvPr id="267" name="Rounded Rectangle 266"/>
          <p:cNvSpPr/>
          <p:nvPr/>
        </p:nvSpPr>
        <p:spPr>
          <a:xfrm>
            <a:off x="8970263" y="2697480"/>
            <a:ext cx="2542032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E5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9034272" y="2697480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MerchantStorefront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9025128" y="2697480"/>
            <a:ext cx="24323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1:1 → Merchant</a:t>
            </a:r>
          </a:p>
        </p:txBody>
      </p:sp>
      <p:sp>
        <p:nvSpPr>
          <p:cNvPr id="270" name="Rounded Rectangle 269"/>
          <p:cNvSpPr/>
          <p:nvPr/>
        </p:nvSpPr>
        <p:spPr>
          <a:xfrm>
            <a:off x="8970263" y="2953512"/>
            <a:ext cx="2542032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E5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9034272" y="2953512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StorefrontMedia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9025128" y="2953512"/>
            <a:ext cx="24323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N:1 → Storefront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8970263" y="3959352"/>
            <a:ext cx="2542032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E7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9034272" y="3959352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Payment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9025128" y="3959352"/>
            <a:ext cx="24323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N:1 → User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8970263" y="4215384"/>
            <a:ext cx="2542032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E7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9034272" y="4215384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Payout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9025128" y="4215384"/>
            <a:ext cx="24323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N:1 → Payment</a:t>
            </a:r>
          </a:p>
        </p:txBody>
      </p:sp>
      <p:sp>
        <p:nvSpPr>
          <p:cNvPr id="279" name="Rounded Rectangle 278"/>
          <p:cNvSpPr/>
          <p:nvPr/>
        </p:nvSpPr>
        <p:spPr>
          <a:xfrm>
            <a:off x="8970263" y="4471416"/>
            <a:ext cx="2542032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E7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9034272" y="4471416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PayoutRate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9025128" y="4471416"/>
            <a:ext cx="24323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versioned  ·  super-admin-set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8970263" y="4727448"/>
            <a:ext cx="2542032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E7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9034272" y="4727448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PlatformAccount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9025128" y="4727448"/>
            <a:ext cx="24323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one row per currency</a:t>
            </a:r>
          </a:p>
        </p:txBody>
      </p:sp>
      <p:sp>
        <p:nvSpPr>
          <p:cNvPr id="285" name="Rounded Rectangle 284"/>
          <p:cNvSpPr/>
          <p:nvPr/>
        </p:nvSpPr>
        <p:spPr>
          <a:xfrm>
            <a:off x="8970263" y="4983480"/>
            <a:ext cx="2542032" cy="219456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 w="6350">
            <a:solidFill>
              <a:srgbClr val="E7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9034272" y="4983480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3A3A3A"/>
                </a:solidFill>
                <a:latin typeface="Consolas"/>
              </a:rPr>
              <a:t>LedgerEntry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9025128" y="4983480"/>
            <a:ext cx="243230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808080"/>
                </a:solidFill>
                <a:latin typeface="Century Gothic"/>
              </a:rPr>
              <a:t>N:1 → PlatformAccount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566928" y="4434840"/>
            <a:ext cx="2148840" cy="868680"/>
          </a:xfrm>
          <a:prstGeom prst="roundRect">
            <a:avLst>
              <a:gd name="adj" fmla="val 8000"/>
            </a:avLst>
          </a:prstGeom>
          <a:solidFill>
            <a:srgbClr val="FFF2F8"/>
          </a:solidFill>
          <a:ln w="9525">
            <a:solidFill>
              <a:srgbClr val="FFB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658368" y="4498848"/>
            <a:ext cx="1965960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550" b="0">
                <a:solidFill>
                  <a:srgbClr val="3A3A3A"/>
                </a:solidFill>
                <a:latin typeface="Century Gothic"/>
              </a:rPr>
              <a:t>User is the hub.  20 tables carry a foreign key to User — including every audit column (created_by, approved_by, kyc_verified_by, reviewed_by).  Those audit FKs are left off the diagram so the structural relationships stay readable.</a:t>
            </a:r>
          </a:p>
        </p:txBody>
      </p:sp>
      <p:sp>
        <p:nvSpPr>
          <p:cNvPr id="290" name="Rounded Rectangle 289"/>
          <p:cNvSpPr/>
          <p:nvPr/>
        </p:nvSpPr>
        <p:spPr>
          <a:xfrm>
            <a:off x="566928" y="5504688"/>
            <a:ext cx="201168" cy="128016"/>
          </a:xfrm>
          <a:prstGeom prst="roundRect">
            <a:avLst>
              <a:gd name="adj" fmla="val 25000"/>
            </a:avLst>
          </a:prstGeom>
          <a:solidFill>
            <a:srgbClr val="F7E9F3"/>
          </a:solidFill>
          <a:ln w="635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1" name="Diamond 290"/>
          <p:cNvSpPr/>
          <p:nvPr/>
        </p:nvSpPr>
        <p:spPr>
          <a:xfrm>
            <a:off x="626364" y="5527548"/>
            <a:ext cx="82296" cy="82296"/>
          </a:xfrm>
          <a:prstGeom prst="diamond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841247" y="5486400"/>
            <a:ext cx="3840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3A3A3A"/>
                </a:solidFill>
                <a:latin typeface="Century Gothic"/>
              </a:rPr>
              <a:t>Junction table — a many-to-many, resolved by its own table (5 in the schema)</a:t>
            </a:r>
          </a:p>
        </p:txBody>
      </p:sp>
      <p:sp>
        <p:nvSpPr>
          <p:cNvPr id="293" name="Rounded Rectangle 292"/>
          <p:cNvSpPr/>
          <p:nvPr/>
        </p:nvSpPr>
        <p:spPr>
          <a:xfrm>
            <a:off x="4277563" y="5504688"/>
            <a:ext cx="201168" cy="128016"/>
          </a:xfrm>
          <a:prstGeom prst="roundRect">
            <a:avLst>
              <a:gd name="adj" fmla="val 25000"/>
            </a:avLst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4551883" y="5486400"/>
            <a:ext cx="3840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3A3A3A"/>
                </a:solidFill>
                <a:latin typeface="Century Gothic"/>
              </a:rPr>
              <a:t>Hub entity</a:t>
            </a:r>
          </a:p>
        </p:txBody>
      </p:sp>
      <p:cxnSp>
        <p:nvCxnSpPr>
          <p:cNvPr id="295" name="Connector 294"/>
          <p:cNvCxnSpPr/>
          <p:nvPr/>
        </p:nvCxnSpPr>
        <p:spPr>
          <a:xfrm>
            <a:off x="5242255" y="5568696"/>
            <a:ext cx="201168" cy="0"/>
          </a:xfrm>
          <a:prstGeom prst="line">
            <a:avLst/>
          </a:prstGeom>
          <a:ln w="15875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TextBox 295"/>
          <p:cNvSpPr txBox="1"/>
          <p:nvPr/>
        </p:nvSpPr>
        <p:spPr>
          <a:xfrm>
            <a:off x="5516575" y="5486400"/>
            <a:ext cx="3840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3A3A3A"/>
                </a:solidFill>
                <a:latin typeface="Century Gothic"/>
              </a:rPr>
              <a:t>many-to-many leg</a:t>
            </a:r>
          </a:p>
        </p:txBody>
      </p:sp>
      <p:cxnSp>
        <p:nvCxnSpPr>
          <p:cNvPr id="297" name="Connector 296"/>
          <p:cNvCxnSpPr/>
          <p:nvPr/>
        </p:nvCxnSpPr>
        <p:spPr>
          <a:xfrm>
            <a:off x="6456578" y="5568696"/>
            <a:ext cx="201168" cy="0"/>
          </a:xfrm>
          <a:prstGeom prst="line">
            <a:avLst/>
          </a:prstGeom>
          <a:ln w="15875">
            <a:solidFill>
              <a:srgbClr val="C9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TextBox 297"/>
          <p:cNvSpPr txBox="1"/>
          <p:nvPr/>
        </p:nvSpPr>
        <p:spPr>
          <a:xfrm>
            <a:off x="6730898" y="5486400"/>
            <a:ext cx="3840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3A3A3A"/>
                </a:solidFill>
                <a:latin typeface="Century Gothic"/>
              </a:rPr>
              <a:t>one-to-many / one-to-one foreign key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66928" y="5724144"/>
            <a:ext cx="65836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808080"/>
                </a:solidFill>
                <a:latin typeface="Century Gothic"/>
              </a:rPr>
              <a:t>The tag on each table is its foreign key parent  ·  every table also has a UUID primary key named id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Enum Catalogue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Every closed value set in the schema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37160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User.status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333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pending_verification · active · suspended · deactivated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5506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6878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User.auth_provider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1051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email · google · apple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952243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96596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UserAuthIdentity.provider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107691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email · google · apple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24942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6314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UserSocialMedia.platform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0487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instagram · twitter · facebook · tiktok · other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54660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56032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UserDevice.platform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702051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ios · android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4378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85750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UserMedia.media_type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9923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profile_photo · influencer_profile · cover · document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14096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15468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MerchantProfile.approval_status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9641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pending · approved · rejected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43814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45186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MerchantProfile.kyc_status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93591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not_started · submitted · under_review · verified · rejected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73532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749039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InfluencerProfile.approval_status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9077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pending · approved · rejected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032503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04622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InfluencerProfile.kyc_status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8795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not_started · submitted · under_review · verified · rejected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32968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4340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KycDocument.subject_type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48513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merchant · influencer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62686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464058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KycDocument.document_type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78231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national_id · passport · driving_licence · proof_of_address · business_licence · trade_registration · tax_certificate · bank_statement · other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92404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493776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KycDocument.status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07949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pending · verified · rejected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522122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523494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Role.name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37667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super_admin · member_manager · merchant_manager · accountant_manager · merchant · influencer · member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551840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553212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Role.tier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67385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tier_1 · tier_2 · tier_3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5815583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44314" y="137160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MerchantStorefront.status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44314" y="151333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draft · published · unpublished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44314" y="165506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44314" y="166878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StorefrontMedia.media_type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44314" y="181051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brand_image · gallery_image · landing_video · promo_video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44314" y="1952243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44314" y="196596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StorefrontMedia.status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44314" y="2107691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processing · ready · failed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44314" y="224942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44314" y="226314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Product.status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44314" y="240487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draft · active · paused · expired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44314" y="254660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44314" y="256032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OfferDetail.offer_type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44314" y="2702051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freebie · buy_n_get_one · time_based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44314" y="284378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44314" y="285750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SubscriptionPlan.billing_period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44314" y="299923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monthly · annual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44314" y="314096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44314" y="315468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Subscription.status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44314" y="329641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active · past_due · expired · cancelled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44314" y="343814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44314" y="345186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MembershipPass.status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44314" y="3593591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active · revoked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44314" y="373532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44314" y="3749039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PromoCode.status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44314" y="389077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active · suspended · revoked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44314" y="4032503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44314" y="404622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PromoCodeRedemption.discount_type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44314" y="418795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percentage · fixed_amount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44314" y="432968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44314" y="434340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PromoDiscount.scope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44314" y="448513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global · influencer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44314" y="462686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44314" y="464058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PromoDiscount.discount_type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44314" y="478231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percentage · fixed_amount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344314" y="492404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44314" y="493776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PromoDiscount.applies_to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44314" y="507949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subscription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44314" y="522122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44314" y="523494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InfluencerCompensation.source_type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44314" y="537667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subscription_payment · signup · bonus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344314" y="551840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344314" y="553212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InfluencerCompensation.status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44314" y="567385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pending · approved · rejected · paid · reversed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344314" y="5815583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121700" y="137160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RedeemedOffer.status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21700" y="151333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pending · confirmed · void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21700" y="165506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121700" y="166878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Notification.type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21700" y="181051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offer · system · compensation · subscription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121700" y="1952243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121700" y="196596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PushNotificationLog.status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121700" y="2107691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sent · delivered · failed · opened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121700" y="224942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121700" y="226314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Payment.direction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21700" y="240487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inbound · outbound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121700" y="254660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121700" y="256032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Payment.method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121700" y="2702051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card · apple_pay · google_pay · bank_transfer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121700" y="284378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121700" y="285750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Payment.status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121700" y="299923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pending · completed · failed · refunded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121700" y="314096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121700" y="315468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PayoutRate.scope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121700" y="329641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global · influencer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121700" y="343814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121700" y="345186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PayoutRate.applies_to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121700" y="3593591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subscription_payment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121700" y="373532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121700" y="3749039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FF007F"/>
                </a:solidFill>
                <a:latin typeface="Consolas"/>
              </a:rPr>
              <a:t>Payout.status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121700" y="389077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3A3A3A"/>
                </a:solidFill>
                <a:latin typeface="Consolas"/>
              </a:rPr>
              <a:t>accrued · requested · approved · processing · paid · failed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121700" y="4032503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121700" y="404622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LedgerEntry.entry_type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121700" y="418795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credit · debit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121700" y="432968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121700" y="4343400"/>
            <a:ext cx="350306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A3A3A"/>
                </a:solidFill>
                <a:latin typeface="Consolas"/>
              </a:rPr>
              <a:t>LedgerEntry.source_type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121700" y="4485132"/>
            <a:ext cx="35030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808080"/>
                </a:solidFill>
                <a:latin typeface="Consolas"/>
              </a:rPr>
              <a:t>subscription_payment · influencer_payout · refund · adjustment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121700" y="4626864"/>
            <a:ext cx="3503066" cy="5486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66928" y="587044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FF007F"/>
                </a:solidFill>
                <a:latin typeface="Century Gothic"/>
              </a:rPr>
              <a:t>Magenta keys are new or changed in v3.</a:t>
            </a:r>
          </a:p>
        </p:txBody>
      </p:sp>
      <p:pic>
        <p:nvPicPr>
          <p:cNvPr id="130" name="Picture 129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007F"/>
                </a:solidFill>
                <a:latin typeface="Century Gothic"/>
              </a:rPr>
              <a:t>Schema Decisions (v4)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entury Gothic"/>
              </a:rPr>
              <a:t>What v3–v4 changed — all questions are now resolved</a:t>
            </a:r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69264" cy="3842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426464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007F"/>
                </a:solidFill>
                <a:latin typeface="Century Gothic"/>
              </a:rPr>
              <a:t>Decisions taken in v3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45720" cy="896112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20240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007F"/>
                </a:solidFill>
                <a:latin typeface="Century Gothic"/>
              </a:rPr>
              <a:t>Promo codes are reusable, not one-shot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176272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>
                <a:solidFill>
                  <a:srgbClr val="3A3A3A"/>
                </a:solidFill>
                <a:latin typeface="Century Gothic"/>
              </a:rPr>
              <a:t>PromoCode + PromoCodeRedemption replace InvitationToken. Validity is DERIVED from the influencer's four gates — no expiry, no usage limit.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34640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834640"/>
            <a:ext cx="45720" cy="896112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007F"/>
                </a:solidFill>
                <a:latin typeface="Century Gothic"/>
              </a:rPr>
              <a:t>Events removed entirely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182112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>
                <a:solidFill>
                  <a:srgbClr val="3A3A3A"/>
                </a:solidFill>
                <a:latin typeface="Century Gothic"/>
              </a:rPr>
              <a:t>EventDetail, EventApplication, EventAttendance and the Event Planner role are gone. Product.product_type dropped — every Product is an offer.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40480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40480"/>
            <a:ext cx="45720" cy="896112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31920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007F"/>
                </a:solidFill>
                <a:latin typeface="Century Gothic"/>
              </a:rPr>
              <a:t>Post tracking removed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187952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>
                <a:solidFill>
                  <a:srgbClr val="3A3A3A"/>
                </a:solidFill>
                <a:latin typeface="Century Gothic"/>
              </a:rPr>
              <a:t>InfluencerPostTracker and the offer_post / event_post accrual sources are gone. Influencers earn from subscriptions and signups, not posts.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846320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846320"/>
            <a:ext cx="45720" cy="896112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937760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007F"/>
                </a:solidFill>
                <a:latin typeface="Century Gothic"/>
              </a:rPr>
              <a:t>PayoutRate is versioned, not edited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193792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>
                <a:solidFill>
                  <a:srgbClr val="3A3A3A"/>
                </a:solidFill>
                <a:latin typeface="Century Gothic"/>
              </a:rPr>
              <a:t>Each accrual freezes percentage_applied, so changing the rate never re-prices history.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1426464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B0000"/>
                </a:solidFill>
                <a:latin typeface="Century Gothic"/>
              </a:rPr>
              <a:t>Resolved in v4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1847088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8B0000"/>
              </a:buClr>
              <a:buChar char="–"/>
            </a:pPr>
            <a:r>
              <a:rPr sz="819">
                <a:solidFill>
                  <a:srgbClr val="3A3A3A"/>
                </a:solidFill>
                <a:latin typeface="Century Gothic"/>
              </a:rPr>
              <a:t>Unattributed subscriptions still accrue a payout, visible to the Accountant. Payments run through Paymennt in AED; discounts are per-influencer (Super-Admin-set); payouts are issued manually and recorded on the ledger; redemptions are merchant-confirmed at the venue. Single currency: AED.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8B0000"/>
              </a:buClr>
              <a:buChar char="–"/>
            </a:pPr>
            <a:r>
              <a:rPr sz="819">
                <a:solidFill>
                  <a:srgbClr val="3A3A3A"/>
                </a:solidFill>
                <a:latin typeface="Century Gothic"/>
              </a:rPr>
              <a:t>With posts no longer paid, does a SIGNUP still earn anything on top of the subscription percentage? If not, the signup source type can be dropped too.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8B0000"/>
              </a:buClr>
              <a:buChar char="–"/>
            </a:pPr>
            <a:r>
              <a:rPr sz="819">
                <a:solidFill>
                  <a:srgbClr val="3A3A3A"/>
                </a:solidFill>
                <a:latin typeface="Century Gothic"/>
              </a:rPr>
              <a:t>What is the launch discount value — percentage or fixed amount? And the launch payout percentage — gross or net of gateway fees?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8B0000"/>
              </a:buClr>
              <a:buChar char="–"/>
            </a:pPr>
            <a:r>
              <a:rPr sz="819">
                <a:solidFill>
                  <a:srgbClr val="3A3A3A"/>
                </a:solidFill>
                <a:latin typeface="Century Gothic"/>
              </a:rPr>
              <a:t>Does a refund claw back an accrual that was already PAID OUT, or only reverse one still pending?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8B0000"/>
              </a:buClr>
              <a:buChar char="–"/>
            </a:pPr>
            <a:r>
              <a:rPr sz="819">
                <a:solidFill>
                  <a:srgbClr val="3A3A3A"/>
                </a:solidFill>
                <a:latin typeface="Century Gothic"/>
              </a:rPr>
              <a:t>Does an expired KycDocument flip kyc_verified back to false — blocking payouts AND killing the promo code?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8B0000"/>
              </a:buClr>
              <a:buChar char="–"/>
            </a:pPr>
            <a:r>
              <a:rPr sz="819">
                <a:solidFill>
                  <a:srgbClr val="3A3A3A"/>
                </a:solidFill>
                <a:latin typeface="Century Gothic"/>
              </a:rPr>
              <a:t>Is a merchant storefront moderated before it goes live, or published instantly?</a:t>
            </a:r>
          </a:p>
          <a:p>
            <a:pPr marL="146304" indent="-146304">
              <a:lnSpc>
                <a:spcPct val="115000"/>
              </a:lnSpc>
              <a:spcAft>
                <a:spcPts val="600"/>
              </a:spcAft>
              <a:buClr>
                <a:srgbClr val="8B0000"/>
              </a:buClr>
              <a:buChar char="–"/>
            </a:pPr>
            <a:r>
              <a:rPr sz="819">
                <a:solidFill>
                  <a:srgbClr val="3A3A3A"/>
                </a:solidFill>
                <a:latin typeface="Century Gothic"/>
              </a:rPr>
              <a:t>Google/Apple identity linking — auto-link on a matching email, or error? And are Apple private-relay addresses accepted?</a:t>
            </a:r>
          </a:p>
        </p:txBody>
      </p:sp>
      <p:pic>
        <p:nvPicPr>
          <p:cNvPr id="25" name="Picture 24" descr="foot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5861304"/>
            <a:ext cx="4928616" cy="491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5953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Savr  |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2212848"/>
            <a:ext cx="3566160" cy="14156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931920"/>
            <a:ext cx="12191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entury Gothic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9028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3DDF2"/>
                </a:solidFill>
                <a:latin typeface="Century Gothic"/>
              </a:rPr>
              <a:t>Deals with a Twist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55767" y="5084064"/>
            <a:ext cx="1280160" cy="146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5358384"/>
            <a:ext cx="12191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support@mysavr.com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